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3.jpg" ContentType="image/jpg"/>
  <Override PartName="/ppt/media/image30.jpg" ContentType="image/jpg"/>
  <Override PartName="/ppt/media/image31.jpg" ContentType="image/jpg"/>
  <Override PartName="/ppt/media/image4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8" r:id="rId18"/>
    <p:sldId id="272" r:id="rId22"/>
    <p:sldId id="274" r:id="rId24"/>
    <p:sldId id="275" r:id="rId25"/>
    <p:sldId id="271" r:id="rId21"/>
    <p:sldId id="282" r:id="rId32"/>
    <p:sldId id="262" r:id="rId12"/>
    <p:sldId id="263" r:id="rId13"/>
    <p:sldId id="264" r:id="rId14"/>
    <p:sldId id="265" r:id="rId15"/>
    <p:sldId id="266" r:id="rId16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8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32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47472" y="323088"/>
            <a:ext cx="3749040" cy="622300"/>
          </a:xfrm>
          <a:custGeom>
            <a:avLst/>
            <a:gdLst/>
            <a:ahLst/>
            <a:cxnLst/>
            <a:rect l="l" t="t" r="r" b="b"/>
            <a:pathLst>
              <a:path w="3749040" h="622300">
                <a:moveTo>
                  <a:pt x="3632707" y="0"/>
                </a:moveTo>
                <a:lnTo>
                  <a:pt x="116306" y="0"/>
                </a:lnTo>
                <a:lnTo>
                  <a:pt x="71033" y="9140"/>
                </a:lnTo>
                <a:lnTo>
                  <a:pt x="34064" y="34067"/>
                </a:lnTo>
                <a:lnTo>
                  <a:pt x="9139" y="71044"/>
                </a:lnTo>
                <a:lnTo>
                  <a:pt x="0" y="116331"/>
                </a:lnTo>
                <a:lnTo>
                  <a:pt x="0" y="505459"/>
                </a:lnTo>
                <a:lnTo>
                  <a:pt x="9139" y="550747"/>
                </a:lnTo>
                <a:lnTo>
                  <a:pt x="34064" y="587724"/>
                </a:lnTo>
                <a:lnTo>
                  <a:pt x="71033" y="612651"/>
                </a:lnTo>
                <a:lnTo>
                  <a:pt x="116306" y="621791"/>
                </a:lnTo>
                <a:lnTo>
                  <a:pt x="3632707" y="621791"/>
                </a:lnTo>
                <a:lnTo>
                  <a:pt x="3677995" y="612651"/>
                </a:lnTo>
                <a:lnTo>
                  <a:pt x="3714972" y="587724"/>
                </a:lnTo>
                <a:lnTo>
                  <a:pt x="3739899" y="550747"/>
                </a:lnTo>
                <a:lnTo>
                  <a:pt x="3749040" y="505459"/>
                </a:lnTo>
                <a:lnTo>
                  <a:pt x="3749040" y="116331"/>
                </a:lnTo>
                <a:lnTo>
                  <a:pt x="3739899" y="71044"/>
                </a:lnTo>
                <a:lnTo>
                  <a:pt x="3714972" y="34067"/>
                </a:lnTo>
                <a:lnTo>
                  <a:pt x="3677995" y="9140"/>
                </a:lnTo>
                <a:lnTo>
                  <a:pt x="3632707" y="0"/>
                </a:lnTo>
                <a:close/>
              </a:path>
            </a:pathLst>
          </a:custGeom>
          <a:solidFill>
            <a:srgbClr val="FF00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347472" y="1210055"/>
            <a:ext cx="11323320" cy="4989830"/>
          </a:xfrm>
          <a:custGeom>
            <a:avLst/>
            <a:gdLst/>
            <a:ahLst/>
            <a:cxnLst/>
            <a:rect l="l" t="t" r="r" b="b"/>
            <a:pathLst>
              <a:path w="11323320" h="4989830">
                <a:moveTo>
                  <a:pt x="5437632" y="170053"/>
                </a:moveTo>
                <a:lnTo>
                  <a:pt x="5431561" y="124828"/>
                </a:lnTo>
                <a:lnTo>
                  <a:pt x="5414416" y="84201"/>
                </a:lnTo>
                <a:lnTo>
                  <a:pt x="5387835" y="49784"/>
                </a:lnTo>
                <a:lnTo>
                  <a:pt x="5353431" y="23215"/>
                </a:lnTo>
                <a:lnTo>
                  <a:pt x="5312803" y="6070"/>
                </a:lnTo>
                <a:lnTo>
                  <a:pt x="5267579" y="0"/>
                </a:lnTo>
                <a:lnTo>
                  <a:pt x="170002" y="0"/>
                </a:lnTo>
                <a:lnTo>
                  <a:pt x="124802" y="6070"/>
                </a:lnTo>
                <a:lnTo>
                  <a:pt x="84188" y="23215"/>
                </a:lnTo>
                <a:lnTo>
                  <a:pt x="49784" y="49784"/>
                </a:lnTo>
                <a:lnTo>
                  <a:pt x="23202" y="84201"/>
                </a:lnTo>
                <a:lnTo>
                  <a:pt x="6070" y="124828"/>
                </a:lnTo>
                <a:lnTo>
                  <a:pt x="0" y="170053"/>
                </a:lnTo>
                <a:lnTo>
                  <a:pt x="0" y="4819574"/>
                </a:lnTo>
                <a:lnTo>
                  <a:pt x="6070" y="4864773"/>
                </a:lnTo>
                <a:lnTo>
                  <a:pt x="23202" y="4905387"/>
                </a:lnTo>
                <a:lnTo>
                  <a:pt x="49784" y="4939792"/>
                </a:lnTo>
                <a:lnTo>
                  <a:pt x="84188" y="4966373"/>
                </a:lnTo>
                <a:lnTo>
                  <a:pt x="124802" y="4983505"/>
                </a:lnTo>
                <a:lnTo>
                  <a:pt x="170002" y="4989576"/>
                </a:lnTo>
                <a:lnTo>
                  <a:pt x="5267579" y="4989576"/>
                </a:lnTo>
                <a:lnTo>
                  <a:pt x="5312803" y="4983505"/>
                </a:lnTo>
                <a:lnTo>
                  <a:pt x="5353431" y="4966373"/>
                </a:lnTo>
                <a:lnTo>
                  <a:pt x="5387835" y="4939792"/>
                </a:lnTo>
                <a:lnTo>
                  <a:pt x="5414416" y="4905387"/>
                </a:lnTo>
                <a:lnTo>
                  <a:pt x="5431561" y="4864773"/>
                </a:lnTo>
                <a:lnTo>
                  <a:pt x="5437632" y="4819574"/>
                </a:lnTo>
                <a:lnTo>
                  <a:pt x="5437632" y="170053"/>
                </a:lnTo>
                <a:close/>
              </a:path>
              <a:path w="11323320" h="4989830">
                <a:moveTo>
                  <a:pt x="11323320" y="192786"/>
                </a:moveTo>
                <a:lnTo>
                  <a:pt x="11318215" y="148602"/>
                </a:lnTo>
                <a:lnTo>
                  <a:pt x="11303711" y="108026"/>
                </a:lnTo>
                <a:lnTo>
                  <a:pt x="11280940" y="72237"/>
                </a:lnTo>
                <a:lnTo>
                  <a:pt x="11251082" y="42379"/>
                </a:lnTo>
                <a:lnTo>
                  <a:pt x="11215294" y="19608"/>
                </a:lnTo>
                <a:lnTo>
                  <a:pt x="11174717" y="5105"/>
                </a:lnTo>
                <a:lnTo>
                  <a:pt x="11130534" y="0"/>
                </a:lnTo>
                <a:lnTo>
                  <a:pt x="6075426" y="0"/>
                </a:lnTo>
                <a:lnTo>
                  <a:pt x="6031230" y="5105"/>
                </a:lnTo>
                <a:lnTo>
                  <a:pt x="5990653" y="19608"/>
                </a:lnTo>
                <a:lnTo>
                  <a:pt x="5954865" y="42379"/>
                </a:lnTo>
                <a:lnTo>
                  <a:pt x="5925007" y="72237"/>
                </a:lnTo>
                <a:lnTo>
                  <a:pt x="5902236" y="108026"/>
                </a:lnTo>
                <a:lnTo>
                  <a:pt x="5887732" y="148602"/>
                </a:lnTo>
                <a:lnTo>
                  <a:pt x="5882640" y="192786"/>
                </a:lnTo>
                <a:lnTo>
                  <a:pt x="5882640" y="4796726"/>
                </a:lnTo>
                <a:lnTo>
                  <a:pt x="5887732" y="4840948"/>
                </a:lnTo>
                <a:lnTo>
                  <a:pt x="5902236" y="4881550"/>
                </a:lnTo>
                <a:lnTo>
                  <a:pt x="5925007" y="4917351"/>
                </a:lnTo>
                <a:lnTo>
                  <a:pt x="5954865" y="4947221"/>
                </a:lnTo>
                <a:lnTo>
                  <a:pt x="5990653" y="4969980"/>
                </a:lnTo>
                <a:lnTo>
                  <a:pt x="6031230" y="4984483"/>
                </a:lnTo>
                <a:lnTo>
                  <a:pt x="6075426" y="4989576"/>
                </a:lnTo>
                <a:lnTo>
                  <a:pt x="11130534" y="4989576"/>
                </a:lnTo>
                <a:lnTo>
                  <a:pt x="11174717" y="4984483"/>
                </a:lnTo>
                <a:lnTo>
                  <a:pt x="11215294" y="4969980"/>
                </a:lnTo>
                <a:lnTo>
                  <a:pt x="11251082" y="4947221"/>
                </a:lnTo>
                <a:lnTo>
                  <a:pt x="11280940" y="4917351"/>
                </a:lnTo>
                <a:lnTo>
                  <a:pt x="11303711" y="4881550"/>
                </a:lnTo>
                <a:lnTo>
                  <a:pt x="11318215" y="4840948"/>
                </a:lnTo>
                <a:lnTo>
                  <a:pt x="11323320" y="4796726"/>
                </a:lnTo>
                <a:lnTo>
                  <a:pt x="11323320" y="19278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2691" y="403098"/>
            <a:ext cx="6607860" cy="4626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36142" y="2000834"/>
            <a:ext cx="7013575" cy="3044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1544807" y="6403755"/>
            <a:ext cx="396875" cy="2416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hyperlink" Target="http://www.lider.com/" TargetMode="External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2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4572" y="-4572"/>
            <a:ext cx="12197080" cy="6863080"/>
            <a:chOff x="-4572" y="-4572"/>
            <a:chExt cx="12197080" cy="68630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5829300" cy="1973580"/>
            </a:xfrm>
            <a:custGeom>
              <a:avLst/>
              <a:gdLst/>
              <a:ahLst/>
              <a:cxnLst/>
              <a:rect l="l" t="t" r="r" b="b"/>
              <a:pathLst>
                <a:path w="5829300" h="1973580">
                  <a:moveTo>
                    <a:pt x="5829299" y="0"/>
                  </a:moveTo>
                  <a:lnTo>
                    <a:pt x="5829299" y="1749044"/>
                  </a:lnTo>
                  <a:lnTo>
                    <a:pt x="5824741" y="1794316"/>
                  </a:lnTo>
                  <a:lnTo>
                    <a:pt x="5811664" y="1836473"/>
                  </a:lnTo>
                  <a:lnTo>
                    <a:pt x="5790971" y="1874615"/>
                  </a:lnTo>
                  <a:lnTo>
                    <a:pt x="5763561" y="1907841"/>
                  </a:lnTo>
                  <a:lnTo>
                    <a:pt x="5730335" y="1935251"/>
                  </a:lnTo>
                  <a:lnTo>
                    <a:pt x="5692193" y="1955944"/>
                  </a:lnTo>
                  <a:lnTo>
                    <a:pt x="5650036" y="1969021"/>
                  </a:lnTo>
                  <a:lnTo>
                    <a:pt x="5604763" y="1973579"/>
                  </a:lnTo>
                  <a:lnTo>
                    <a:pt x="0" y="1973579"/>
                  </a:lnTo>
                </a:path>
              </a:pathLst>
            </a:custGeom>
            <a:ln w="9144">
              <a:solidFill>
                <a:srgbClr val="FFD5E2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TextBox 4"/>
          <p:cNvSpPr txBox="1"/>
          <p:nvPr/>
        </p:nvSpPr>
        <p:spPr>
          <a:xfrm>
            <a:off x="758952" y="141732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Montserrat"/>
              </a:rPr>
              <a:t>RTK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ontserrat"/>
              </a:rPr>
              <a:t>Система контроля взаимодействия ИТ Школы Ростелекома с вузами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F3C9E4"/>
                </a:solidFill>
                <a:latin typeface="Montserrat"/>
              </a:rPr>
              <a:t>Лидеры цифровой трансформации 2026 · кейс №6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4528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E6D2EF"/>
                </a:solidFill>
                <a:latin typeface="Montserrat"/>
              </a:rPr>
              <a:t>Команда из 5 человек · Москва · github.com/Pavel1778/rtk-crm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2971799"/>
              <a:ext cx="6456045" cy="3886200"/>
            </a:xfrm>
            <a:custGeom>
              <a:avLst/>
              <a:gdLst/>
              <a:ahLst/>
              <a:cxnLst/>
              <a:rect l="l" t="t" r="r" b="b"/>
              <a:pathLst>
                <a:path w="6456045" h="3886200">
                  <a:moveTo>
                    <a:pt x="6455664" y="0"/>
                  </a:moveTo>
                  <a:lnTo>
                    <a:pt x="0" y="0"/>
                  </a:lnTo>
                  <a:lnTo>
                    <a:pt x="0" y="3886200"/>
                  </a:lnTo>
                  <a:lnTo>
                    <a:pt x="6455664" y="3886200"/>
                  </a:lnTo>
                  <a:lnTo>
                    <a:pt x="6455664" y="0"/>
                  </a:lnTo>
                  <a:close/>
                </a:path>
              </a:pathLst>
            </a:custGeom>
            <a:solidFill>
              <a:srgbClr val="DCCEE3">
                <a:alpha val="49803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413715" y="3513582"/>
            <a:ext cx="3133725" cy="193802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05"/>
              </a:spcBef>
              <a:spcAft>
                <a:spcPts val="8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О команде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Капитан: Сабадаш Павел, backend и инфраструктура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Участников: 5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Город и регион: Москва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Команда собралась на ЛЦТ 2026 вокруг задачи ИТ Школы.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396240" y="2234183"/>
            <a:ext cx="11386185" cy="2209800"/>
            <a:chOff x="396240" y="2234183"/>
            <a:chExt cx="11386185" cy="2209800"/>
          </a:xfrm>
        </p:grpSpPr>
        <p:sp>
          <p:nvSpPr>
            <p:cNvPr id="7" name="object 7"/>
            <p:cNvSpPr/>
            <p:nvPr/>
          </p:nvSpPr>
          <p:spPr>
            <a:xfrm>
              <a:off x="6879336" y="2240279"/>
              <a:ext cx="4903470" cy="2197735"/>
            </a:xfrm>
            <a:custGeom>
              <a:avLst/>
              <a:gdLst/>
              <a:ahLst/>
              <a:cxnLst/>
              <a:rect l="l" t="t" r="r" b="b"/>
              <a:pathLst>
                <a:path w="4903470" h="2197735">
                  <a:moveTo>
                    <a:pt x="0" y="0"/>
                  </a:moveTo>
                  <a:lnTo>
                    <a:pt x="4884801" y="0"/>
                  </a:lnTo>
                </a:path>
                <a:path w="4903470" h="2197735">
                  <a:moveTo>
                    <a:pt x="18288" y="2197608"/>
                  </a:moveTo>
                  <a:lnTo>
                    <a:pt x="4903089" y="2197608"/>
                  </a:lnTo>
                </a:path>
              </a:pathLst>
            </a:custGeom>
            <a:ln w="12192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96240" y="3447287"/>
              <a:ext cx="5700395" cy="0"/>
            </a:xfrm>
            <a:custGeom>
              <a:avLst/>
              <a:gdLst/>
              <a:ahLst/>
              <a:cxnLst/>
              <a:rect l="l" t="t" r="r" b="b"/>
              <a:pathLst>
                <a:path w="5700395" h="0">
                  <a:moveTo>
                    <a:pt x="0" y="0"/>
                  </a:moveTo>
                  <a:lnTo>
                    <a:pt x="5700141" y="0"/>
                  </a:lnTo>
                </a:path>
              </a:pathLst>
            </a:custGeom>
            <a:ln w="6096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888606" y="2244596"/>
            <a:ext cx="2854960" cy="644525"/>
          </a:xfrm>
          <a:prstGeom prst="rect">
            <a:avLst/>
          </a:prstGeom>
        </p:spPr>
        <p:txBody>
          <a:bodyPr wrap="square" lIns="0" tIns="100330" rIns="0" bIns="0" rtlCol="0" vert="horz">
            <a:spAutoFit/>
          </a:bodyPr>
          <a:lstStyle/>
          <a:p>
            <a:pPr marL="24130" algn="l">
              <a:lnSpc>
                <a:spcPct val="112000"/>
              </a:lnSpc>
              <a:spcBef>
                <a:spcPts val="790"/>
              </a:spcBef>
              <a:spcAft>
                <a:spcPts val="8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Краткое описание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CRM ведёт взаимодействие с вузом от первого контакта до результата: Kanban, карточка, задачи, комментарии, файлы, отчёты.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900418" y="4464677"/>
            <a:ext cx="3645535" cy="895350"/>
          </a:xfrm>
          <a:prstGeom prst="rect">
            <a:avLst/>
          </a:prstGeom>
        </p:spPr>
        <p:txBody>
          <a:bodyPr wrap="square" lIns="0" tIns="12001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45"/>
              </a:spcBef>
              <a:spcAft>
                <a:spcPts val="8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Уникальность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Настраиваемый workflow без доработки кода. Воронки B2B (14 этапов) и B2C (4 этапа) не смешиваются в UI, API и отчётах.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651760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64" y="0"/>
                  </a:lnTo>
                  <a:lnTo>
                    <a:pt x="165911" y="5686"/>
                  </a:lnTo>
                  <a:lnTo>
                    <a:pt x="120603" y="21882"/>
                  </a:lnTo>
                  <a:lnTo>
                    <a:pt x="80634" y="47296"/>
                  </a:lnTo>
                  <a:lnTo>
                    <a:pt x="47296" y="80634"/>
                  </a:lnTo>
                  <a:lnTo>
                    <a:pt x="21882" y="120603"/>
                  </a:lnTo>
                  <a:lnTo>
                    <a:pt x="5686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6" y="4668252"/>
                  </a:lnTo>
                  <a:lnTo>
                    <a:pt x="21882" y="4713554"/>
                  </a:lnTo>
                  <a:lnTo>
                    <a:pt x="47296" y="4753516"/>
                  </a:lnTo>
                  <a:lnTo>
                    <a:pt x="80634" y="4786846"/>
                  </a:lnTo>
                  <a:lnTo>
                    <a:pt x="120603" y="4812253"/>
                  </a:lnTo>
                  <a:lnTo>
                    <a:pt x="165911" y="4828443"/>
                  </a:lnTo>
                  <a:lnTo>
                    <a:pt x="215264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2902966" y="3626053"/>
            <a:ext cx="1439545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Тимофей Кобзев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02966" y="4263339"/>
            <a:ext cx="1655445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655" indent="-147955" algn="l"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655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Frontend и дизайн-система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@T1mka_Z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347472" y="323088"/>
            <a:ext cx="3950335" cy="6032500"/>
            <a:chOff x="347472" y="323088"/>
            <a:chExt cx="3950335" cy="6032500"/>
          </a:xfrm>
        </p:grpSpPr>
        <p:sp>
          <p:nvSpPr>
            <p:cNvPr id="17" name="object 17"/>
            <p:cNvSpPr/>
            <p:nvPr/>
          </p:nvSpPr>
          <p:spPr>
            <a:xfrm>
              <a:off x="347472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26" y="0"/>
                  </a:lnTo>
                  <a:lnTo>
                    <a:pt x="165875" y="5686"/>
                  </a:lnTo>
                  <a:lnTo>
                    <a:pt x="120573" y="21882"/>
                  </a:lnTo>
                  <a:lnTo>
                    <a:pt x="80611" y="47296"/>
                  </a:lnTo>
                  <a:lnTo>
                    <a:pt x="47281" y="80634"/>
                  </a:lnTo>
                  <a:lnTo>
                    <a:pt x="21874" y="120603"/>
                  </a:lnTo>
                  <a:lnTo>
                    <a:pt x="5684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4" y="4668252"/>
                  </a:lnTo>
                  <a:lnTo>
                    <a:pt x="21874" y="4713554"/>
                  </a:lnTo>
                  <a:lnTo>
                    <a:pt x="47281" y="4753516"/>
                  </a:lnTo>
                  <a:lnTo>
                    <a:pt x="80611" y="4786846"/>
                  </a:lnTo>
                  <a:lnTo>
                    <a:pt x="120573" y="4812253"/>
                  </a:lnTo>
                  <a:lnTo>
                    <a:pt x="165875" y="4828443"/>
                  </a:lnTo>
                  <a:lnTo>
                    <a:pt x="215226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597204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Сабадаш Павел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956047" y="1520952"/>
            <a:ext cx="2194560" cy="4834255"/>
          </a:xfrm>
          <a:custGeom>
            <a:avLst/>
            <a:gdLst/>
            <a:ahLst/>
            <a:cxnLst/>
            <a:rect l="l" t="t" r="r" b="b"/>
            <a:pathLst>
              <a:path w="2194559" h="4834255">
                <a:moveTo>
                  <a:pt x="1979041" y="0"/>
                </a:moveTo>
                <a:lnTo>
                  <a:pt x="215518" y="0"/>
                </a:lnTo>
                <a:lnTo>
                  <a:pt x="166111" y="5693"/>
                </a:lnTo>
                <a:lnTo>
                  <a:pt x="120751" y="21910"/>
                </a:lnTo>
                <a:lnTo>
                  <a:pt x="80734" y="47356"/>
                </a:lnTo>
                <a:lnTo>
                  <a:pt x="47356" y="80734"/>
                </a:lnTo>
                <a:lnTo>
                  <a:pt x="21910" y="120751"/>
                </a:lnTo>
                <a:lnTo>
                  <a:pt x="5693" y="166111"/>
                </a:lnTo>
                <a:lnTo>
                  <a:pt x="0" y="215519"/>
                </a:lnTo>
                <a:lnTo>
                  <a:pt x="0" y="4618596"/>
                </a:lnTo>
                <a:lnTo>
                  <a:pt x="5693" y="4668016"/>
                </a:lnTo>
                <a:lnTo>
                  <a:pt x="21910" y="4713382"/>
                </a:lnTo>
                <a:lnTo>
                  <a:pt x="47356" y="4753401"/>
                </a:lnTo>
                <a:lnTo>
                  <a:pt x="80734" y="4786778"/>
                </a:lnTo>
                <a:lnTo>
                  <a:pt x="120751" y="4812221"/>
                </a:lnTo>
                <a:lnTo>
                  <a:pt x="166111" y="4828435"/>
                </a:lnTo>
                <a:lnTo>
                  <a:pt x="215518" y="4834128"/>
                </a:lnTo>
                <a:lnTo>
                  <a:pt x="1979041" y="4834128"/>
                </a:lnTo>
                <a:lnTo>
                  <a:pt x="2028448" y="4828435"/>
                </a:lnTo>
                <a:lnTo>
                  <a:pt x="2073808" y="4812221"/>
                </a:lnTo>
                <a:lnTo>
                  <a:pt x="2113825" y="4786778"/>
                </a:lnTo>
                <a:lnTo>
                  <a:pt x="2147203" y="4753401"/>
                </a:lnTo>
                <a:lnTo>
                  <a:pt x="2172649" y="4713382"/>
                </a:lnTo>
                <a:lnTo>
                  <a:pt x="2188866" y="4668016"/>
                </a:lnTo>
                <a:lnTo>
                  <a:pt x="2194559" y="4618596"/>
                </a:lnTo>
                <a:lnTo>
                  <a:pt x="2194559" y="215519"/>
                </a:lnTo>
                <a:lnTo>
                  <a:pt x="2188866" y="166111"/>
                </a:lnTo>
                <a:lnTo>
                  <a:pt x="2172649" y="120751"/>
                </a:lnTo>
                <a:lnTo>
                  <a:pt x="2147203" y="80734"/>
                </a:lnTo>
                <a:lnTo>
                  <a:pt x="2113825" y="47356"/>
                </a:lnTo>
                <a:lnTo>
                  <a:pt x="2073808" y="21910"/>
                </a:lnTo>
                <a:lnTo>
                  <a:pt x="2028448" y="5693"/>
                </a:lnTo>
                <a:lnTo>
                  <a:pt x="197904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5209159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Сазонов Александр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09159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Backend, API и интеграции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@saneik_me</a:t>
            </a:r>
          </a:p>
        </p:txBody>
      </p:sp>
      <p:sp>
        <p:nvSpPr>
          <p:cNvPr id="10" name="object 10"/>
          <p:cNvSpPr/>
          <p:nvPr/>
        </p:nvSpPr>
        <p:spPr>
          <a:xfrm>
            <a:off x="7263383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5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5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2" y="4618901"/>
                </a:lnTo>
                <a:lnTo>
                  <a:pt x="2191512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7514970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Иван Мельников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14970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Данные, отчёты и экспорт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@GooolZZ</a:t>
            </a:r>
          </a:p>
        </p:txBody>
      </p:sp>
      <p:sp>
        <p:nvSpPr>
          <p:cNvPr id="13" name="object 13"/>
          <p:cNvSpPr/>
          <p:nvPr/>
        </p:nvSpPr>
        <p:spPr>
          <a:xfrm>
            <a:off x="9567671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4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4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1" y="4618901"/>
                </a:lnTo>
                <a:lnTo>
                  <a:pt x="2191511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9820782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Никита Предков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97204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Капитан, backend и инфраструктура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@Pasha1778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9820782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05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400" b="0">
                <a:solidFill>
                  <a:srgbClr val="3C1B50"/>
                </a:solidFill>
                <a:latin typeface="Montserrat"/>
              </a:rPr>
              <a:t>QA, документация и питч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6B5B78"/>
                </a:solidFill>
                <a:latin typeface="Montserrat"/>
              </a:rPr>
              <a:t>Telegram: @pretuan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612444" y="1199693"/>
            <a:ext cx="3925570" cy="1097915"/>
          </a:xfrm>
          <a:prstGeom prst="rect">
            <a:avLst/>
          </a:prstGeom>
        </p:spPr>
        <p:txBody>
          <a:bodyPr wrap="square" lIns="0" tIns="12192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60"/>
              </a:spcBef>
              <a:spcAft>
                <a:spcPts val="5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Краткая история команды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Команда сложилась на хакатоне ЛЦТ 2026: backend, frontend, аналитика, отчёты и QA. Роли распределили по сильным сторонам.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612444" y="2931109"/>
            <a:ext cx="3971925" cy="98107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5"/>
              </a:spcBef>
              <a:spcAft>
                <a:spcPts val="5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Почему выбрали эту задачу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Задача ИТ Школы про реальный процесс, а не учебный кейс: взаимодействие с вузами живёт в таблицах и чатах. Собрали это в один прозрачный контур.</a:t>
            </a:r>
          </a:p>
        </p:txBody>
      </p:sp>
      <p:sp>
        <p:nvSpPr>
          <p:cNvPr id="8" name="object 8"/>
          <p:cNvSpPr/>
          <p:nvPr/>
        </p:nvSpPr>
        <p:spPr>
          <a:xfrm>
            <a:off x="624840" y="1109472"/>
            <a:ext cx="11233150" cy="3298190"/>
          </a:xfrm>
          <a:custGeom>
            <a:avLst/>
            <a:gdLst/>
            <a:ahLst/>
            <a:cxnLst/>
            <a:rect l="l" t="t" r="r" b="b"/>
            <a:pathLst>
              <a:path w="11233150" h="3298190">
                <a:moveTo>
                  <a:pt x="0" y="1636776"/>
                </a:moveTo>
                <a:lnTo>
                  <a:pt x="11233150" y="1636776"/>
                </a:lnTo>
              </a:path>
              <a:path w="11233150" h="3298190">
                <a:moveTo>
                  <a:pt x="0" y="3297935"/>
                </a:moveTo>
                <a:lnTo>
                  <a:pt x="11233150" y="3297935"/>
                </a:lnTo>
              </a:path>
              <a:path w="11233150" h="3298190">
                <a:moveTo>
                  <a:pt x="0" y="0"/>
                </a:moveTo>
                <a:lnTo>
                  <a:pt x="11233150" y="0"/>
                </a:lnTo>
              </a:path>
            </a:pathLst>
          </a:custGeom>
          <a:ln w="6096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1676633" y="1289050"/>
            <a:ext cx="548640" cy="238125"/>
          </a:xfrm>
          <a:prstGeom prst="rect">
            <a:avLst/>
          </a:prstGeom>
        </p:spPr>
        <p:txBody>
          <a:bodyPr wrap="non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01</a:t>
            </a:r>
            <a:endParaRPr sz="1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649202" y="2931109"/>
            <a:ext cx="548640" cy="238125"/>
          </a:xfrm>
          <a:prstGeom prst="rect">
            <a:avLst/>
          </a:prstGeom>
        </p:spPr>
        <p:txBody>
          <a:bodyPr wrap="non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02</a:t>
            </a:r>
            <a:endParaRPr sz="1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2444" y="4584243"/>
            <a:ext cx="7117080" cy="15417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2652395" algn="l">
              <a:lnSpc>
                <a:spcPct val="112000"/>
              </a:lnSpc>
              <a:spcBef>
                <a:spcPts val="100"/>
              </a:spcBef>
              <a:spcAft>
                <a:spcPts val="5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Сложности и вызовы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Свести две воронки — B2B (14 этапов) и B2C (4 этапа) — так, чтобы фильтры, создание заявок и отчёты не путали их между собой. Отдельно занимались вёрсткой PDF-отчётов и контрастом тёмной темы.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1649202" y="4603750"/>
            <a:ext cx="548640" cy="238125"/>
          </a:xfrm>
          <a:prstGeom prst="rect">
            <a:avLst/>
          </a:prstGeom>
        </p:spPr>
        <p:txBody>
          <a:bodyPr wrap="non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03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72974" rIns="0" bIns="0" rtlCol="0" vert="horz">
            <a:spAutoFit/>
          </a:bodyPr>
          <a:lstStyle/>
          <a:p>
            <a:pPr marL="14604">
              <a:lnSpc>
                <a:spcPct val="100000"/>
              </a:lnSpc>
              <a:spcBef>
                <a:spcPts val="95"/>
              </a:spcBef>
            </a:pPr>
            <a:r>
              <a:rPr dirty="0">
                <a:latin typeface="Montserrat"/>
              </a:rPr>
              <a:t>КОРОТКО</a:t>
            </a:r>
            <a:r>
              <a:rPr dirty="0" spc="-65">
                <a:latin typeface="Montserrat"/>
              </a:rPr>
              <a:t> </a:t>
            </a:r>
            <a:r>
              <a:rPr dirty="0">
                <a:latin typeface="Montserrat"/>
              </a:rPr>
              <a:t>О</a:t>
            </a:r>
            <a:r>
              <a:rPr dirty="0" spc="-20">
                <a:latin typeface="Montserrat"/>
              </a:rPr>
              <a:t> </a:t>
            </a:r>
            <a:r>
              <a:rPr dirty="0" spc="-10">
                <a:latin typeface="Montserrat"/>
              </a:rPr>
              <a:t>РЕШЕНИИ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6945" y="1329316"/>
            <a:ext cx="4420870" cy="103124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Техническая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React 18 + TypeScript + Ant Design; FastAPI, SQLAlchemy 2 (async), PostgreSQL. Вход через Keycloak (Code Flow + PKCE) или локальный JWT, ролевой доступ и аудит-лог.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593840" y="1329316"/>
            <a:ext cx="4436110" cy="122301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Эффект и масштабирование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C1D22"/>
                </a:solidFill>
                <a:latin typeface="Montserrat"/>
              </a:rPr>
              <a:t>Закрывает потребность ИТ Школы в управляемом взаимодействии с вузами и переносится на подразделения с похожим процессом: продажи, партнёрства, работа с филиалами.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</p:grp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01 · Подробное описание решения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557016" cy="42062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627632"/>
            <a:ext cx="3044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 взаимодействий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04288"/>
            <a:ext cx="304495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Перемещение карточек между этапами (drag-and-drop)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Поиск по вузу и фильтр по ИТ-продукту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Выбор этапа на мобильной версии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6882" y="1371600"/>
            <a:ext cx="3557016" cy="42062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914" y="1627632"/>
            <a:ext cx="3044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Карточка взаимодействия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914" y="2304288"/>
            <a:ext cx="304495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Вуз, продукт, направление и договор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Задачи со сроками и ответственными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Комментарии, файлы и история изменений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0844" y="1371600"/>
            <a:ext cx="3557016" cy="42062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6876" y="1627632"/>
            <a:ext cx="3044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Управляемость и отчётность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6876" y="2304288"/>
            <a:ext cx="304495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Настройка этапов workflow администратором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Интеграция с LMS и CMS: dry-run и импорт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Экспорт отчётов в XLSX, XLS, PDF и 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320040"/>
            <a:ext cx="36576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05 · Уникальность решения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632704" cy="338328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632704" cy="338328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45920"/>
            <a:ext cx="508406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520978"/>
                </a:solidFill>
                <a:latin typeface="Montserrat"/>
              </a:rPr>
              <a:t>Настраиваемый workflow без доработки кода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Администратор сам добавляет и переименовывает этапы, задаёт цвет колонки, порядок и включение — процесс меняется вместе с бизнесом, а не вслед за релизом.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8406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520978"/>
                </a:solidFill>
                <a:latin typeface="Montserrat"/>
              </a:rPr>
              <a:t>Две воронки в одном продукте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B2B строится на 14 этапах, B2C — на 4. Фильтры доски, создание заявок и отчёты учитывают scope, поэтому воронки не смешиваются ни в UI, ни в API.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83480"/>
            <a:ext cx="11301984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7F4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66360"/>
            <a:ext cx="107533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Планы по развитию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Браузерный smoke-тест сценариев · нагрузка Locust на стенде · резервное восстановление в CI · подтверждение контура хранения данных в РФ · перенос production после согласования.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04 · Техническая проработка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371600"/>
            <a:ext cx="5632704" cy="21031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21408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React 18 и TypeScript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Vite, Ant Design 5, Zustand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Recharts и @dnd-kit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371600"/>
            <a:ext cx="5632704" cy="21031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5727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21408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Python 3.11, FastAPI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SQLAlchemy 2 async, asyncpg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Pydantic v2, JWT и bcrypt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75887"/>
            <a:ext cx="5632704" cy="21031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877055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Данные и инфраструктура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425696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PostgreSQL (Managed или контейнер)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Yandex Object Storage для файлов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KeyDB для кэша, Docker Compose, Nginx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675887"/>
            <a:ext cx="5632704" cy="21031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877055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Интеграции и защита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425696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Keycloak: Code Flow + PKCE, RS256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LMS и CMS: контракт обмена, dry-run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GigaChat: сводка по взаимодействию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</p:grpSp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02 · Маркетинговая часть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632704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7F4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645920"/>
            <a:ext cx="5047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Потребность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86000"/>
            <a:ext cx="504748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ИТ Школа ведёт десятки вузов-партнёров. Статус взаимодействия и договорённости разбросаны по таблицам и чатам, из-за чего теряются сроки и история.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632704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7F4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45920"/>
            <a:ext cx="5047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Продвижение и развитие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286000"/>
            <a:ext cx="504748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Продукт внедряется внутри Ростелекома как готовый контур, а затем тиражируется на подразделения с похожим процессом: продажи, партнёрства, работа с филиалами.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11815953" y="6449170"/>
            <a:ext cx="548640" cy="196215"/>
          </a:xfrm>
          <a:prstGeom prst="rect">
            <a:avLst/>
          </a:prstGeom>
        </p:spPr>
        <p:txBody>
          <a:bodyPr wrap="none" lIns="0" tIns="0" rIns="0" bIns="0" rtlCol="0" vert="horz">
            <a:spAutoFit/>
          </a:bodyPr>
          <a:lstStyle/>
          <a:p>
            <a:pPr marL="127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4</a:t>
            </a:r>
            <a:endParaRPr sz="1200">
              <a:latin typeface="Microsoft Sans Serif"/>
              <a:cs typeface="Microsoft Sans Serif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03 · Бизнес-составляющая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1371600"/>
            <a:ext cx="475488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7F4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627632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Эффект для ИТ Школы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•  Единый контур вместо таблиц и чатов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•  Прозрачные этапы и ответственные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•  Отчёт руководителю за секунды, а не за день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•  Сохранённая история взаимодействий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5B78"/>
                </a:solidFill>
                <a:latin typeface="Montserrat"/>
              </a:rPr>
              <a:t>•  Ограничение: не более 2 активных взаимодействий на вуз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371600"/>
            <a:ext cx="6035040" cy="82296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1591056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14 этапов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16459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5B78"/>
                </a:solidFill>
                <a:latin typeface="Montserrat"/>
              </a:rPr>
              <a:t>воронка B2B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2331720"/>
            <a:ext cx="6035040" cy="82296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0" y="2551176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этапа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260603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5B78"/>
                </a:solidFill>
                <a:latin typeface="Montserrat"/>
              </a:rPr>
              <a:t>воронка B2C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720" y="3291839"/>
            <a:ext cx="6035040" cy="82296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3511296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формата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356615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5B78"/>
                </a:solidFill>
                <a:latin typeface="Montserrat"/>
              </a:rPr>
              <a:t>XLSX · XLS · PDF · JSON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4251959"/>
            <a:ext cx="6035040" cy="82296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0" y="4471416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2 роли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452627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5B78"/>
                </a:solidFill>
                <a:latin typeface="Montserrat"/>
              </a:rPr>
              <a:t>менеджер и администратор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5212079"/>
            <a:ext cx="6035040" cy="82296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0" y="5431536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0 ошибок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548639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B5B78"/>
                </a:solidFill>
                <a:latin typeface="Montserrat"/>
              </a:rPr>
              <a:t>на нагрузочном прогоне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94232" y="1133855"/>
              <a:ext cx="4372229" cy="2924429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18176" y="1411224"/>
              <a:ext cx="79248" cy="91439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1889760" y="1395983"/>
            <a:ext cx="3203575" cy="128270"/>
          </a:xfrm>
          <a:prstGeom prst="rect">
            <a:avLst/>
          </a:prstGeom>
          <a:ln w="24383">
            <a:solidFill>
              <a:srgbClr val="B3B3B3"/>
            </a:solidFill>
          </a:ln>
        </p:spPr>
        <p:txBody>
          <a:bodyPr wrap="square" lIns="0" tIns="0" rIns="0" bIns="0" rtlCol="0" vert="horz">
            <a:spAutoFit/>
          </a:bodyPr>
          <a:lstStyle/>
          <a:p>
            <a:pPr marL="207645">
              <a:lnSpc>
                <a:spcPts val="1010"/>
              </a:lnSpc>
            </a:pPr>
            <a:r>
              <a:rPr dirty="0" sz="1000" spc="-10">
                <a:latin typeface="Montserrat"/>
                <a:cs typeface="Microsoft Sans Serif"/>
                <a:hlinkClick r:id="rId5"/>
              </a:rPr>
              <a:t>www.lider.com</a:t>
            </a:r>
            <a:endParaRPr sz="1000">
              <a:latin typeface="Microsoft Sans Serif"/>
              <a:cs typeface="Microsoft Sans Serif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1929383" y="1133855"/>
            <a:ext cx="9182100" cy="2924810"/>
            <a:chOff x="1929383" y="1133855"/>
            <a:chExt cx="9182100" cy="2924810"/>
          </a:xfrm>
        </p:grpSpPr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29383" y="1426463"/>
              <a:ext cx="73152" cy="73151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9127" y="1133855"/>
              <a:ext cx="4372229" cy="2924429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863072" y="1411223"/>
              <a:ext cx="79248" cy="91439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7534656" y="1395983"/>
            <a:ext cx="3203575" cy="128270"/>
          </a:xfrm>
          <a:prstGeom prst="rect">
            <a:avLst/>
          </a:prstGeom>
          <a:ln w="24384">
            <a:solidFill>
              <a:srgbClr val="B3B3B3"/>
            </a:solidFill>
          </a:ln>
        </p:spPr>
        <p:txBody>
          <a:bodyPr wrap="square" lIns="0" tIns="0" rIns="0" bIns="0" rtlCol="0" vert="horz">
            <a:spAutoFit/>
          </a:bodyPr>
          <a:lstStyle/>
          <a:p>
            <a:pPr marL="208915">
              <a:lnSpc>
                <a:spcPts val="1010"/>
              </a:lnSpc>
            </a:pPr>
            <a:r>
              <a:rPr dirty="0" sz="1000" spc="-10">
                <a:latin typeface="Montserrat"/>
                <a:cs typeface="Microsoft Sans Serif"/>
                <a:hlinkClick r:id="rId5"/>
              </a:rPr>
              <a:t>www.lider.com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29" name="object 2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574280" y="1426463"/>
            <a:ext cx="73151" cy="73151"/>
          </a:xfrm>
          <a:prstGeom prst="rect">
            <a:avLst/>
          </a:prstGeom>
        </p:spPr>
      </p:pic>
      <p:sp>
        <p:nvSpPr>
          <p:cNvPr id="30" name="object 30"/>
          <p:cNvSpPr txBox="1">
            <a:spLocks noGrp="1"/>
          </p:cNvSpPr>
          <p:nvPr>
            <p:ph type="sldNum" idx="7" sz="quarter"/>
          </p:nvPr>
        </p:nvSpPr>
        <p:spPr>
          <a:xfrm>
            <a:ext cx="548640" cy="0"/>
          </a:xfrm>
          <a:prstGeom prst="rect"/>
        </p:spPr>
        <p:txBody>
          <a:bodyPr wrap="none" lIns="0" tIns="45415" rIns="0" bIns="0" rtlCol="0" vert="horz">
            <a:spAutoFit/>
          </a:bodyPr>
          <a:lstStyle/>
          <a:p>
            <a:pPr marL="635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" y="320040"/>
            <a:ext cx="49377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Демонстрация и результаты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1371600"/>
            <a:ext cx="5632704" cy="35204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2-kanban-boa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00199" y="1554480"/>
            <a:ext cx="3438144" cy="21488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1520" y="3730752"/>
            <a:ext cx="51755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>
                <a:solidFill>
                  <a:srgbClr val="520978"/>
                </a:solidFill>
                <a:latin typeface="Montserrat"/>
              </a:rPr>
              <a:t>Kanban-доска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Портфель взаимодействий с фильтрами по вузу и продукту, переключением B2B/B2C и перемещением карточек по этапам.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Демо: https://crm-rtk.pixel-minds.ru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1371600"/>
            <a:ext cx="5632704" cy="35204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11-integrat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9480" y="1554480"/>
            <a:ext cx="3438144" cy="214884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400800" y="3730752"/>
            <a:ext cx="51755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>
                <a:solidFill>
                  <a:srgbClr val="520978"/>
                </a:solidFill>
                <a:latin typeface="Montserrat"/>
              </a:rPr>
              <a:t>Интеграция с LMS и CMS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Контракт обмена, предпросмотр пакета без записи (dry-run) и идемпотентный импорт по номеру договора. Отчёты выгружаются в XLSX, XLS, PDF и JSON.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API: https://crm-rtk.pixel-minds.ru/api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74920"/>
            <a:ext cx="8595360" cy="123444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239512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520978"/>
                </a:solidFill>
                <a:latin typeface="Montserrat"/>
              </a:rPr>
              <a:t>Нагрузочный прогон (локально)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6B5B78"/>
                </a:solidFill>
                <a:latin typeface="Montserrat"/>
              </a:rPr>
              <a:t>50 пользователей / 60 с: 1613 запросов, 0 ошибок, p95 — 93 мс. Смешанный read/write: 4673 запроса, 0 ошибок; экспорт PDF — 210 мс. Не является SLA production.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8920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520978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58400" y="5212080"/>
            <a:ext cx="1188720" cy="11887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02920" y="64465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B5B78"/>
                </a:solidFill>
                <a:latin typeface="Montserrat"/>
              </a:rPr>
              <a:t>Москва · sabadaspaha@gmail.com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2026-09-24T18:56:55Z</dcterms:created>
  <dcterms:modified xsi:type="dcterms:W3CDTF">2026-09-24T18:56:55Z</dcterms:modified>
  <dc:creator>Сабадаш Павел</dc:creator>
  <cp:lastModifiedBy>Сабадаш Павел</cp:lastModifiedBy>
  <dc:title>RTK CRM — ЛЦТ 2026, кейс №6</dc:title>
  <dc:subject>Система контроля взаимодействия ИТ Школы Ростелекома с вузами</dc:subject>
  <dc:description/>
  <cp:category/>
  <cp:keyword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2026-09-24T00:00:00Z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2026-09-24T00:00:00Z</vt:filetime>
  </property>
  <property fmtid="{D5CDD505-2E9C-101B-9397-08002B2CF9AE}" pid="6" name="Producer">
    <vt:lpwstr>www.ilovepdf.com</vt:lpwstr>
  </property>
</Properties>
</file>