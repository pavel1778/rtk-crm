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media/image3.jpg" ContentType="image/jpg"/>
  <Override PartName="/ppt/media/image30.jpg" ContentType="image/jpg"/>
  <Override PartName="/ppt/media/image31.jpg" ContentType="image/jpg"/>
  <Override PartName="/ppt/media/image4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68" r:id="rId18"/>
    <p:sldId id="272" r:id="rId22"/>
    <p:sldId id="274" r:id="rId24"/>
    <p:sldId id="275" r:id="rId25"/>
    <p:sldId id="271" r:id="rId21"/>
    <p:sldId id="282" r:id="rId32"/>
    <p:sldId id="262" r:id="rId12"/>
    <p:sldId id="263" r:id="rId13"/>
    <p:sldId id="264" r:id="rId14"/>
    <p:sldId id="265" r:id="rId15"/>
    <p:sldId id="266" r:id="rId16"/>
  </p:sldIdLst>
  <p:sldSz cx="12192000" cy="6858000"/>
  <p:notesSz cx="12192000" cy="6858000"/>
  <p:defaultTextStyle>
    <a:defPPr>
      <a:defRPr kern="0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-1536" y="-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viewProps" Target="viewProps.xml"/><Relationship Id="rId4" Type="http://schemas.openxmlformats.org/officeDocument/2006/relationships/presProps" Target="presProps.xml"/><Relationship Id="rId5" Type="http://schemas.openxmlformats.org/officeDocument/2006/relationships/tableStyles" Target="tableStyles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8" Type="http://schemas.openxmlformats.org/officeDocument/2006/relationships/slide" Target="slides/slide13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32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rgbClr val="F1F1F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F1F1F1"/>
                </a:solidFill>
                <a:latin typeface="Microsoft Sans Serif"/>
                <a:cs typeface="Microsoft Sans Serif"/>
              </a:defRPr>
            </a:lvl1pPr>
          </a:lstStyle>
          <a:p>
            <a:pPr marL="184785">
              <a:lnSpc>
                <a:spcPts val="1425"/>
              </a:lnSpc>
            </a:pPr>
            <a:fld id="{81D60167-4931-47E6-BA6A-407CBD079E47}" type="slidenum">
              <a:rPr dirty="0" spc="-50"/>
              <a:t>#</a:t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 showMasterSp="0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rgbClr val="F1F1F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8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F1F1F1"/>
                </a:solidFill>
                <a:latin typeface="Microsoft Sans Serif"/>
                <a:cs typeface="Microsoft Sans Serif"/>
              </a:defRPr>
            </a:lvl1pPr>
          </a:lstStyle>
          <a:p>
            <a:pPr marL="184785">
              <a:lnSpc>
                <a:spcPts val="1425"/>
              </a:lnSpc>
            </a:pPr>
            <a:fld id="{81D60167-4931-47E6-BA6A-407CBD079E47}" type="slidenum">
              <a:rPr dirty="0" spc="-50"/>
              <a:t>#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 showMasterSp="0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347472" y="323088"/>
            <a:ext cx="3749040" cy="622300"/>
          </a:xfrm>
          <a:custGeom>
            <a:avLst/>
            <a:gdLst/>
            <a:ahLst/>
            <a:cxnLst/>
            <a:rect l="l" t="t" r="r" b="b"/>
            <a:pathLst>
              <a:path w="3749040" h="622300">
                <a:moveTo>
                  <a:pt x="3632707" y="0"/>
                </a:moveTo>
                <a:lnTo>
                  <a:pt x="116306" y="0"/>
                </a:lnTo>
                <a:lnTo>
                  <a:pt x="71033" y="9140"/>
                </a:lnTo>
                <a:lnTo>
                  <a:pt x="34064" y="34067"/>
                </a:lnTo>
                <a:lnTo>
                  <a:pt x="9139" y="71044"/>
                </a:lnTo>
                <a:lnTo>
                  <a:pt x="0" y="116331"/>
                </a:lnTo>
                <a:lnTo>
                  <a:pt x="0" y="505459"/>
                </a:lnTo>
                <a:lnTo>
                  <a:pt x="9139" y="550747"/>
                </a:lnTo>
                <a:lnTo>
                  <a:pt x="34064" y="587724"/>
                </a:lnTo>
                <a:lnTo>
                  <a:pt x="71033" y="612651"/>
                </a:lnTo>
                <a:lnTo>
                  <a:pt x="116306" y="621791"/>
                </a:lnTo>
                <a:lnTo>
                  <a:pt x="3632707" y="621791"/>
                </a:lnTo>
                <a:lnTo>
                  <a:pt x="3677995" y="612651"/>
                </a:lnTo>
                <a:lnTo>
                  <a:pt x="3714972" y="587724"/>
                </a:lnTo>
                <a:lnTo>
                  <a:pt x="3739899" y="550747"/>
                </a:lnTo>
                <a:lnTo>
                  <a:pt x="3749040" y="505459"/>
                </a:lnTo>
                <a:lnTo>
                  <a:pt x="3749040" y="116331"/>
                </a:lnTo>
                <a:lnTo>
                  <a:pt x="3739899" y="71044"/>
                </a:lnTo>
                <a:lnTo>
                  <a:pt x="3714972" y="34067"/>
                </a:lnTo>
                <a:lnTo>
                  <a:pt x="3677995" y="9140"/>
                </a:lnTo>
                <a:lnTo>
                  <a:pt x="3632707" y="0"/>
                </a:lnTo>
                <a:close/>
              </a:path>
            </a:pathLst>
          </a:custGeom>
          <a:solidFill>
            <a:srgbClr val="FF0052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8" name="bg object 18"/>
          <p:cNvSpPr/>
          <p:nvPr/>
        </p:nvSpPr>
        <p:spPr>
          <a:xfrm>
            <a:off x="347472" y="1210055"/>
            <a:ext cx="11323320" cy="4989830"/>
          </a:xfrm>
          <a:custGeom>
            <a:avLst/>
            <a:gdLst/>
            <a:ahLst/>
            <a:cxnLst/>
            <a:rect l="l" t="t" r="r" b="b"/>
            <a:pathLst>
              <a:path w="11323320" h="4989830">
                <a:moveTo>
                  <a:pt x="5437632" y="170053"/>
                </a:moveTo>
                <a:lnTo>
                  <a:pt x="5431561" y="124828"/>
                </a:lnTo>
                <a:lnTo>
                  <a:pt x="5414416" y="84201"/>
                </a:lnTo>
                <a:lnTo>
                  <a:pt x="5387835" y="49784"/>
                </a:lnTo>
                <a:lnTo>
                  <a:pt x="5353431" y="23215"/>
                </a:lnTo>
                <a:lnTo>
                  <a:pt x="5312803" y="6070"/>
                </a:lnTo>
                <a:lnTo>
                  <a:pt x="5267579" y="0"/>
                </a:lnTo>
                <a:lnTo>
                  <a:pt x="170002" y="0"/>
                </a:lnTo>
                <a:lnTo>
                  <a:pt x="124802" y="6070"/>
                </a:lnTo>
                <a:lnTo>
                  <a:pt x="84188" y="23215"/>
                </a:lnTo>
                <a:lnTo>
                  <a:pt x="49784" y="49784"/>
                </a:lnTo>
                <a:lnTo>
                  <a:pt x="23202" y="84201"/>
                </a:lnTo>
                <a:lnTo>
                  <a:pt x="6070" y="124828"/>
                </a:lnTo>
                <a:lnTo>
                  <a:pt x="0" y="170053"/>
                </a:lnTo>
                <a:lnTo>
                  <a:pt x="0" y="4819574"/>
                </a:lnTo>
                <a:lnTo>
                  <a:pt x="6070" y="4864773"/>
                </a:lnTo>
                <a:lnTo>
                  <a:pt x="23202" y="4905387"/>
                </a:lnTo>
                <a:lnTo>
                  <a:pt x="49784" y="4939792"/>
                </a:lnTo>
                <a:lnTo>
                  <a:pt x="84188" y="4966373"/>
                </a:lnTo>
                <a:lnTo>
                  <a:pt x="124802" y="4983505"/>
                </a:lnTo>
                <a:lnTo>
                  <a:pt x="170002" y="4989576"/>
                </a:lnTo>
                <a:lnTo>
                  <a:pt x="5267579" y="4989576"/>
                </a:lnTo>
                <a:lnTo>
                  <a:pt x="5312803" y="4983505"/>
                </a:lnTo>
                <a:lnTo>
                  <a:pt x="5353431" y="4966373"/>
                </a:lnTo>
                <a:lnTo>
                  <a:pt x="5387835" y="4939792"/>
                </a:lnTo>
                <a:lnTo>
                  <a:pt x="5414416" y="4905387"/>
                </a:lnTo>
                <a:lnTo>
                  <a:pt x="5431561" y="4864773"/>
                </a:lnTo>
                <a:lnTo>
                  <a:pt x="5437632" y="4819574"/>
                </a:lnTo>
                <a:lnTo>
                  <a:pt x="5437632" y="170053"/>
                </a:lnTo>
                <a:close/>
              </a:path>
              <a:path w="11323320" h="4989830">
                <a:moveTo>
                  <a:pt x="11323320" y="192786"/>
                </a:moveTo>
                <a:lnTo>
                  <a:pt x="11318215" y="148602"/>
                </a:lnTo>
                <a:lnTo>
                  <a:pt x="11303711" y="108026"/>
                </a:lnTo>
                <a:lnTo>
                  <a:pt x="11280940" y="72237"/>
                </a:lnTo>
                <a:lnTo>
                  <a:pt x="11251082" y="42379"/>
                </a:lnTo>
                <a:lnTo>
                  <a:pt x="11215294" y="19608"/>
                </a:lnTo>
                <a:lnTo>
                  <a:pt x="11174717" y="5105"/>
                </a:lnTo>
                <a:lnTo>
                  <a:pt x="11130534" y="0"/>
                </a:lnTo>
                <a:lnTo>
                  <a:pt x="6075426" y="0"/>
                </a:lnTo>
                <a:lnTo>
                  <a:pt x="6031230" y="5105"/>
                </a:lnTo>
                <a:lnTo>
                  <a:pt x="5990653" y="19608"/>
                </a:lnTo>
                <a:lnTo>
                  <a:pt x="5954865" y="42379"/>
                </a:lnTo>
                <a:lnTo>
                  <a:pt x="5925007" y="72237"/>
                </a:lnTo>
                <a:lnTo>
                  <a:pt x="5902236" y="108026"/>
                </a:lnTo>
                <a:lnTo>
                  <a:pt x="5887732" y="148602"/>
                </a:lnTo>
                <a:lnTo>
                  <a:pt x="5882640" y="192786"/>
                </a:lnTo>
                <a:lnTo>
                  <a:pt x="5882640" y="4796726"/>
                </a:lnTo>
                <a:lnTo>
                  <a:pt x="5887732" y="4840948"/>
                </a:lnTo>
                <a:lnTo>
                  <a:pt x="5902236" y="4881550"/>
                </a:lnTo>
                <a:lnTo>
                  <a:pt x="5925007" y="4917351"/>
                </a:lnTo>
                <a:lnTo>
                  <a:pt x="5954865" y="4947221"/>
                </a:lnTo>
                <a:lnTo>
                  <a:pt x="5990653" y="4969980"/>
                </a:lnTo>
                <a:lnTo>
                  <a:pt x="6031230" y="4984483"/>
                </a:lnTo>
                <a:lnTo>
                  <a:pt x="6075426" y="4989576"/>
                </a:lnTo>
                <a:lnTo>
                  <a:pt x="11130534" y="4989576"/>
                </a:lnTo>
                <a:lnTo>
                  <a:pt x="11174717" y="4984483"/>
                </a:lnTo>
                <a:lnTo>
                  <a:pt x="11215294" y="4969980"/>
                </a:lnTo>
                <a:lnTo>
                  <a:pt x="11251082" y="4947221"/>
                </a:lnTo>
                <a:lnTo>
                  <a:pt x="11280940" y="4917351"/>
                </a:lnTo>
                <a:lnTo>
                  <a:pt x="11303711" y="4881550"/>
                </a:lnTo>
                <a:lnTo>
                  <a:pt x="11318215" y="4840948"/>
                </a:lnTo>
                <a:lnTo>
                  <a:pt x="11323320" y="4796726"/>
                </a:lnTo>
                <a:lnTo>
                  <a:pt x="11323320" y="192786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rgbClr val="F1F1F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idx="2" sz="half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idx="3" sz="half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7" name="Holder 7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F1F1F1"/>
                </a:solidFill>
                <a:latin typeface="Microsoft Sans Serif"/>
                <a:cs typeface="Microsoft Sans Serif"/>
              </a:defRPr>
            </a:lvl1pPr>
          </a:lstStyle>
          <a:p>
            <a:pPr marL="184785">
              <a:lnSpc>
                <a:spcPts val="1425"/>
              </a:lnSpc>
            </a:pPr>
            <a:fld id="{81D60167-4931-47E6-BA6A-407CBD079E47}" type="slidenum">
              <a:rPr dirty="0" spc="-50"/>
              <a:t>#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 showMasterSp="0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rgbClr val="F1F1F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5" name="Holder 5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F1F1F1"/>
                </a:solidFill>
                <a:latin typeface="Microsoft Sans Serif"/>
                <a:cs typeface="Microsoft Sans Serif"/>
              </a:defRPr>
            </a:lvl1pPr>
          </a:lstStyle>
          <a:p>
            <a:pPr marL="184785">
              <a:lnSpc>
                <a:spcPts val="1425"/>
              </a:lnSpc>
            </a:pPr>
            <a:fld id="{81D60167-4931-47E6-BA6A-407CBD079E47}" type="slidenum">
              <a:rPr dirty="0" spc="-50"/>
              <a:t>#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4" name="Holder 4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F1F1F1"/>
                </a:solidFill>
                <a:latin typeface="Microsoft Sans Serif"/>
                <a:cs typeface="Microsoft Sans Serif"/>
              </a:defRPr>
            </a:lvl1pPr>
          </a:lstStyle>
          <a:p>
            <a:pPr marL="184785">
              <a:lnSpc>
                <a:spcPts val="1425"/>
              </a:lnSpc>
            </a:pPr>
            <a:fld id="{81D60167-4931-47E6-BA6A-407CBD079E47}" type="slidenum">
              <a:rPr dirty="0" spc="-50"/>
              <a:t>#</a:t>
            </a:fld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02691" y="403098"/>
            <a:ext cx="6607860" cy="46266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rgbClr val="F1F1F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36142" y="2000834"/>
            <a:ext cx="7013575" cy="30448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>
          <a:xfrm>
            <a:off x="11544807" y="6403755"/>
            <a:ext cx="396875" cy="24163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rgbClr val="F1F1F1"/>
                </a:solidFill>
                <a:latin typeface="Microsoft Sans Serif"/>
                <a:cs typeface="Microsoft Sans Serif"/>
              </a:defRPr>
            </a:lvl1pPr>
          </a:lstStyle>
          <a:p>
            <a:pPr marL="184785">
              <a:lnSpc>
                <a:spcPts val="1425"/>
              </a:lnSpc>
            </a:pPr>
            <a:fld id="{81D60167-4931-47E6-BA6A-407CBD079E47}" type="slidenum">
              <a:rPr dirty="0" spc="-50"/>
              <a:t>#</a:t>
            </a:fld>
          </a:p>
        </p:txBody>
      </p:sp>
    </p:spTree>
  </p:cSld>
  <p:clrMap folHlink="folHlink" hlink="hlink" accent1="accent1" accent2="accent2" accent3="accent3" accent4="accent4" accent5="accent5" accent6="accent6" tx2="dk2" bg2="lt2" tx1="dk1" bg1="lt1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0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0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jp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hyperlink" Target="http://www.lider.com/" TargetMode="External"/><Relationship Id="rId6" Type="http://schemas.openxmlformats.org/officeDocument/2006/relationships/image" Target="../media/image44.png"/><Relationship Id="rId7" Type="http://schemas.openxmlformats.org/officeDocument/2006/relationships/image" Target="../media/image45.png"/><Relationship Id="rId8" Type="http://schemas.openxmlformats.org/officeDocument/2006/relationships/image" Target="../media/image46.png"/><Relationship Id="rId9" Type="http://schemas.openxmlformats.org/officeDocument/2006/relationships/image" Target="../media/image2.png"/><Relationship Id="rId10" Type="http://schemas.openxmlformats.org/officeDocument/2006/relationships/image" Target="../media/image5.png"/><Relationship Id="rId11" Type="http://schemas.openxmlformats.org/officeDocument/2006/relationships/image" Target="../media/image6.png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-4572" y="-4572"/>
            <a:ext cx="12197080" cy="6863080"/>
            <a:chOff x="-4572" y="-4572"/>
            <a:chExt cx="12197080" cy="686308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0" y="0"/>
              <a:ext cx="5829300" cy="1973580"/>
            </a:xfrm>
            <a:custGeom>
              <a:avLst/>
              <a:gdLst/>
              <a:ahLst/>
              <a:cxnLst/>
              <a:rect l="l" t="t" r="r" b="b"/>
              <a:pathLst>
                <a:path w="5829300" h="1973580">
                  <a:moveTo>
                    <a:pt x="5829299" y="0"/>
                  </a:moveTo>
                  <a:lnTo>
                    <a:pt x="5829299" y="1749044"/>
                  </a:lnTo>
                  <a:lnTo>
                    <a:pt x="5824741" y="1794316"/>
                  </a:lnTo>
                  <a:lnTo>
                    <a:pt x="5811664" y="1836473"/>
                  </a:lnTo>
                  <a:lnTo>
                    <a:pt x="5790971" y="1874615"/>
                  </a:lnTo>
                  <a:lnTo>
                    <a:pt x="5763561" y="1907841"/>
                  </a:lnTo>
                  <a:lnTo>
                    <a:pt x="5730335" y="1935251"/>
                  </a:lnTo>
                  <a:lnTo>
                    <a:pt x="5692193" y="1955944"/>
                  </a:lnTo>
                  <a:lnTo>
                    <a:pt x="5650036" y="1969021"/>
                  </a:lnTo>
                  <a:lnTo>
                    <a:pt x="5604763" y="1973579"/>
                  </a:lnTo>
                  <a:lnTo>
                    <a:pt x="0" y="1973579"/>
                  </a:lnTo>
                </a:path>
              </a:pathLst>
            </a:custGeom>
            <a:ln w="9144">
              <a:solidFill>
                <a:srgbClr val="FFD5E2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" name="TextBox 4"/>
          <p:cNvSpPr txBox="1"/>
          <p:nvPr/>
        </p:nvSpPr>
        <p:spPr>
          <a:xfrm>
            <a:off x="758952" y="141732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6600" b="1">
                <a:solidFill>
                  <a:srgbClr val="FFFFFF"/>
                </a:solidFill>
                <a:latin typeface="Montserrat"/>
              </a:rPr>
              <a:t>RTK CRM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8892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Montserrat"/>
              </a:rPr>
              <a:t>Система контроля взаимодействия ИТ Школы Ростелекома с вузами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42900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0">
                <a:solidFill>
                  <a:srgbClr val="F3C9E4"/>
                </a:solidFill>
                <a:latin typeface="Montserrat"/>
              </a:rPr>
              <a:t>Лидеры цифровой трансформации 2026 · кейс №6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24528"/>
            <a:ext cx="10058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0">
                <a:solidFill>
                  <a:srgbClr val="E6D2EF"/>
                </a:solidFill>
                <a:latin typeface="Montserrat"/>
              </a:rPr>
              <a:t>Команда из 5 человек · Москва · github.com/Pavel1778/rtk-crm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1874500" cy="6858000"/>
            <a:chOff x="0" y="0"/>
            <a:chExt cx="118745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18745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0" y="2971799"/>
              <a:ext cx="6456045" cy="3886200"/>
            </a:xfrm>
            <a:custGeom>
              <a:avLst/>
              <a:gdLst/>
              <a:ahLst/>
              <a:cxnLst/>
              <a:rect l="l" t="t" r="r" b="b"/>
              <a:pathLst>
                <a:path w="6456045" h="3886200">
                  <a:moveTo>
                    <a:pt x="6455664" y="0"/>
                  </a:moveTo>
                  <a:lnTo>
                    <a:pt x="0" y="0"/>
                  </a:lnTo>
                  <a:lnTo>
                    <a:pt x="0" y="3886200"/>
                  </a:lnTo>
                  <a:lnTo>
                    <a:pt x="6455664" y="3886200"/>
                  </a:lnTo>
                  <a:lnTo>
                    <a:pt x="6455664" y="0"/>
                  </a:lnTo>
                  <a:close/>
                </a:path>
              </a:pathLst>
            </a:custGeom>
            <a:solidFill>
              <a:srgbClr val="DCCEE3">
                <a:alpha val="49803"/>
              </a:srgbClr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" name="object 5"/>
          <p:cNvSpPr txBox="1"/>
          <p:nvPr/>
        </p:nvSpPr>
        <p:spPr>
          <a:xfrm>
            <a:off x="413715" y="3513582"/>
            <a:ext cx="3133725" cy="1938020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105"/>
              </a:spcBef>
              <a:spcAft>
                <a:spcPts val="800"/>
              </a:spcAft>
            </a:pPr>
            <a:r>
              <a:rPr sz="1600" b="1">
                <a:solidFill>
                  <a:srgbClr val="520978"/>
                </a:solidFill>
                <a:latin typeface="Montserrat"/>
              </a:rPr>
              <a:t>О команде</a:t>
            </a:r>
            <a:endParaRPr sz="16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0">
                <a:solidFill>
                  <a:srgbClr val="1C1D22"/>
                </a:solidFill>
                <a:latin typeface="Montserrat"/>
              </a:rPr>
              <a:t>Капитан: Сабадаш Павел, backend и инфраструктура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0">
                <a:solidFill>
                  <a:srgbClr val="1C1D22"/>
                </a:solidFill>
                <a:latin typeface="Montserrat"/>
              </a:rPr>
              <a:t>Участников: 5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0">
                <a:solidFill>
                  <a:srgbClr val="1C1D22"/>
                </a:solidFill>
                <a:latin typeface="Montserrat"/>
              </a:rPr>
              <a:t>Город и регион: Москва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0">
                <a:solidFill>
                  <a:srgbClr val="6B5B78"/>
                </a:solidFill>
                <a:latin typeface="Montserrat"/>
              </a:rPr>
              <a:t>Команда собралась на ЛЦТ 2026 вокруг задачи ИТ Школы.</a:t>
            </a:r>
          </a:p>
        </p:txBody>
      </p:sp>
      <p:grpSp>
        <p:nvGrpSpPr>
          <p:cNvPr id="6" name="object 6"/>
          <p:cNvGrpSpPr/>
          <p:nvPr/>
        </p:nvGrpSpPr>
        <p:grpSpPr>
          <a:xfrm>
            <a:off x="396240" y="2234183"/>
            <a:ext cx="11386185" cy="2209800"/>
            <a:chOff x="396240" y="2234183"/>
            <a:chExt cx="11386185" cy="2209800"/>
          </a:xfrm>
        </p:grpSpPr>
        <p:sp>
          <p:nvSpPr>
            <p:cNvPr id="7" name="object 7"/>
            <p:cNvSpPr/>
            <p:nvPr/>
          </p:nvSpPr>
          <p:spPr>
            <a:xfrm>
              <a:off x="6879336" y="2240279"/>
              <a:ext cx="4903470" cy="2197735"/>
            </a:xfrm>
            <a:custGeom>
              <a:avLst/>
              <a:gdLst/>
              <a:ahLst/>
              <a:cxnLst/>
              <a:rect l="l" t="t" r="r" b="b"/>
              <a:pathLst>
                <a:path w="4903470" h="2197735">
                  <a:moveTo>
                    <a:pt x="0" y="0"/>
                  </a:moveTo>
                  <a:lnTo>
                    <a:pt x="4884801" y="0"/>
                  </a:lnTo>
                </a:path>
                <a:path w="4903470" h="2197735">
                  <a:moveTo>
                    <a:pt x="18288" y="2197608"/>
                  </a:moveTo>
                  <a:lnTo>
                    <a:pt x="4903089" y="2197608"/>
                  </a:lnTo>
                </a:path>
              </a:pathLst>
            </a:custGeom>
            <a:ln w="12192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396240" y="3447287"/>
              <a:ext cx="5700395" cy="0"/>
            </a:xfrm>
            <a:custGeom>
              <a:avLst/>
              <a:gdLst/>
              <a:ahLst/>
              <a:cxnLst/>
              <a:rect l="l" t="t" r="r" b="b"/>
              <a:pathLst>
                <a:path w="5700395" h="0">
                  <a:moveTo>
                    <a:pt x="0" y="0"/>
                  </a:moveTo>
                  <a:lnTo>
                    <a:pt x="5700141" y="0"/>
                  </a:lnTo>
                </a:path>
              </a:pathLst>
            </a:custGeom>
            <a:ln w="6096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0" name="object 10"/>
          <p:cNvSpPr txBox="1"/>
          <p:nvPr/>
        </p:nvSpPr>
        <p:spPr>
          <a:xfrm>
            <a:off x="6888606" y="2244596"/>
            <a:ext cx="2854960" cy="644525"/>
          </a:xfrm>
          <a:prstGeom prst="rect">
            <a:avLst/>
          </a:prstGeom>
        </p:spPr>
        <p:txBody>
          <a:bodyPr wrap="square" lIns="0" tIns="100330" rIns="0" bIns="0" rtlCol="0" vert="horz">
            <a:spAutoFit/>
          </a:bodyPr>
          <a:lstStyle/>
          <a:p>
            <a:pPr marL="24130" algn="l">
              <a:lnSpc>
                <a:spcPct val="112000"/>
              </a:lnSpc>
              <a:spcBef>
                <a:spcPts val="790"/>
              </a:spcBef>
              <a:spcAft>
                <a:spcPts val="800"/>
              </a:spcAft>
            </a:pPr>
            <a:r>
              <a:rPr sz="1600" b="1">
                <a:solidFill>
                  <a:srgbClr val="520978"/>
                </a:solidFill>
                <a:latin typeface="Montserrat"/>
              </a:rPr>
              <a:t>Краткое описание решения</a:t>
            </a:r>
            <a:endParaRPr sz="16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0">
                <a:solidFill>
                  <a:srgbClr val="1C1D22"/>
                </a:solidFill>
                <a:latin typeface="Montserrat"/>
              </a:rPr>
              <a:t>CRM ведёт взаимодействие с вузом от первого контакта до результата: Kanban, карточка, задачи, комментарии, файлы, отчёты.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6900418" y="4464677"/>
            <a:ext cx="3645535" cy="895350"/>
          </a:xfrm>
          <a:prstGeom prst="rect">
            <a:avLst/>
          </a:prstGeom>
        </p:spPr>
        <p:txBody>
          <a:bodyPr wrap="square" lIns="0" tIns="120015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945"/>
              </a:spcBef>
              <a:spcAft>
                <a:spcPts val="800"/>
              </a:spcAft>
            </a:pPr>
            <a:r>
              <a:rPr sz="1600" b="1">
                <a:solidFill>
                  <a:srgbClr val="520978"/>
                </a:solidFill>
                <a:latin typeface="Montserrat"/>
              </a:rPr>
              <a:t>Уникальность решения</a:t>
            </a:r>
            <a:endParaRPr sz="16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0">
                <a:solidFill>
                  <a:srgbClr val="1C1D22"/>
                </a:solidFill>
                <a:latin typeface="Montserrat"/>
              </a:rPr>
              <a:t>Настраиваемый workflow без доработки кода. Воронки B2B (14 этапов) и B2C (4 этапа) не смешиваются в UI, API и отчётах.</a:t>
            </a:r>
          </a:p>
        </p:txBody>
      </p:sp>
      <p:sp>
        <p:nvSpPr>
          <p:cNvPr id="11" name="object 11"/>
          <p:cNvSpPr txBox="1">
            <a:spLocks noGrp="1"/>
          </p:cNvSpPr>
          <p:nvPr>
            <p:ph type="sldNum" idx="7" sz="quarter"/>
          </p:nvPr>
        </p:nvSpPr>
        <p:spPr>
          <a:xfrm>
            <a:ext cx="548640" cy="0"/>
          </a:xfrm>
          <a:prstGeom prst="rect"/>
        </p:spPr>
        <p:txBody>
          <a:bodyPr wrap="non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2651760" y="1520952"/>
              <a:ext cx="2192020" cy="4834255"/>
            </a:xfrm>
            <a:custGeom>
              <a:avLst/>
              <a:gdLst/>
              <a:ahLst/>
              <a:cxnLst/>
              <a:rect l="l" t="t" r="r" b="b"/>
              <a:pathLst>
                <a:path w="2192020" h="4834255">
                  <a:moveTo>
                    <a:pt x="1976247" y="0"/>
                  </a:moveTo>
                  <a:lnTo>
                    <a:pt x="215264" y="0"/>
                  </a:lnTo>
                  <a:lnTo>
                    <a:pt x="165911" y="5686"/>
                  </a:lnTo>
                  <a:lnTo>
                    <a:pt x="120603" y="21882"/>
                  </a:lnTo>
                  <a:lnTo>
                    <a:pt x="80634" y="47296"/>
                  </a:lnTo>
                  <a:lnTo>
                    <a:pt x="47296" y="80634"/>
                  </a:lnTo>
                  <a:lnTo>
                    <a:pt x="21882" y="120603"/>
                  </a:lnTo>
                  <a:lnTo>
                    <a:pt x="5686" y="165911"/>
                  </a:lnTo>
                  <a:lnTo>
                    <a:pt x="0" y="215264"/>
                  </a:lnTo>
                  <a:lnTo>
                    <a:pt x="0" y="4618901"/>
                  </a:lnTo>
                  <a:lnTo>
                    <a:pt x="5686" y="4668252"/>
                  </a:lnTo>
                  <a:lnTo>
                    <a:pt x="21882" y="4713554"/>
                  </a:lnTo>
                  <a:lnTo>
                    <a:pt x="47296" y="4753516"/>
                  </a:lnTo>
                  <a:lnTo>
                    <a:pt x="80634" y="4786846"/>
                  </a:lnTo>
                  <a:lnTo>
                    <a:pt x="120603" y="4812253"/>
                  </a:lnTo>
                  <a:lnTo>
                    <a:pt x="165911" y="4828443"/>
                  </a:lnTo>
                  <a:lnTo>
                    <a:pt x="215264" y="4834128"/>
                  </a:lnTo>
                  <a:lnTo>
                    <a:pt x="1976247" y="4834128"/>
                  </a:lnTo>
                  <a:lnTo>
                    <a:pt x="2025600" y="4828443"/>
                  </a:lnTo>
                  <a:lnTo>
                    <a:pt x="2070908" y="4812253"/>
                  </a:lnTo>
                  <a:lnTo>
                    <a:pt x="2110877" y="4786846"/>
                  </a:lnTo>
                  <a:lnTo>
                    <a:pt x="2144215" y="4753516"/>
                  </a:lnTo>
                  <a:lnTo>
                    <a:pt x="2169629" y="4713554"/>
                  </a:lnTo>
                  <a:lnTo>
                    <a:pt x="2185825" y="4668252"/>
                  </a:lnTo>
                  <a:lnTo>
                    <a:pt x="2191512" y="4618901"/>
                  </a:lnTo>
                  <a:lnTo>
                    <a:pt x="2191512" y="215264"/>
                  </a:lnTo>
                  <a:lnTo>
                    <a:pt x="2185825" y="165911"/>
                  </a:lnTo>
                  <a:lnTo>
                    <a:pt x="2169629" y="120603"/>
                  </a:lnTo>
                  <a:lnTo>
                    <a:pt x="2144215" y="80634"/>
                  </a:lnTo>
                  <a:lnTo>
                    <a:pt x="2110877" y="47296"/>
                  </a:lnTo>
                  <a:lnTo>
                    <a:pt x="2070908" y="21882"/>
                  </a:lnTo>
                  <a:lnTo>
                    <a:pt x="2025600" y="5686"/>
                  </a:lnTo>
                  <a:lnTo>
                    <a:pt x="197624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" name="object 6"/>
          <p:cNvSpPr txBox="1"/>
          <p:nvPr/>
        </p:nvSpPr>
        <p:spPr>
          <a:xfrm>
            <a:off x="2902966" y="3626053"/>
            <a:ext cx="1439545" cy="27114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10"/>
              </a:spcBef>
              <a:spcAft>
                <a:spcPts val="0"/>
              </a:spcAft>
            </a:pPr>
            <a:r>
              <a:rPr sz="1600" b="1">
                <a:solidFill>
                  <a:srgbClr val="520978"/>
                </a:solidFill>
                <a:latin typeface="Montserrat"/>
              </a:rPr>
              <a:t>Тимофей Кобзев</a:t>
            </a:r>
            <a:endParaRPr sz="16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902966" y="4263339"/>
            <a:ext cx="1655445" cy="70294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60655" indent="-147955" algn="l">
              <a:lnSpc>
                <a:spcPct val="105000"/>
              </a:lnSpc>
              <a:spcBef>
                <a:spcPts val="100"/>
              </a:spcBef>
              <a:spcAft>
                <a:spcPts val="200"/>
              </a:spcAft>
              <a:buClr>
                <a:srgbClr val="FF0052"/>
              </a:buClr>
              <a:buChar char="•"/>
              <a:tabLst>
                <a:tab pos="160655" algn="l"/>
              </a:tabLst>
            </a:pPr>
            <a:r>
              <a:rPr sz="1400" b="0">
                <a:solidFill>
                  <a:srgbClr val="3C1B50"/>
                </a:solidFill>
                <a:latin typeface="Montserrat"/>
              </a:rPr>
              <a:t>Frontend и дизайн-система</a:t>
            </a:r>
            <a:endParaRPr sz="1200">
              <a:latin typeface="Microsoft Sans Serif"/>
              <a:cs typeface="Microsoft Sans Serif"/>
            </a:endParaRP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6B5B78"/>
                </a:solidFill>
                <a:latin typeface="Montserrat"/>
              </a:rPr>
              <a:t>Telegram: @T1mka_Z</a:t>
            </a:r>
          </a:p>
        </p:txBody>
      </p:sp>
      <p:grpSp>
        <p:nvGrpSpPr>
          <p:cNvPr id="16" name="object 16"/>
          <p:cNvGrpSpPr/>
          <p:nvPr/>
        </p:nvGrpSpPr>
        <p:grpSpPr>
          <a:xfrm>
            <a:off x="347472" y="323088"/>
            <a:ext cx="3950335" cy="6032500"/>
            <a:chOff x="347472" y="323088"/>
            <a:chExt cx="3950335" cy="6032500"/>
          </a:xfrm>
        </p:grpSpPr>
        <p:sp>
          <p:nvSpPr>
            <p:cNvPr id="17" name="object 17"/>
            <p:cNvSpPr/>
            <p:nvPr/>
          </p:nvSpPr>
          <p:spPr>
            <a:xfrm>
              <a:off x="347472" y="1520952"/>
              <a:ext cx="2192020" cy="4834255"/>
            </a:xfrm>
            <a:custGeom>
              <a:avLst/>
              <a:gdLst/>
              <a:ahLst/>
              <a:cxnLst/>
              <a:rect l="l" t="t" r="r" b="b"/>
              <a:pathLst>
                <a:path w="2192020" h="4834255">
                  <a:moveTo>
                    <a:pt x="1976247" y="0"/>
                  </a:moveTo>
                  <a:lnTo>
                    <a:pt x="215226" y="0"/>
                  </a:lnTo>
                  <a:lnTo>
                    <a:pt x="165875" y="5686"/>
                  </a:lnTo>
                  <a:lnTo>
                    <a:pt x="120573" y="21882"/>
                  </a:lnTo>
                  <a:lnTo>
                    <a:pt x="80611" y="47296"/>
                  </a:lnTo>
                  <a:lnTo>
                    <a:pt x="47281" y="80634"/>
                  </a:lnTo>
                  <a:lnTo>
                    <a:pt x="21874" y="120603"/>
                  </a:lnTo>
                  <a:lnTo>
                    <a:pt x="5684" y="165911"/>
                  </a:lnTo>
                  <a:lnTo>
                    <a:pt x="0" y="215264"/>
                  </a:lnTo>
                  <a:lnTo>
                    <a:pt x="0" y="4618901"/>
                  </a:lnTo>
                  <a:lnTo>
                    <a:pt x="5684" y="4668252"/>
                  </a:lnTo>
                  <a:lnTo>
                    <a:pt x="21874" y="4713554"/>
                  </a:lnTo>
                  <a:lnTo>
                    <a:pt x="47281" y="4753516"/>
                  </a:lnTo>
                  <a:lnTo>
                    <a:pt x="80611" y="4786846"/>
                  </a:lnTo>
                  <a:lnTo>
                    <a:pt x="120573" y="4812253"/>
                  </a:lnTo>
                  <a:lnTo>
                    <a:pt x="165875" y="4828443"/>
                  </a:lnTo>
                  <a:lnTo>
                    <a:pt x="215226" y="4834128"/>
                  </a:lnTo>
                  <a:lnTo>
                    <a:pt x="1976247" y="4834128"/>
                  </a:lnTo>
                  <a:lnTo>
                    <a:pt x="2025600" y="4828443"/>
                  </a:lnTo>
                  <a:lnTo>
                    <a:pt x="2070908" y="4812253"/>
                  </a:lnTo>
                  <a:lnTo>
                    <a:pt x="2110877" y="4786846"/>
                  </a:lnTo>
                  <a:lnTo>
                    <a:pt x="2144215" y="4753516"/>
                  </a:lnTo>
                  <a:lnTo>
                    <a:pt x="2169629" y="4713554"/>
                  </a:lnTo>
                  <a:lnTo>
                    <a:pt x="2185825" y="4668252"/>
                  </a:lnTo>
                  <a:lnTo>
                    <a:pt x="2191512" y="4618901"/>
                  </a:lnTo>
                  <a:lnTo>
                    <a:pt x="2191512" y="215264"/>
                  </a:lnTo>
                  <a:lnTo>
                    <a:pt x="2185825" y="165911"/>
                  </a:lnTo>
                  <a:lnTo>
                    <a:pt x="2169629" y="120603"/>
                  </a:lnTo>
                  <a:lnTo>
                    <a:pt x="2144215" y="80634"/>
                  </a:lnTo>
                  <a:lnTo>
                    <a:pt x="2110877" y="47296"/>
                  </a:lnTo>
                  <a:lnTo>
                    <a:pt x="2070908" y="21882"/>
                  </a:lnTo>
                  <a:lnTo>
                    <a:pt x="2025600" y="5686"/>
                  </a:lnTo>
                  <a:lnTo>
                    <a:pt x="197624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8" name="object 18"/>
            <p:cNvSpPr/>
            <p:nvPr/>
          </p:nvSpPr>
          <p:spPr>
            <a:xfrm>
              <a:off x="347472" y="323088"/>
              <a:ext cx="3950335" cy="622300"/>
            </a:xfrm>
            <a:custGeom>
              <a:avLst/>
              <a:gdLst/>
              <a:ahLst/>
              <a:cxnLst/>
              <a:rect l="l" t="t" r="r" b="b"/>
              <a:pathLst>
                <a:path w="3950335" h="622300">
                  <a:moveTo>
                    <a:pt x="3833876" y="0"/>
                  </a:moveTo>
                  <a:lnTo>
                    <a:pt x="116306" y="0"/>
                  </a:lnTo>
                  <a:lnTo>
                    <a:pt x="71033" y="9140"/>
                  </a:lnTo>
                  <a:lnTo>
                    <a:pt x="34064" y="34067"/>
                  </a:lnTo>
                  <a:lnTo>
                    <a:pt x="9139" y="71044"/>
                  </a:lnTo>
                  <a:lnTo>
                    <a:pt x="0" y="116331"/>
                  </a:lnTo>
                  <a:lnTo>
                    <a:pt x="0" y="505459"/>
                  </a:lnTo>
                  <a:lnTo>
                    <a:pt x="9139" y="550747"/>
                  </a:lnTo>
                  <a:lnTo>
                    <a:pt x="34064" y="587724"/>
                  </a:lnTo>
                  <a:lnTo>
                    <a:pt x="71033" y="612651"/>
                  </a:lnTo>
                  <a:lnTo>
                    <a:pt x="116306" y="621791"/>
                  </a:lnTo>
                  <a:lnTo>
                    <a:pt x="3833876" y="621791"/>
                  </a:lnTo>
                  <a:lnTo>
                    <a:pt x="3879163" y="612651"/>
                  </a:lnTo>
                  <a:lnTo>
                    <a:pt x="3916140" y="587724"/>
                  </a:lnTo>
                  <a:lnTo>
                    <a:pt x="3941067" y="550747"/>
                  </a:lnTo>
                  <a:lnTo>
                    <a:pt x="3950207" y="505459"/>
                  </a:lnTo>
                  <a:lnTo>
                    <a:pt x="3950207" y="116331"/>
                  </a:lnTo>
                  <a:lnTo>
                    <a:pt x="3941067" y="71044"/>
                  </a:lnTo>
                  <a:lnTo>
                    <a:pt x="3916140" y="34067"/>
                  </a:lnTo>
                  <a:lnTo>
                    <a:pt x="3879163" y="9140"/>
                  </a:lnTo>
                  <a:lnTo>
                    <a:pt x="3833876" y="0"/>
                  </a:lnTo>
                  <a:close/>
                </a:path>
              </a:pathLst>
            </a:custGeom>
            <a:solidFill>
              <a:srgbClr val="FF0052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0" name="object 20"/>
          <p:cNvSpPr txBox="1"/>
          <p:nvPr/>
        </p:nvSpPr>
        <p:spPr>
          <a:xfrm>
            <a:off x="597204" y="3626053"/>
            <a:ext cx="1436370" cy="27114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10"/>
              </a:spcBef>
              <a:spcAft>
                <a:spcPts val="0"/>
              </a:spcAft>
            </a:pPr>
            <a:r>
              <a:rPr sz="1600" b="1">
                <a:solidFill>
                  <a:srgbClr val="520978"/>
                </a:solidFill>
                <a:latin typeface="Montserrat"/>
              </a:rPr>
              <a:t>Сабадаш Павел</a:t>
            </a:r>
            <a:endParaRPr sz="1600">
              <a:latin typeface="Arial"/>
              <a:cs typeface="Arial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4956047" y="1520952"/>
            <a:ext cx="2194560" cy="4834255"/>
          </a:xfrm>
          <a:custGeom>
            <a:avLst/>
            <a:gdLst/>
            <a:ahLst/>
            <a:cxnLst/>
            <a:rect l="l" t="t" r="r" b="b"/>
            <a:pathLst>
              <a:path w="2194559" h="4834255">
                <a:moveTo>
                  <a:pt x="1979041" y="0"/>
                </a:moveTo>
                <a:lnTo>
                  <a:pt x="215518" y="0"/>
                </a:lnTo>
                <a:lnTo>
                  <a:pt x="166111" y="5693"/>
                </a:lnTo>
                <a:lnTo>
                  <a:pt x="120751" y="21910"/>
                </a:lnTo>
                <a:lnTo>
                  <a:pt x="80734" y="47356"/>
                </a:lnTo>
                <a:lnTo>
                  <a:pt x="47356" y="80734"/>
                </a:lnTo>
                <a:lnTo>
                  <a:pt x="21910" y="120751"/>
                </a:lnTo>
                <a:lnTo>
                  <a:pt x="5693" y="166111"/>
                </a:lnTo>
                <a:lnTo>
                  <a:pt x="0" y="215519"/>
                </a:lnTo>
                <a:lnTo>
                  <a:pt x="0" y="4618596"/>
                </a:lnTo>
                <a:lnTo>
                  <a:pt x="5693" y="4668016"/>
                </a:lnTo>
                <a:lnTo>
                  <a:pt x="21910" y="4713382"/>
                </a:lnTo>
                <a:lnTo>
                  <a:pt x="47356" y="4753401"/>
                </a:lnTo>
                <a:lnTo>
                  <a:pt x="80734" y="4786778"/>
                </a:lnTo>
                <a:lnTo>
                  <a:pt x="120751" y="4812221"/>
                </a:lnTo>
                <a:lnTo>
                  <a:pt x="166111" y="4828435"/>
                </a:lnTo>
                <a:lnTo>
                  <a:pt x="215518" y="4834128"/>
                </a:lnTo>
                <a:lnTo>
                  <a:pt x="1979041" y="4834128"/>
                </a:lnTo>
                <a:lnTo>
                  <a:pt x="2028448" y="4828435"/>
                </a:lnTo>
                <a:lnTo>
                  <a:pt x="2073808" y="4812221"/>
                </a:lnTo>
                <a:lnTo>
                  <a:pt x="2113825" y="4786778"/>
                </a:lnTo>
                <a:lnTo>
                  <a:pt x="2147203" y="4753401"/>
                </a:lnTo>
                <a:lnTo>
                  <a:pt x="2172649" y="4713382"/>
                </a:lnTo>
                <a:lnTo>
                  <a:pt x="2188866" y="4668016"/>
                </a:lnTo>
                <a:lnTo>
                  <a:pt x="2194559" y="4618596"/>
                </a:lnTo>
                <a:lnTo>
                  <a:pt x="2194559" y="215519"/>
                </a:lnTo>
                <a:lnTo>
                  <a:pt x="2188866" y="166111"/>
                </a:lnTo>
                <a:lnTo>
                  <a:pt x="2172649" y="120751"/>
                </a:lnTo>
                <a:lnTo>
                  <a:pt x="2147203" y="80734"/>
                </a:lnTo>
                <a:lnTo>
                  <a:pt x="2113825" y="47356"/>
                </a:lnTo>
                <a:lnTo>
                  <a:pt x="2073808" y="21910"/>
                </a:lnTo>
                <a:lnTo>
                  <a:pt x="2028448" y="5693"/>
                </a:lnTo>
                <a:lnTo>
                  <a:pt x="1979041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 txBox="1"/>
          <p:nvPr/>
        </p:nvSpPr>
        <p:spPr>
          <a:xfrm>
            <a:off x="5209159" y="3626053"/>
            <a:ext cx="1436370" cy="27114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10"/>
              </a:spcBef>
              <a:spcAft>
                <a:spcPts val="0"/>
              </a:spcAft>
            </a:pPr>
            <a:r>
              <a:rPr sz="1600" b="1">
                <a:solidFill>
                  <a:srgbClr val="520978"/>
                </a:solidFill>
                <a:latin typeface="Montserrat"/>
              </a:rPr>
              <a:t>Сазонов Александр</a:t>
            </a:r>
            <a:endParaRPr sz="16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209159" y="4263339"/>
            <a:ext cx="1654810" cy="70294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60020" indent="-147320" algn="l">
              <a:lnSpc>
                <a:spcPct val="105000"/>
              </a:lnSpc>
              <a:spcBef>
                <a:spcPts val="100"/>
              </a:spcBef>
              <a:spcAft>
                <a:spcPts val="200"/>
              </a:spcAft>
              <a:buClr>
                <a:srgbClr val="FF0052"/>
              </a:buClr>
              <a:buChar char="•"/>
              <a:tabLst>
                <a:tab pos="160020" algn="l"/>
              </a:tabLst>
            </a:pPr>
            <a:r>
              <a:rPr sz="1400" b="0">
                <a:solidFill>
                  <a:srgbClr val="3C1B50"/>
                </a:solidFill>
                <a:latin typeface="Montserrat"/>
              </a:rPr>
              <a:t>Backend, API и интеграции</a:t>
            </a:r>
            <a:endParaRPr sz="1200">
              <a:latin typeface="Microsoft Sans Serif"/>
              <a:cs typeface="Microsoft Sans Serif"/>
            </a:endParaRP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6B5B78"/>
                </a:solidFill>
                <a:latin typeface="Montserrat"/>
              </a:rPr>
              <a:t>Telegram: @saneik_me</a:t>
            </a:r>
          </a:p>
        </p:txBody>
      </p:sp>
      <p:sp>
        <p:nvSpPr>
          <p:cNvPr id="10" name="object 10"/>
          <p:cNvSpPr/>
          <p:nvPr/>
        </p:nvSpPr>
        <p:spPr>
          <a:xfrm>
            <a:off x="7263383" y="1520952"/>
            <a:ext cx="2192020" cy="4834255"/>
          </a:xfrm>
          <a:custGeom>
            <a:avLst/>
            <a:gdLst/>
            <a:ahLst/>
            <a:cxnLst/>
            <a:rect l="l" t="t" r="r" b="b"/>
            <a:pathLst>
              <a:path w="2192020" h="4834255">
                <a:moveTo>
                  <a:pt x="1976247" y="0"/>
                </a:moveTo>
                <a:lnTo>
                  <a:pt x="215265" y="0"/>
                </a:lnTo>
                <a:lnTo>
                  <a:pt x="165911" y="5686"/>
                </a:lnTo>
                <a:lnTo>
                  <a:pt x="120603" y="21882"/>
                </a:lnTo>
                <a:lnTo>
                  <a:pt x="80634" y="47296"/>
                </a:lnTo>
                <a:lnTo>
                  <a:pt x="47296" y="80634"/>
                </a:lnTo>
                <a:lnTo>
                  <a:pt x="21882" y="120603"/>
                </a:lnTo>
                <a:lnTo>
                  <a:pt x="5686" y="165911"/>
                </a:lnTo>
                <a:lnTo>
                  <a:pt x="0" y="215264"/>
                </a:lnTo>
                <a:lnTo>
                  <a:pt x="0" y="4618901"/>
                </a:lnTo>
                <a:lnTo>
                  <a:pt x="5686" y="4668252"/>
                </a:lnTo>
                <a:lnTo>
                  <a:pt x="21882" y="4713554"/>
                </a:lnTo>
                <a:lnTo>
                  <a:pt x="47296" y="4753516"/>
                </a:lnTo>
                <a:lnTo>
                  <a:pt x="80634" y="4786846"/>
                </a:lnTo>
                <a:lnTo>
                  <a:pt x="120603" y="4812253"/>
                </a:lnTo>
                <a:lnTo>
                  <a:pt x="165911" y="4828443"/>
                </a:lnTo>
                <a:lnTo>
                  <a:pt x="215265" y="4834128"/>
                </a:lnTo>
                <a:lnTo>
                  <a:pt x="1976247" y="4834128"/>
                </a:lnTo>
                <a:lnTo>
                  <a:pt x="2025600" y="4828443"/>
                </a:lnTo>
                <a:lnTo>
                  <a:pt x="2070908" y="4812253"/>
                </a:lnTo>
                <a:lnTo>
                  <a:pt x="2110877" y="4786846"/>
                </a:lnTo>
                <a:lnTo>
                  <a:pt x="2144215" y="4753516"/>
                </a:lnTo>
                <a:lnTo>
                  <a:pt x="2169629" y="4713554"/>
                </a:lnTo>
                <a:lnTo>
                  <a:pt x="2185825" y="4668252"/>
                </a:lnTo>
                <a:lnTo>
                  <a:pt x="2191512" y="4618901"/>
                </a:lnTo>
                <a:lnTo>
                  <a:pt x="2191512" y="215264"/>
                </a:lnTo>
                <a:lnTo>
                  <a:pt x="2185825" y="165911"/>
                </a:lnTo>
                <a:lnTo>
                  <a:pt x="2169629" y="120603"/>
                </a:lnTo>
                <a:lnTo>
                  <a:pt x="2144215" y="80634"/>
                </a:lnTo>
                <a:lnTo>
                  <a:pt x="2110877" y="47296"/>
                </a:lnTo>
                <a:lnTo>
                  <a:pt x="2070908" y="21882"/>
                </a:lnTo>
                <a:lnTo>
                  <a:pt x="2025600" y="5686"/>
                </a:lnTo>
                <a:lnTo>
                  <a:pt x="1976247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2" name="object 12"/>
          <p:cNvSpPr txBox="1"/>
          <p:nvPr/>
        </p:nvSpPr>
        <p:spPr>
          <a:xfrm>
            <a:off x="7514970" y="3626053"/>
            <a:ext cx="1436370" cy="27114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10"/>
              </a:spcBef>
              <a:spcAft>
                <a:spcPts val="0"/>
              </a:spcAft>
            </a:pPr>
            <a:r>
              <a:rPr sz="1600" b="1">
                <a:solidFill>
                  <a:srgbClr val="520978"/>
                </a:solidFill>
                <a:latin typeface="Montserrat"/>
              </a:rPr>
              <a:t>Иван Мельников</a:t>
            </a:r>
            <a:endParaRPr sz="16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7514970" y="4263339"/>
            <a:ext cx="1654810" cy="70294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60020" indent="-147320" algn="l">
              <a:lnSpc>
                <a:spcPct val="105000"/>
              </a:lnSpc>
              <a:spcBef>
                <a:spcPts val="100"/>
              </a:spcBef>
              <a:spcAft>
                <a:spcPts val="200"/>
              </a:spcAft>
              <a:buClr>
                <a:srgbClr val="FF0052"/>
              </a:buClr>
              <a:buChar char="•"/>
              <a:tabLst>
                <a:tab pos="160020" algn="l"/>
              </a:tabLst>
            </a:pPr>
            <a:r>
              <a:rPr sz="1400" b="0">
                <a:solidFill>
                  <a:srgbClr val="3C1B50"/>
                </a:solidFill>
                <a:latin typeface="Montserrat"/>
              </a:rPr>
              <a:t>Данные, отчёты и экспорт</a:t>
            </a:r>
            <a:endParaRPr sz="1200">
              <a:latin typeface="Microsoft Sans Serif"/>
              <a:cs typeface="Microsoft Sans Serif"/>
            </a:endParaRP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6B5B78"/>
                </a:solidFill>
                <a:latin typeface="Montserrat"/>
              </a:rPr>
              <a:t>Telegram: @GooolZZ</a:t>
            </a:r>
          </a:p>
        </p:txBody>
      </p:sp>
      <p:sp>
        <p:nvSpPr>
          <p:cNvPr id="13" name="object 13"/>
          <p:cNvSpPr/>
          <p:nvPr/>
        </p:nvSpPr>
        <p:spPr>
          <a:xfrm>
            <a:off x="9567671" y="1520952"/>
            <a:ext cx="2192020" cy="4834255"/>
          </a:xfrm>
          <a:custGeom>
            <a:avLst/>
            <a:gdLst/>
            <a:ahLst/>
            <a:cxnLst/>
            <a:rect l="l" t="t" r="r" b="b"/>
            <a:pathLst>
              <a:path w="2192020" h="4834255">
                <a:moveTo>
                  <a:pt x="1976247" y="0"/>
                </a:moveTo>
                <a:lnTo>
                  <a:pt x="215264" y="0"/>
                </a:lnTo>
                <a:lnTo>
                  <a:pt x="165911" y="5686"/>
                </a:lnTo>
                <a:lnTo>
                  <a:pt x="120603" y="21882"/>
                </a:lnTo>
                <a:lnTo>
                  <a:pt x="80634" y="47296"/>
                </a:lnTo>
                <a:lnTo>
                  <a:pt x="47296" y="80634"/>
                </a:lnTo>
                <a:lnTo>
                  <a:pt x="21882" y="120603"/>
                </a:lnTo>
                <a:lnTo>
                  <a:pt x="5686" y="165911"/>
                </a:lnTo>
                <a:lnTo>
                  <a:pt x="0" y="215264"/>
                </a:lnTo>
                <a:lnTo>
                  <a:pt x="0" y="4618901"/>
                </a:lnTo>
                <a:lnTo>
                  <a:pt x="5686" y="4668252"/>
                </a:lnTo>
                <a:lnTo>
                  <a:pt x="21882" y="4713554"/>
                </a:lnTo>
                <a:lnTo>
                  <a:pt x="47296" y="4753516"/>
                </a:lnTo>
                <a:lnTo>
                  <a:pt x="80634" y="4786846"/>
                </a:lnTo>
                <a:lnTo>
                  <a:pt x="120603" y="4812253"/>
                </a:lnTo>
                <a:lnTo>
                  <a:pt x="165911" y="4828443"/>
                </a:lnTo>
                <a:lnTo>
                  <a:pt x="215264" y="4834128"/>
                </a:lnTo>
                <a:lnTo>
                  <a:pt x="1976247" y="4834128"/>
                </a:lnTo>
                <a:lnTo>
                  <a:pt x="2025600" y="4828443"/>
                </a:lnTo>
                <a:lnTo>
                  <a:pt x="2070908" y="4812253"/>
                </a:lnTo>
                <a:lnTo>
                  <a:pt x="2110877" y="4786846"/>
                </a:lnTo>
                <a:lnTo>
                  <a:pt x="2144215" y="4753516"/>
                </a:lnTo>
                <a:lnTo>
                  <a:pt x="2169629" y="4713554"/>
                </a:lnTo>
                <a:lnTo>
                  <a:pt x="2185825" y="4668252"/>
                </a:lnTo>
                <a:lnTo>
                  <a:pt x="2191511" y="4618901"/>
                </a:lnTo>
                <a:lnTo>
                  <a:pt x="2191511" y="215264"/>
                </a:lnTo>
                <a:lnTo>
                  <a:pt x="2185825" y="165911"/>
                </a:lnTo>
                <a:lnTo>
                  <a:pt x="2169629" y="120603"/>
                </a:lnTo>
                <a:lnTo>
                  <a:pt x="2144215" y="80634"/>
                </a:lnTo>
                <a:lnTo>
                  <a:pt x="2110877" y="47296"/>
                </a:lnTo>
                <a:lnTo>
                  <a:pt x="2070908" y="21882"/>
                </a:lnTo>
                <a:lnTo>
                  <a:pt x="2025600" y="5686"/>
                </a:lnTo>
                <a:lnTo>
                  <a:pt x="1976247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5" name="object 15"/>
          <p:cNvSpPr txBox="1"/>
          <p:nvPr/>
        </p:nvSpPr>
        <p:spPr>
          <a:xfrm>
            <a:off x="9820782" y="3626053"/>
            <a:ext cx="1436370" cy="27114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10"/>
              </a:spcBef>
              <a:spcAft>
                <a:spcPts val="0"/>
              </a:spcAft>
            </a:pPr>
            <a:r>
              <a:rPr sz="1600" b="1">
                <a:solidFill>
                  <a:srgbClr val="520978"/>
                </a:solidFill>
                <a:latin typeface="Montserrat"/>
              </a:rPr>
              <a:t>Никита Предков</a:t>
            </a:r>
            <a:endParaRPr sz="1600">
              <a:latin typeface="Arial"/>
              <a:cs typeface="Arial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597204" y="4263339"/>
            <a:ext cx="1654810" cy="70294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60020" indent="-147320" algn="l">
              <a:lnSpc>
                <a:spcPct val="105000"/>
              </a:lnSpc>
              <a:spcBef>
                <a:spcPts val="100"/>
              </a:spcBef>
              <a:spcAft>
                <a:spcPts val="200"/>
              </a:spcAft>
              <a:buClr>
                <a:srgbClr val="FF0052"/>
              </a:buClr>
              <a:buChar char="•"/>
              <a:tabLst>
                <a:tab pos="160020" algn="l"/>
              </a:tabLst>
            </a:pPr>
            <a:r>
              <a:rPr sz="1400" b="0">
                <a:solidFill>
                  <a:srgbClr val="3C1B50"/>
                </a:solidFill>
                <a:latin typeface="Montserrat"/>
              </a:rPr>
              <a:t>Капитан, backend и инфраструктура</a:t>
            </a:r>
            <a:endParaRPr sz="1200">
              <a:latin typeface="Microsoft Sans Serif"/>
              <a:cs typeface="Microsoft Sans Serif"/>
            </a:endParaRP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6B5B78"/>
                </a:solidFill>
                <a:latin typeface="Montserrat"/>
              </a:rPr>
              <a:t>Telegram: @Pasha1778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9820782" y="4263339"/>
            <a:ext cx="1654810" cy="70294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60020" indent="-147320" algn="l">
              <a:lnSpc>
                <a:spcPct val="105000"/>
              </a:lnSpc>
              <a:spcBef>
                <a:spcPts val="100"/>
              </a:spcBef>
              <a:spcAft>
                <a:spcPts val="200"/>
              </a:spcAft>
              <a:buClr>
                <a:srgbClr val="FF0052"/>
              </a:buClr>
              <a:buChar char="•"/>
              <a:tabLst>
                <a:tab pos="160020" algn="l"/>
              </a:tabLst>
            </a:pPr>
            <a:r>
              <a:rPr sz="1400" b="0">
                <a:solidFill>
                  <a:srgbClr val="3C1B50"/>
                </a:solidFill>
                <a:latin typeface="Montserrat"/>
              </a:rPr>
              <a:t>QA, документация и питч</a:t>
            </a:r>
            <a:endParaRPr sz="1200">
              <a:latin typeface="Microsoft Sans Serif"/>
              <a:cs typeface="Microsoft Sans Serif"/>
            </a:endParaRP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6B5B78"/>
                </a:solidFill>
                <a:latin typeface="Montserrat"/>
              </a:rPr>
              <a:t>Telegram: @pretuan</a:t>
            </a:r>
          </a:p>
        </p:txBody>
      </p:sp>
      <p:sp>
        <p:nvSpPr>
          <p:cNvPr id="21" name="object 21"/>
          <p:cNvSpPr txBox="1">
            <a:spLocks noGrp="1"/>
          </p:cNvSpPr>
          <p:nvPr>
            <p:ph type="sldNum" idx="7" sz="quarter"/>
          </p:nvPr>
        </p:nvSpPr>
        <p:spPr>
          <a:xfrm>
            <a:ext cx="548640" cy="0"/>
          </a:xfrm>
          <a:prstGeom prst="rect"/>
        </p:spPr>
        <p:txBody>
          <a:bodyPr wrap="non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47472" y="323088"/>
              <a:ext cx="3950335" cy="622300"/>
            </a:xfrm>
            <a:custGeom>
              <a:avLst/>
              <a:gdLst/>
              <a:ahLst/>
              <a:cxnLst/>
              <a:rect l="l" t="t" r="r" b="b"/>
              <a:pathLst>
                <a:path w="3950335" h="622300">
                  <a:moveTo>
                    <a:pt x="3833876" y="0"/>
                  </a:moveTo>
                  <a:lnTo>
                    <a:pt x="116306" y="0"/>
                  </a:lnTo>
                  <a:lnTo>
                    <a:pt x="71033" y="9140"/>
                  </a:lnTo>
                  <a:lnTo>
                    <a:pt x="34064" y="34067"/>
                  </a:lnTo>
                  <a:lnTo>
                    <a:pt x="9139" y="71044"/>
                  </a:lnTo>
                  <a:lnTo>
                    <a:pt x="0" y="116331"/>
                  </a:lnTo>
                  <a:lnTo>
                    <a:pt x="0" y="505459"/>
                  </a:lnTo>
                  <a:lnTo>
                    <a:pt x="9139" y="550747"/>
                  </a:lnTo>
                  <a:lnTo>
                    <a:pt x="34064" y="587724"/>
                  </a:lnTo>
                  <a:lnTo>
                    <a:pt x="71033" y="612651"/>
                  </a:lnTo>
                  <a:lnTo>
                    <a:pt x="116306" y="621791"/>
                  </a:lnTo>
                  <a:lnTo>
                    <a:pt x="3833876" y="621791"/>
                  </a:lnTo>
                  <a:lnTo>
                    <a:pt x="3879163" y="612651"/>
                  </a:lnTo>
                  <a:lnTo>
                    <a:pt x="3916140" y="587724"/>
                  </a:lnTo>
                  <a:lnTo>
                    <a:pt x="3941067" y="550747"/>
                  </a:lnTo>
                  <a:lnTo>
                    <a:pt x="3950207" y="505459"/>
                  </a:lnTo>
                  <a:lnTo>
                    <a:pt x="3950207" y="116331"/>
                  </a:lnTo>
                  <a:lnTo>
                    <a:pt x="3941067" y="71044"/>
                  </a:lnTo>
                  <a:lnTo>
                    <a:pt x="3916140" y="34067"/>
                  </a:lnTo>
                  <a:lnTo>
                    <a:pt x="3879163" y="9140"/>
                  </a:lnTo>
                  <a:lnTo>
                    <a:pt x="3833876" y="0"/>
                  </a:lnTo>
                  <a:close/>
                </a:path>
              </a:pathLst>
            </a:custGeom>
            <a:solidFill>
              <a:srgbClr val="FF0052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" name="object 5"/>
          <p:cNvSpPr txBox="1"/>
          <p:nvPr/>
        </p:nvSpPr>
        <p:spPr>
          <a:xfrm>
            <a:off x="612444" y="1199693"/>
            <a:ext cx="3925570" cy="1097915"/>
          </a:xfrm>
          <a:prstGeom prst="rect">
            <a:avLst/>
          </a:prstGeom>
        </p:spPr>
        <p:txBody>
          <a:bodyPr wrap="square" lIns="0" tIns="121920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960"/>
              </a:spcBef>
              <a:spcAft>
                <a:spcPts val="500"/>
              </a:spcAft>
            </a:pPr>
            <a:r>
              <a:rPr sz="1400" b="1">
                <a:solidFill>
                  <a:srgbClr val="520978"/>
                </a:solidFill>
                <a:latin typeface="Montserrat"/>
              </a:rPr>
              <a:t>Краткая история команды</a:t>
            </a:r>
            <a:endParaRPr sz="14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0">
                <a:solidFill>
                  <a:srgbClr val="1C1D22"/>
                </a:solidFill>
                <a:latin typeface="Montserrat"/>
              </a:rPr>
              <a:t>Команда сложилась на хакатоне ЛЦТ 2026: backend, frontend, аналитика, отчёты и QA. Роли распределили по сильным сторонам.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612444" y="2931109"/>
            <a:ext cx="3971925" cy="981075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95"/>
              </a:spcBef>
              <a:spcAft>
                <a:spcPts val="500"/>
              </a:spcAft>
            </a:pPr>
            <a:r>
              <a:rPr sz="1400" b="1">
                <a:solidFill>
                  <a:srgbClr val="520978"/>
                </a:solidFill>
                <a:latin typeface="Montserrat"/>
              </a:rPr>
              <a:t>Почему выбрали эту задачу</a:t>
            </a:r>
            <a:endParaRPr sz="14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0">
                <a:solidFill>
                  <a:srgbClr val="1C1D22"/>
                </a:solidFill>
                <a:latin typeface="Montserrat"/>
              </a:rPr>
              <a:t>Задача ИТ Школы про реальный процесс, а не учебный кейс: взаимодействие с вузами живёт в таблицах и чатах. Собрали это в один прозрачный контур.</a:t>
            </a:r>
          </a:p>
        </p:txBody>
      </p:sp>
      <p:sp>
        <p:nvSpPr>
          <p:cNvPr id="8" name="object 8"/>
          <p:cNvSpPr/>
          <p:nvPr/>
        </p:nvSpPr>
        <p:spPr>
          <a:xfrm>
            <a:off x="624840" y="1109472"/>
            <a:ext cx="11233150" cy="3298190"/>
          </a:xfrm>
          <a:custGeom>
            <a:avLst/>
            <a:gdLst/>
            <a:ahLst/>
            <a:cxnLst/>
            <a:rect l="l" t="t" r="r" b="b"/>
            <a:pathLst>
              <a:path w="11233150" h="3298190">
                <a:moveTo>
                  <a:pt x="0" y="1636776"/>
                </a:moveTo>
                <a:lnTo>
                  <a:pt x="11233150" y="1636776"/>
                </a:lnTo>
              </a:path>
              <a:path w="11233150" h="3298190">
                <a:moveTo>
                  <a:pt x="0" y="3297935"/>
                </a:moveTo>
                <a:lnTo>
                  <a:pt x="11233150" y="3297935"/>
                </a:lnTo>
              </a:path>
              <a:path w="11233150" h="3298190">
                <a:moveTo>
                  <a:pt x="0" y="0"/>
                </a:moveTo>
                <a:lnTo>
                  <a:pt x="11233150" y="0"/>
                </a:lnTo>
              </a:path>
            </a:pathLst>
          </a:custGeom>
          <a:ln w="6096">
            <a:solidFill>
              <a:srgbClr val="FF0052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 txBox="1"/>
          <p:nvPr/>
        </p:nvSpPr>
        <p:spPr>
          <a:xfrm>
            <a:off x="11676633" y="1289050"/>
            <a:ext cx="548640" cy="238125"/>
          </a:xfrm>
          <a:prstGeom prst="rect">
            <a:avLst/>
          </a:prstGeom>
        </p:spPr>
        <p:txBody>
          <a:bodyPr wrap="non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400" spc="-25" b="1">
                <a:solidFill>
                  <a:srgbClr val="520977"/>
                </a:solidFill>
                <a:latin typeface="Montserrat"/>
                <a:cs typeface="Arial"/>
              </a:rPr>
              <a:t>01</a:t>
            </a:r>
            <a:endParaRPr sz="14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1649202" y="2931109"/>
            <a:ext cx="548640" cy="238125"/>
          </a:xfrm>
          <a:prstGeom prst="rect">
            <a:avLst/>
          </a:prstGeom>
        </p:spPr>
        <p:txBody>
          <a:bodyPr wrap="non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1400" spc="-25" b="1">
                <a:solidFill>
                  <a:srgbClr val="520977"/>
                </a:solidFill>
                <a:latin typeface="Montserrat"/>
                <a:cs typeface="Arial"/>
              </a:rPr>
              <a:t>02</a:t>
            </a:r>
            <a:endParaRPr sz="14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12444" y="4584243"/>
            <a:ext cx="7117080" cy="154178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marR="2652395" algn="l">
              <a:lnSpc>
                <a:spcPct val="112000"/>
              </a:lnSpc>
              <a:spcBef>
                <a:spcPts val="100"/>
              </a:spcBef>
              <a:spcAft>
                <a:spcPts val="500"/>
              </a:spcAft>
            </a:pPr>
            <a:r>
              <a:rPr sz="1400" b="1">
                <a:solidFill>
                  <a:srgbClr val="520978"/>
                </a:solidFill>
                <a:latin typeface="Montserrat"/>
              </a:rPr>
              <a:t>Сложности и вызовы</a:t>
            </a:r>
            <a:endParaRPr sz="14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0">
                <a:solidFill>
                  <a:srgbClr val="1C1D22"/>
                </a:solidFill>
                <a:latin typeface="Montserrat"/>
              </a:rPr>
              <a:t>Свести две воронки — B2B (14 этапов) и B2C (4 этапа) — так, чтобы фильтры, создание заявок и отчёты не путали их между собой. Отдельно занимались вёрсткой PDF-отчётов и контрастом тёмной темы.</a:t>
            </a:r>
          </a:p>
        </p:txBody>
      </p:sp>
      <p:sp>
        <p:nvSpPr>
          <p:cNvPr id="11" name="object 11"/>
          <p:cNvSpPr txBox="1"/>
          <p:nvPr/>
        </p:nvSpPr>
        <p:spPr>
          <a:xfrm>
            <a:off x="11649202" y="4603750"/>
            <a:ext cx="548640" cy="238125"/>
          </a:xfrm>
          <a:prstGeom prst="rect">
            <a:avLst/>
          </a:prstGeom>
        </p:spPr>
        <p:txBody>
          <a:bodyPr wrap="non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400" spc="-25" b="1">
                <a:solidFill>
                  <a:srgbClr val="520977"/>
                </a:solidFill>
                <a:latin typeface="Montserrat"/>
                <a:cs typeface="Arial"/>
              </a:rPr>
              <a:t>03</a:t>
            </a:r>
            <a:endParaRPr sz="1400">
              <a:latin typeface="Arial"/>
              <a:cs typeface="Arial"/>
            </a:endParaRPr>
          </a:p>
        </p:txBody>
      </p:sp>
      <p:sp>
        <p:nvSpPr>
          <p:cNvPr id="12" name="object 12"/>
          <p:cNvSpPr txBox="1">
            <a:spLocks noGrp="1"/>
          </p:cNvSpPr>
          <p:nvPr>
            <p:ph type="sldNum" idx="7" sz="quarter"/>
          </p:nvPr>
        </p:nvSpPr>
        <p:spPr>
          <a:xfrm>
            <a:ext cx="548640" cy="0"/>
          </a:xfrm>
          <a:prstGeom prst="rect"/>
        </p:spPr>
        <p:txBody>
          <a:bodyPr wrap="non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72974" rIns="0" bIns="0" rtlCol="0" vert="horz">
            <a:spAutoFit/>
          </a:bodyPr>
          <a:lstStyle/>
          <a:p>
            <a:pPr marL="14604">
              <a:lnSpc>
                <a:spcPct val="100000"/>
              </a:lnSpc>
              <a:spcBef>
                <a:spcPts val="95"/>
              </a:spcBef>
            </a:pPr>
            <a:r>
              <a:rPr dirty="0">
                <a:latin typeface="Montserrat"/>
              </a:rPr>
              <a:t>КОРОТКО</a:t>
            </a:r>
            <a:r>
              <a:rPr dirty="0" spc="-65">
                <a:latin typeface="Montserrat"/>
              </a:rPr>
              <a:t> </a:t>
            </a:r>
            <a:r>
              <a:rPr dirty="0">
                <a:latin typeface="Montserrat"/>
              </a:rPr>
              <a:t>О</a:t>
            </a:r>
            <a:r>
              <a:rPr dirty="0" spc="-20">
                <a:latin typeface="Montserrat"/>
              </a:rPr>
              <a:t> </a:t>
            </a:r>
            <a:r>
              <a:rPr dirty="0" spc="-10">
                <a:latin typeface="Montserrat"/>
              </a:rPr>
              <a:t>РЕШЕНИИ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56945" y="1329316"/>
            <a:ext cx="4420870" cy="1031240"/>
          </a:xfrm>
          <a:prstGeom prst="rect">
            <a:avLst/>
          </a:prstGeom>
        </p:spPr>
        <p:txBody>
          <a:bodyPr wrap="square" lIns="0" tIns="186690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1470"/>
              </a:spcBef>
              <a:spcAft>
                <a:spcPts val="600"/>
              </a:spcAft>
            </a:pPr>
            <a:r>
              <a:rPr sz="2000" b="1">
                <a:solidFill>
                  <a:srgbClr val="520978"/>
                </a:solidFill>
                <a:latin typeface="Montserrat"/>
              </a:rPr>
              <a:t>Техническая суть решения</a:t>
            </a:r>
            <a:endParaRPr sz="20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0">
                <a:solidFill>
                  <a:srgbClr val="1C1D22"/>
                </a:solidFill>
                <a:latin typeface="Montserrat"/>
              </a:rPr>
              <a:t>React 18 + TypeScript + Ant Design; FastAPI, SQLAlchemy 2 (async), PostgreSQL. Вход через Keycloak (Code Flow + PKCE) или локальный JWT, ролевой доступ и аудит-лог.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6593840" y="1329316"/>
            <a:ext cx="4436110" cy="1223010"/>
          </a:xfrm>
          <a:prstGeom prst="rect">
            <a:avLst/>
          </a:prstGeom>
        </p:spPr>
        <p:txBody>
          <a:bodyPr wrap="square" lIns="0" tIns="186690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1470"/>
              </a:spcBef>
              <a:spcAft>
                <a:spcPts val="600"/>
              </a:spcAft>
            </a:pPr>
            <a:r>
              <a:rPr sz="2000" b="1">
                <a:solidFill>
                  <a:srgbClr val="520978"/>
                </a:solidFill>
                <a:latin typeface="Montserrat"/>
              </a:rPr>
              <a:t>Эффект и масштабирование</a:t>
            </a:r>
            <a:endParaRPr sz="20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0">
                <a:solidFill>
                  <a:srgbClr val="1C1D22"/>
                </a:solidFill>
                <a:latin typeface="Montserrat"/>
              </a:rPr>
              <a:t>Закрывает потребность ИТ Школы в управляемом взаимодействии с вузами и переносится на подразделения с похожим процессом: продажи, партнёрства, работа с филиалами.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idx="7" sz="quarter"/>
          </p:nvPr>
        </p:nvSpPr>
        <p:spPr>
          <a:xfrm>
            <a:ext cx="548640" cy="0"/>
          </a:xfrm>
          <a:prstGeom prst="rect"/>
        </p:spPr>
        <p:txBody>
          <a:bodyPr wrap="non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9"/>
            </a:xfrm>
            <a:prstGeom prst="rect">
              <a:avLst/>
            </a:prstGeom>
          </p:spPr>
        </p:pic>
      </p:grpSp>
      <p:sp>
        <p:nvSpPr>
          <p:cNvPr id="5" name="object 5"/>
          <p:cNvSpPr txBox="1">
            <a:spLocks noGrp="1"/>
          </p:cNvSpPr>
          <p:nvPr>
            <p:ph type="sldNum" idx="7" sz="quarter"/>
          </p:nvPr>
        </p:nvSpPr>
        <p:spPr>
          <a:xfrm>
            <a:ext cx="548640" cy="0"/>
          </a:xfrm>
          <a:prstGeom prst="rect"/>
        </p:spPr>
        <p:txBody>
          <a:bodyPr wrap="non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320040"/>
            <a:ext cx="4206240" cy="475488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sz="1300" b="1">
                <a:solidFill>
                  <a:srgbClr val="FFFFFF"/>
                </a:solidFill>
                <a:latin typeface="Montserrat"/>
              </a:rPr>
              <a:t>01 · Подробное описание решения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71600"/>
            <a:ext cx="3557016" cy="4206240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627632"/>
            <a:ext cx="30449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Kanban-доска взаимодействий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304288"/>
            <a:ext cx="304495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•  Перемещение карточек между этапами (drag-and-drop)</a:t>
            </a:r>
          </a:p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•  Поиск по вузу и фильтр по ИТ-продукту</a:t>
            </a:r>
          </a:p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•  Выбор этапа на мобильной версии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6882" y="1371600"/>
            <a:ext cx="3557016" cy="4206240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914" y="1627632"/>
            <a:ext cx="30449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Карточка взаимодействия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914" y="2304288"/>
            <a:ext cx="304495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•  Вуз, продукт, направление и договор</a:t>
            </a:r>
          </a:p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•  Задачи со сроками и ответственными</a:t>
            </a:r>
          </a:p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•  Комментарии, файлы и история изменений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0844" y="1371600"/>
            <a:ext cx="3557016" cy="4206240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86876" y="1627632"/>
            <a:ext cx="30449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Управляемость и отчётность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6876" y="2304288"/>
            <a:ext cx="304495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•  Настройка этапов workflow администратором</a:t>
            </a:r>
          </a:p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•  Интеграция с LMS и CMS: dry-run и импорт</a:t>
            </a:r>
          </a:p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•  Экспорт отчётов в XLSX, XLS, PDF и JSON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9"/>
            </a:xfrm>
            <a:prstGeom prst="rect">
              <a:avLst/>
            </a:prstGeom>
          </p:spPr>
        </p:pic>
      </p:grpSp>
      <p:sp>
        <p:nvSpPr>
          <p:cNvPr id="6" name="object 6"/>
          <p:cNvSpPr txBox="1">
            <a:spLocks noGrp="1"/>
          </p:cNvSpPr>
          <p:nvPr>
            <p:ph type="sldNum" idx="7" sz="quarter"/>
          </p:nvPr>
        </p:nvSpPr>
        <p:spPr>
          <a:xfrm>
            <a:ext cx="548640" cy="0"/>
          </a:xfrm>
          <a:prstGeom prst="rect"/>
        </p:spPr>
        <p:txBody>
          <a:bodyPr wrap="non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320040"/>
            <a:ext cx="3657600" cy="475488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sz="1300" b="1">
                <a:solidFill>
                  <a:srgbClr val="FFFFFF"/>
                </a:solidFill>
                <a:latin typeface="Montserrat"/>
              </a:rPr>
              <a:t>05 · Уникальность решения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632704" cy="3383280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71600"/>
            <a:ext cx="5632704" cy="3383280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645920"/>
            <a:ext cx="5084064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 b="1">
                <a:solidFill>
                  <a:srgbClr val="520978"/>
                </a:solidFill>
                <a:latin typeface="Montserrat"/>
              </a:rPr>
              <a:t>Настраиваемый workflow без доработки кода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1C1D22"/>
                </a:solidFill>
                <a:latin typeface="Montserrat"/>
              </a:rPr>
              <a:t>Администратор сам добавляет и переименовывает этапы, задаёт цвет колонки, порядок и включение — процесс меняется вместе с бизнесом, а не вслед за релизом.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645920"/>
            <a:ext cx="5084064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 b="1">
                <a:solidFill>
                  <a:srgbClr val="520978"/>
                </a:solidFill>
                <a:latin typeface="Montserrat"/>
              </a:rPr>
              <a:t>Две воронки в одном продукте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1C1D22"/>
                </a:solidFill>
                <a:latin typeface="Montserrat"/>
              </a:rPr>
              <a:t>B2B строится на 14 этапах, B2C — на 4. Фильтры доски, создание заявок и отчёты учитывают scope, поэтому воронки не смешиваются ни в UI, ни в API.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983480"/>
            <a:ext cx="11301984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7F4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166360"/>
            <a:ext cx="1075334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Планы по развитию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6B5B78"/>
                </a:solidFill>
                <a:latin typeface="Montserrat"/>
              </a:rPr>
              <a:t>Браузерный smoke-тест сценариев · нагрузка Locust на стенде · резервное восстановление в CI · подтверждение контура хранения данных в РФ · перевод в промышленную эксплуатацию после согласования.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9"/>
            </a:xfrm>
            <a:prstGeom prst="rect">
              <a:avLst/>
            </a:prstGeom>
          </p:spPr>
        </p:pic>
      </p:grpSp>
      <p:sp>
        <p:nvSpPr>
          <p:cNvPr id="10" name="object 10"/>
          <p:cNvSpPr txBox="1">
            <a:spLocks noGrp="1"/>
          </p:cNvSpPr>
          <p:nvPr>
            <p:ph type="sldNum" idx="7" sz="quarter"/>
          </p:nvPr>
        </p:nvSpPr>
        <p:spPr>
          <a:xfrm>
            <a:ext cx="548640" cy="0"/>
          </a:xfrm>
          <a:prstGeom prst="rect"/>
        </p:spPr>
        <p:txBody>
          <a:bodyPr wrap="non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" y="320040"/>
            <a:ext cx="4206240" cy="475488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sz="1300" b="1">
                <a:solidFill>
                  <a:srgbClr val="FFFFFF"/>
                </a:solidFill>
                <a:latin typeface="Montserrat"/>
              </a:rPr>
              <a:t>04 · Техническая проработка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371600"/>
            <a:ext cx="5632704" cy="2103120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57276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520978"/>
                </a:solidFill>
                <a:latin typeface="Montserrat"/>
              </a:rPr>
              <a:t>Frontend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121408"/>
            <a:ext cx="50292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React 18 и TypeScript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Vite, Ant Design 5, Zustand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Recharts и @dnd-kit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371600"/>
            <a:ext cx="5632704" cy="2103120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57276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520978"/>
                </a:solidFill>
                <a:latin typeface="Montserrat"/>
              </a:rPr>
              <a:t>Backend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121408"/>
            <a:ext cx="50292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Python 3.11, FastAPI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SQLAlchemy 2 async, asyncpg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Pydantic v2, JWT и bcrypt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675887"/>
            <a:ext cx="5632704" cy="2103120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877055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520978"/>
                </a:solidFill>
                <a:latin typeface="Montserrat"/>
              </a:rPr>
              <a:t>Данные и инфраструктура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425696"/>
            <a:ext cx="50292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PostgreSQL (Managed или контейнер)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Yandex Object Storage для файлов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KeyDB для кэша, Docker Compose, Nginx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3675887"/>
            <a:ext cx="5632704" cy="2103120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3877055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520978"/>
                </a:solidFill>
                <a:latin typeface="Montserrat"/>
              </a:rPr>
              <a:t>Интеграции и защита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425696"/>
            <a:ext cx="50292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Keycloak: Code Flow + PKCE, RS256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LMS и CMS: контракт обмена, dry-run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GigaChat: сводка по взаимодействию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9"/>
            </a:xfrm>
            <a:prstGeom prst="rect">
              <a:avLst/>
            </a:prstGeom>
          </p:spPr>
        </p:pic>
      </p:grpSp>
      <p:sp>
        <p:nvSpPr>
          <p:cNvPr id="7" name="object 7"/>
          <p:cNvSpPr txBox="1">
            <a:spLocks noGrp="1"/>
          </p:cNvSpPr>
          <p:nvPr>
            <p:ph type="sldNum" idx="7" sz="quarter"/>
          </p:nvPr>
        </p:nvSpPr>
        <p:spPr>
          <a:xfrm>
            <a:ext cx="548640" cy="0"/>
          </a:xfrm>
          <a:prstGeom prst="rect"/>
        </p:spPr>
        <p:txBody>
          <a:bodyPr wrap="non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" y="320040"/>
            <a:ext cx="4206240" cy="475488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sz="1300" b="1">
                <a:solidFill>
                  <a:srgbClr val="FFFFFF"/>
                </a:solidFill>
                <a:latin typeface="Montserrat"/>
              </a:rPr>
              <a:t>02 · Маркетинговая часть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5632704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7F4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1645920"/>
            <a:ext cx="50474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520978"/>
                </a:solidFill>
                <a:latin typeface="Montserrat"/>
              </a:rPr>
              <a:t>Потребность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286000"/>
            <a:ext cx="5047488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1C1D22"/>
                </a:solidFill>
                <a:latin typeface="Montserrat"/>
              </a:rPr>
              <a:t>ИТ Школа ведёт десятки вузов-партнёров. Статус взаимодействия и договорённости разбросаны по таблицам и чатам, из-за чего теряются сроки и история.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371600"/>
            <a:ext cx="5632704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7F4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45920"/>
            <a:ext cx="50474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520978"/>
                </a:solidFill>
                <a:latin typeface="Montserrat"/>
              </a:rPr>
              <a:t>Продвижение и развитие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4808" y="2286000"/>
            <a:ext cx="5047488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1C1D22"/>
                </a:solidFill>
                <a:latin typeface="Montserrat"/>
              </a:rPr>
              <a:t>Продукт внедряется внутри Ростелекома как готовый контур, а затем тиражируется на подразделения с похожим процессом: продажи, партнёрства, работа с филиалами.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1874500" cy="6858000"/>
            <a:chOff x="0" y="0"/>
            <a:chExt cx="118745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1874500" cy="6857999"/>
            </a:xfrm>
            <a:prstGeom prst="rect">
              <a:avLst/>
            </a:prstGeom>
          </p:spPr>
        </p:pic>
      </p:grpSp>
      <p:sp>
        <p:nvSpPr>
          <p:cNvPr id="17" name="object 17"/>
          <p:cNvSpPr txBox="1"/>
          <p:nvPr/>
        </p:nvSpPr>
        <p:spPr>
          <a:xfrm>
            <a:off x="11815953" y="6449170"/>
            <a:ext cx="548640" cy="196215"/>
          </a:xfrm>
          <a:prstGeom prst="rect">
            <a:avLst/>
          </a:prstGeom>
        </p:spPr>
        <p:txBody>
          <a:bodyPr wrap="none" lIns="0" tIns="0" rIns="0" bIns="0" rtlCol="0" vert="horz">
            <a:spAutoFit/>
          </a:bodyPr>
          <a:lstStyle/>
          <a:p>
            <a:pPr marL="12700">
              <a:lnSpc>
                <a:spcPts val="1425"/>
              </a:lnSpc>
            </a:pPr>
            <a:r>
              <a:rPr sz="1200">
                <a:solidFill>
                  <a:srgbClr val="520978"/>
                </a:solidFill>
                <a:latin typeface="Montserrat"/>
              </a:rPr>
              <a:t>4</a:t>
            </a:r>
            <a:endParaRPr sz="1200">
              <a:latin typeface="Microsoft Sans Serif"/>
              <a:cs typeface="Microsoft Sans Serif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347472" y="320040"/>
            <a:ext cx="4206240" cy="475488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sz="1300" b="1">
                <a:solidFill>
                  <a:srgbClr val="FFFFFF"/>
                </a:solidFill>
                <a:latin typeface="Montserrat"/>
              </a:rPr>
              <a:t>03 · Бизнес-составляющая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1371600"/>
            <a:ext cx="4754880" cy="4663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7F4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1627632"/>
            <a:ext cx="4206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500" b="1">
                <a:solidFill>
                  <a:srgbClr val="520978"/>
                </a:solidFill>
                <a:latin typeface="Montserrat"/>
              </a:rPr>
              <a:t>Эффект для ИТ Школы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250" b="0">
                <a:solidFill>
                  <a:srgbClr val="1C1D22"/>
                </a:solidFill>
                <a:latin typeface="Montserrat"/>
              </a:rPr>
              <a:t>•  Единый контур вместо таблиц и чатов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250" b="0">
                <a:solidFill>
                  <a:srgbClr val="1C1D22"/>
                </a:solidFill>
                <a:latin typeface="Montserrat"/>
              </a:rPr>
              <a:t>•  Прозрачные этапы и ответственные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250" b="0">
                <a:solidFill>
                  <a:srgbClr val="1C1D22"/>
                </a:solidFill>
                <a:latin typeface="Montserrat"/>
              </a:rPr>
              <a:t>•  Отчёт руководителю за секунды, а не за день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250" b="0">
                <a:solidFill>
                  <a:srgbClr val="1C1D22"/>
                </a:solidFill>
                <a:latin typeface="Montserrat"/>
              </a:rPr>
              <a:t>•  Сохранённая история взаимодействий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5B78"/>
                </a:solidFill>
                <a:latin typeface="Montserrat"/>
              </a:rPr>
              <a:t>•  Ограничение: не более 2 активных взаимодействий на вуз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60720" y="1371600"/>
            <a:ext cx="6035040" cy="822960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0" y="1591056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FF0053"/>
                </a:solidFill>
                <a:latin typeface="Montserrat"/>
              </a:rPr>
              <a:t>14 этапов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164592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6B5B78"/>
                </a:solidFill>
                <a:latin typeface="Montserrat"/>
              </a:rPr>
              <a:t>воронка B2B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60720" y="2331720"/>
            <a:ext cx="6035040" cy="822960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0" y="2551176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FF0053"/>
                </a:solidFill>
                <a:latin typeface="Montserrat"/>
              </a:rPr>
              <a:t>4 этапа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0" y="2606039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6B5B78"/>
                </a:solidFill>
                <a:latin typeface="Montserrat"/>
              </a:rPr>
              <a:t>воронка B2C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60720" y="3291839"/>
            <a:ext cx="6035040" cy="822960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5040" y="3511296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FF0053"/>
                </a:solidFill>
                <a:latin typeface="Montserrat"/>
              </a:rPr>
              <a:t>4 формата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0" y="3566159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6B5B78"/>
                </a:solidFill>
                <a:latin typeface="Montserrat"/>
              </a:rPr>
              <a:t>XLSX · XLS · PDF · JSON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60720" y="4251959"/>
            <a:ext cx="6035040" cy="822960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0" y="4471416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FF0053"/>
                </a:solidFill>
                <a:latin typeface="Montserrat"/>
              </a:rPr>
              <a:t>2 роли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4526279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6B5B78"/>
                </a:solidFill>
                <a:latin typeface="Montserrat"/>
              </a:rPr>
              <a:t>менеджер и администратор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760720" y="5212079"/>
            <a:ext cx="6035040" cy="822960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35040" y="5431536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FF0053"/>
                </a:solidFill>
                <a:latin typeface="Montserrat"/>
              </a:rPr>
              <a:t>0 ошибок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78240" y="5486399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6B5B78"/>
                </a:solidFill>
                <a:latin typeface="Montserrat"/>
              </a:rPr>
              <a:t>на нагрузочном прогоне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1874500" cy="6858000"/>
            <a:chOff x="0" y="0"/>
            <a:chExt cx="118745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1874500" cy="6857999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94232" y="1133855"/>
              <a:ext cx="4372229" cy="2924429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218176" y="1411224"/>
              <a:ext cx="79248" cy="91439"/>
            </a:xfrm>
            <a:prstGeom prst="rect">
              <a:avLst/>
            </a:prstGeom>
          </p:spPr>
        </p:pic>
      </p:grpSp>
      <p:grpSp>
        <p:nvGrpSpPr>
          <p:cNvPr id="16" name="object 16"/>
          <p:cNvGrpSpPr/>
          <p:nvPr/>
        </p:nvGrpSpPr>
        <p:grpSpPr>
          <a:xfrm>
            <a:off x="1929383" y="1133855"/>
            <a:ext cx="9182100" cy="2924810"/>
            <a:chOff x="1929383" y="1133855"/>
            <a:chExt cx="9182100" cy="2924810"/>
          </a:xfrm>
        </p:grpSpPr>
        <p:pic>
          <p:nvPicPr>
            <p:cNvPr id="17" name="object 17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929383" y="1426463"/>
              <a:ext cx="73152" cy="73151"/>
            </a:xfrm>
            <a:prstGeom prst="rect">
              <a:avLst/>
            </a:prstGeom>
          </p:spPr>
        </p:pic>
        <p:pic>
          <p:nvPicPr>
            <p:cNvPr id="18" name="object 1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739127" y="1133855"/>
              <a:ext cx="4372229" cy="2924429"/>
            </a:xfrm>
            <a:prstGeom prst="rect">
              <a:avLst/>
            </a:prstGeom>
          </p:spPr>
        </p:pic>
        <p:pic>
          <p:nvPicPr>
            <p:cNvPr id="26" name="object 26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0863072" y="1411223"/>
              <a:ext cx="79248" cy="91439"/>
            </a:xfrm>
            <a:prstGeom prst="rect">
              <a:avLst/>
            </a:prstGeom>
          </p:spPr>
        </p:pic>
      </p:grpSp>
      <p:pic>
        <p:nvPicPr>
          <p:cNvPr id="29" name="object 29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7574280" y="1426463"/>
            <a:ext cx="73151" cy="73151"/>
          </a:xfrm>
          <a:prstGeom prst="rect">
            <a:avLst/>
          </a:prstGeom>
        </p:spPr>
      </p:pic>
      <p:sp>
        <p:nvSpPr>
          <p:cNvPr id="30" name="object 30"/>
          <p:cNvSpPr txBox="1">
            <a:spLocks noGrp="1"/>
          </p:cNvSpPr>
          <p:nvPr>
            <p:ph type="sldNum" idx="7" sz="quarter"/>
          </p:nvPr>
        </p:nvSpPr>
        <p:spPr>
          <a:xfrm>
            <a:ext cx="548640" cy="0"/>
          </a:xfrm>
          <a:prstGeom prst="rect"/>
        </p:spPr>
        <p:txBody>
          <a:bodyPr wrap="none" lIns="0" tIns="45415" rIns="0" bIns="0" rtlCol="0" vert="horz">
            <a:spAutoFit/>
          </a:bodyPr>
          <a:lstStyle/>
          <a:p>
            <a:pPr marL="63500">
              <a:lnSpc>
                <a:spcPts val="1425"/>
              </a:lnSpc>
            </a:pPr>
            <a:r>
              <a:rPr sz="1200">
                <a:solidFill>
                  <a:srgbClr val="520978"/>
                </a:solidFill>
                <a:latin typeface="Montserrat"/>
              </a:rPr>
              <a:t>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7472" y="320040"/>
            <a:ext cx="4937760" cy="475488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sz="1300" b="1">
                <a:solidFill>
                  <a:srgbClr val="FFFFFF"/>
                </a:solidFill>
                <a:latin typeface="Montserrat"/>
              </a:rPr>
              <a:t>Демонстрация и результаты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1371600"/>
            <a:ext cx="5632704" cy="3520440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02-kanban-boar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00199" y="1554480"/>
            <a:ext cx="3438144" cy="214884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731520" y="3730752"/>
            <a:ext cx="517550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1">
                <a:solidFill>
                  <a:srgbClr val="520978"/>
                </a:solidFill>
                <a:latin typeface="Montserrat"/>
              </a:rPr>
              <a:t>Kanban-доска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Портфель взаимодействий с фильтрами по вузу и продукту, переключением B2B/B2C и перемещением карточек по этапам.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FF0053"/>
                </a:solidFill>
                <a:latin typeface="Montserrat"/>
              </a:rPr>
              <a:t>Демо: https://crm-rtk.pixel-minds.ru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72200" y="1371600"/>
            <a:ext cx="5632704" cy="3520440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11-integratio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69480" y="1554480"/>
            <a:ext cx="3438144" cy="214884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400800" y="3730752"/>
            <a:ext cx="517550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1">
                <a:solidFill>
                  <a:srgbClr val="520978"/>
                </a:solidFill>
                <a:latin typeface="Montserrat"/>
              </a:rPr>
              <a:t>Интеграция с LMS и CMS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Контракт обмена, предпросмотр пакета без записи (dry-run) и идемпотентный импорт по номеру договора. Отчёты выгружаются в XLSX, XLS, PDF и JSON.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FF0053"/>
                </a:solidFill>
                <a:latin typeface="Montserrat"/>
              </a:rPr>
              <a:t>API: https://crm-rtk.pixel-minds.ru/api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5074920"/>
            <a:ext cx="8595360" cy="1234440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5239512"/>
            <a:ext cx="8046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1">
                <a:solidFill>
                  <a:srgbClr val="520978"/>
                </a:solidFill>
                <a:latin typeface="Montserrat"/>
              </a:rPr>
              <a:t>Нагрузочный прогон (локально)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6B5B78"/>
                </a:solidFill>
                <a:latin typeface="Montserrat"/>
              </a:rPr>
              <a:t>50 пользователей / 60 с: 1613 запросов, 0 ошибок, p95 — 93 мс. Смешанный read/write: 4673 запроса, 0 ошибок; экспорт PDF — 210 мс. Показатели не являются гарантией SLA.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89204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520978"/>
                </a:solidFill>
                <a:latin typeface="Montserrat"/>
              </a:rPr>
              <a:t>Репозиторий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58400" y="5212080"/>
            <a:ext cx="1188720" cy="118872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02920" y="64465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6B5B78"/>
                </a:solidFill>
                <a:latin typeface="Montserrat"/>
              </a:rPr>
              <a:t>Москва · sabadaspaha@gmail.com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Microsoft Office PowerPoint</Application>
  <PresentationFormat>On-screen Show (4:3)</PresentationFormat>
  <ScaleCrop>false</ScaleCrop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2026-09-24T18:56:55Z</dcterms:created>
  <dcterms:modified xsi:type="dcterms:W3CDTF">2026-09-24T18:56:55Z</dcterms:modified>
  <dc:creator>Сабадаш Павел</dc:creator>
  <cp:lastModifiedBy>Сабадаш Павел</cp:lastModifiedBy>
  <dc:title>RTK CRM — ЛЦТ 2026, кейс №6</dc:title>
  <dc:subject>Система контроля взаимодействия ИТ Школы Ростелекома с вузами</dc:subject>
  <dc:description/>
  <cp:category/>
  <cp:keyword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v10.0.20290.1</vt:lpwstr>
  </property>
  <property fmtid="{D5CDD505-2E9C-101B-9397-08002B2CF9AE}" pid="3" name="Created">
    <vt:filetime>2026-09-24T00:00:00Z</vt:filetime>
  </property>
  <property fmtid="{D5CDD505-2E9C-101B-9397-08002B2CF9AE}" pid="4" name="Creator">
    <vt:lpwstr>Microsoft® PowerPoint® 2016</vt:lpwstr>
  </property>
  <property fmtid="{D5CDD505-2E9C-101B-9397-08002B2CF9AE}" pid="5" name="LastSaved">
    <vt:filetime>2026-09-24T00:00:00Z</vt:filetime>
  </property>
  <property fmtid="{D5CDD505-2E9C-101B-9397-08002B2CF9AE}" pid="6" name="Producer">
    <vt:lpwstr>www.ilovepdf.com</vt:lpwstr>
  </property>
</Properties>
</file>