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.jpg" ContentType="image/jpg"/>
  <Override PartName="/ppt/media/image3.jpg" ContentType="image/jpg"/>
  <Override PartName="/ppt/media/image30.jpg" ContentType="image/jpg"/>
  <Override PartName="/ppt/media/image31.jpg" ContentType="image/jpg"/>
  <Override PartName="/ppt/media/image4.jpg" ContentType="image/jpg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3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7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62" r:id="rId12"/>
    <p:sldId id="263" r:id="rId13"/>
    <p:sldId id="264" r:id="rId14"/>
    <p:sldId id="265" r:id="rId15"/>
    <p:sldId id="266" r:id="rId16"/>
    <p:sldId id="268" r:id="rId18"/>
    <p:sldId id="272" r:id="rId22"/>
    <p:sldId id="274" r:id="rId24"/>
    <p:sldId id="275" r:id="rId25"/>
    <p:sldId id="271" r:id="rId21"/>
    <p:sldId id="282" r:id="rId32"/>
  </p:sldIdLst>
  <p:sldSz cx="12192000" cy="6858000"/>
  <p:notesSz cx="12192000" cy="6858000"/>
  <p:defaultTextStyle>
    <a:defPPr>
      <a:defRPr kern="0"/>
    </a:def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78" d="100"/>
          <a:sy n="78" d="100"/>
        </p:scale>
        <p:origin x="-1536" y="-84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8028800" cy="780288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viewProps" Target="viewProps.xml"/><Relationship Id="rId4" Type="http://schemas.openxmlformats.org/officeDocument/2006/relationships/presProps" Target="presProps.xml"/><Relationship Id="rId5" Type="http://schemas.openxmlformats.org/officeDocument/2006/relationships/tableStyles" Target="tableStyles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8" Type="http://schemas.openxmlformats.org/officeDocument/2006/relationships/slide" Target="slides/slide13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32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14400" y="2125980"/>
            <a:ext cx="10363200" cy="1440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000" b="1" i="0">
                <a:solidFill>
                  <a:srgbClr val="F1F1F1"/>
                </a:solidFill>
                <a:latin typeface="Arial"/>
                <a:cs typeface="Arial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800" b="1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6" name="Holder 6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rgbClr val="F1F1F1"/>
                </a:solidFill>
                <a:latin typeface="Microsoft Sans Serif"/>
                <a:cs typeface="Microsoft Sans Serif"/>
              </a:defRPr>
            </a:lvl1pPr>
          </a:lstStyle>
          <a:p>
            <a:pPr marL="184785">
              <a:lnSpc>
                <a:spcPts val="1425"/>
              </a:lnSpc>
            </a:pPr>
            <a:fld id="{81D60167-4931-47E6-BA6A-407CBD079E47}" type="slidenum">
              <a:rPr dirty="0" spc="-50"/>
              <a:t>#</a:t>
            </a:fld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 showMasterSp="0">
  <p:cSld name="Title and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000" b="1" i="0">
                <a:solidFill>
                  <a:srgbClr val="F1F1F1"/>
                </a:solidFill>
                <a:latin typeface="Arial"/>
                <a:cs typeface="Arial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1800" b="1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6" name="Holder 6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rgbClr val="F1F1F1"/>
                </a:solidFill>
                <a:latin typeface="Microsoft Sans Serif"/>
                <a:cs typeface="Microsoft Sans Serif"/>
              </a:defRPr>
            </a:lvl1pPr>
          </a:lstStyle>
          <a:p>
            <a:pPr marL="184785">
              <a:lnSpc>
                <a:spcPts val="1425"/>
              </a:lnSpc>
            </a:pPr>
            <a:fld id="{81D60167-4931-47E6-BA6A-407CBD079E47}" type="slidenum">
              <a:rPr dirty="0" spc="-50"/>
              <a:t>#</a:t>
            </a:fld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 showMasterSp="0">
  <p:cSld name="Two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sp>
        <p:nvSpPr>
          <p:cNvPr id="17" name="bg object 17"/>
          <p:cNvSpPr/>
          <p:nvPr/>
        </p:nvSpPr>
        <p:spPr>
          <a:xfrm>
            <a:off x="347472" y="323088"/>
            <a:ext cx="3749040" cy="622300"/>
          </a:xfrm>
          <a:custGeom>
            <a:avLst/>
            <a:gdLst/>
            <a:ahLst/>
            <a:cxnLst/>
            <a:rect l="l" t="t" r="r" b="b"/>
            <a:pathLst>
              <a:path w="3749040" h="622300">
                <a:moveTo>
                  <a:pt x="3632707" y="0"/>
                </a:moveTo>
                <a:lnTo>
                  <a:pt x="116306" y="0"/>
                </a:lnTo>
                <a:lnTo>
                  <a:pt x="71033" y="9140"/>
                </a:lnTo>
                <a:lnTo>
                  <a:pt x="34064" y="34067"/>
                </a:lnTo>
                <a:lnTo>
                  <a:pt x="9139" y="71044"/>
                </a:lnTo>
                <a:lnTo>
                  <a:pt x="0" y="116331"/>
                </a:lnTo>
                <a:lnTo>
                  <a:pt x="0" y="505459"/>
                </a:lnTo>
                <a:lnTo>
                  <a:pt x="9139" y="550747"/>
                </a:lnTo>
                <a:lnTo>
                  <a:pt x="34064" y="587724"/>
                </a:lnTo>
                <a:lnTo>
                  <a:pt x="71033" y="612651"/>
                </a:lnTo>
                <a:lnTo>
                  <a:pt x="116306" y="621791"/>
                </a:lnTo>
                <a:lnTo>
                  <a:pt x="3632707" y="621791"/>
                </a:lnTo>
                <a:lnTo>
                  <a:pt x="3677995" y="612651"/>
                </a:lnTo>
                <a:lnTo>
                  <a:pt x="3714972" y="587724"/>
                </a:lnTo>
                <a:lnTo>
                  <a:pt x="3739899" y="550747"/>
                </a:lnTo>
                <a:lnTo>
                  <a:pt x="3749040" y="505459"/>
                </a:lnTo>
                <a:lnTo>
                  <a:pt x="3749040" y="116331"/>
                </a:lnTo>
                <a:lnTo>
                  <a:pt x="3739899" y="71044"/>
                </a:lnTo>
                <a:lnTo>
                  <a:pt x="3714972" y="34067"/>
                </a:lnTo>
                <a:lnTo>
                  <a:pt x="3677995" y="9140"/>
                </a:lnTo>
                <a:lnTo>
                  <a:pt x="3632707" y="0"/>
                </a:lnTo>
                <a:close/>
              </a:path>
            </a:pathLst>
          </a:custGeom>
          <a:solidFill>
            <a:srgbClr val="FF0052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8" name="bg object 18"/>
          <p:cNvSpPr/>
          <p:nvPr/>
        </p:nvSpPr>
        <p:spPr>
          <a:xfrm>
            <a:off x="347472" y="1210055"/>
            <a:ext cx="11323320" cy="4989830"/>
          </a:xfrm>
          <a:custGeom>
            <a:avLst/>
            <a:gdLst/>
            <a:ahLst/>
            <a:cxnLst/>
            <a:rect l="l" t="t" r="r" b="b"/>
            <a:pathLst>
              <a:path w="11323320" h="4989830">
                <a:moveTo>
                  <a:pt x="5437632" y="170053"/>
                </a:moveTo>
                <a:lnTo>
                  <a:pt x="5431561" y="124828"/>
                </a:lnTo>
                <a:lnTo>
                  <a:pt x="5414416" y="84201"/>
                </a:lnTo>
                <a:lnTo>
                  <a:pt x="5387835" y="49784"/>
                </a:lnTo>
                <a:lnTo>
                  <a:pt x="5353431" y="23215"/>
                </a:lnTo>
                <a:lnTo>
                  <a:pt x="5312803" y="6070"/>
                </a:lnTo>
                <a:lnTo>
                  <a:pt x="5267579" y="0"/>
                </a:lnTo>
                <a:lnTo>
                  <a:pt x="170002" y="0"/>
                </a:lnTo>
                <a:lnTo>
                  <a:pt x="124802" y="6070"/>
                </a:lnTo>
                <a:lnTo>
                  <a:pt x="84188" y="23215"/>
                </a:lnTo>
                <a:lnTo>
                  <a:pt x="49784" y="49784"/>
                </a:lnTo>
                <a:lnTo>
                  <a:pt x="23202" y="84201"/>
                </a:lnTo>
                <a:lnTo>
                  <a:pt x="6070" y="124828"/>
                </a:lnTo>
                <a:lnTo>
                  <a:pt x="0" y="170053"/>
                </a:lnTo>
                <a:lnTo>
                  <a:pt x="0" y="4819574"/>
                </a:lnTo>
                <a:lnTo>
                  <a:pt x="6070" y="4864773"/>
                </a:lnTo>
                <a:lnTo>
                  <a:pt x="23202" y="4905387"/>
                </a:lnTo>
                <a:lnTo>
                  <a:pt x="49784" y="4939792"/>
                </a:lnTo>
                <a:lnTo>
                  <a:pt x="84188" y="4966373"/>
                </a:lnTo>
                <a:lnTo>
                  <a:pt x="124802" y="4983505"/>
                </a:lnTo>
                <a:lnTo>
                  <a:pt x="170002" y="4989576"/>
                </a:lnTo>
                <a:lnTo>
                  <a:pt x="5267579" y="4989576"/>
                </a:lnTo>
                <a:lnTo>
                  <a:pt x="5312803" y="4983505"/>
                </a:lnTo>
                <a:lnTo>
                  <a:pt x="5353431" y="4966373"/>
                </a:lnTo>
                <a:lnTo>
                  <a:pt x="5387835" y="4939792"/>
                </a:lnTo>
                <a:lnTo>
                  <a:pt x="5414416" y="4905387"/>
                </a:lnTo>
                <a:lnTo>
                  <a:pt x="5431561" y="4864773"/>
                </a:lnTo>
                <a:lnTo>
                  <a:pt x="5437632" y="4819574"/>
                </a:lnTo>
                <a:lnTo>
                  <a:pt x="5437632" y="170053"/>
                </a:lnTo>
                <a:close/>
              </a:path>
              <a:path w="11323320" h="4989830">
                <a:moveTo>
                  <a:pt x="11323320" y="192786"/>
                </a:moveTo>
                <a:lnTo>
                  <a:pt x="11318215" y="148602"/>
                </a:lnTo>
                <a:lnTo>
                  <a:pt x="11303711" y="108026"/>
                </a:lnTo>
                <a:lnTo>
                  <a:pt x="11280940" y="72237"/>
                </a:lnTo>
                <a:lnTo>
                  <a:pt x="11251082" y="42379"/>
                </a:lnTo>
                <a:lnTo>
                  <a:pt x="11215294" y="19608"/>
                </a:lnTo>
                <a:lnTo>
                  <a:pt x="11174717" y="5105"/>
                </a:lnTo>
                <a:lnTo>
                  <a:pt x="11130534" y="0"/>
                </a:lnTo>
                <a:lnTo>
                  <a:pt x="6075426" y="0"/>
                </a:lnTo>
                <a:lnTo>
                  <a:pt x="6031230" y="5105"/>
                </a:lnTo>
                <a:lnTo>
                  <a:pt x="5990653" y="19608"/>
                </a:lnTo>
                <a:lnTo>
                  <a:pt x="5954865" y="42379"/>
                </a:lnTo>
                <a:lnTo>
                  <a:pt x="5925007" y="72237"/>
                </a:lnTo>
                <a:lnTo>
                  <a:pt x="5902236" y="108026"/>
                </a:lnTo>
                <a:lnTo>
                  <a:pt x="5887732" y="148602"/>
                </a:lnTo>
                <a:lnTo>
                  <a:pt x="5882640" y="192786"/>
                </a:lnTo>
                <a:lnTo>
                  <a:pt x="5882640" y="4796726"/>
                </a:lnTo>
                <a:lnTo>
                  <a:pt x="5887732" y="4840948"/>
                </a:lnTo>
                <a:lnTo>
                  <a:pt x="5902236" y="4881550"/>
                </a:lnTo>
                <a:lnTo>
                  <a:pt x="5925007" y="4917351"/>
                </a:lnTo>
                <a:lnTo>
                  <a:pt x="5954865" y="4947221"/>
                </a:lnTo>
                <a:lnTo>
                  <a:pt x="5990653" y="4969980"/>
                </a:lnTo>
                <a:lnTo>
                  <a:pt x="6031230" y="4984483"/>
                </a:lnTo>
                <a:lnTo>
                  <a:pt x="6075426" y="4989576"/>
                </a:lnTo>
                <a:lnTo>
                  <a:pt x="11130534" y="4989576"/>
                </a:lnTo>
                <a:lnTo>
                  <a:pt x="11174717" y="4984483"/>
                </a:lnTo>
                <a:lnTo>
                  <a:pt x="11215294" y="4969980"/>
                </a:lnTo>
                <a:lnTo>
                  <a:pt x="11251082" y="4947221"/>
                </a:lnTo>
                <a:lnTo>
                  <a:pt x="11280940" y="4917351"/>
                </a:lnTo>
                <a:lnTo>
                  <a:pt x="11303711" y="4881550"/>
                </a:lnTo>
                <a:lnTo>
                  <a:pt x="11318215" y="4840948"/>
                </a:lnTo>
                <a:lnTo>
                  <a:pt x="11323320" y="4796726"/>
                </a:lnTo>
                <a:lnTo>
                  <a:pt x="11323320" y="192786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/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000" b="1" i="0">
                <a:solidFill>
                  <a:srgbClr val="F1F1F1"/>
                </a:solidFill>
                <a:latin typeface="Arial"/>
                <a:cs typeface="Arial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idx="2" sz="half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idx="3" sz="half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6" name="Holder 6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7" name="Holder 7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rgbClr val="F1F1F1"/>
                </a:solidFill>
                <a:latin typeface="Microsoft Sans Serif"/>
                <a:cs typeface="Microsoft Sans Serif"/>
              </a:defRPr>
            </a:lvl1pPr>
          </a:lstStyle>
          <a:p>
            <a:pPr marL="184785">
              <a:lnSpc>
                <a:spcPts val="1425"/>
              </a:lnSpc>
            </a:pPr>
            <a:fld id="{81D60167-4931-47E6-BA6A-407CBD079E47}" type="slidenum">
              <a:rPr dirty="0" spc="-50"/>
              <a:t>#</a:t>
            </a:fld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 showMasterSp="0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000" b="1" i="0">
                <a:solidFill>
                  <a:srgbClr val="F1F1F1"/>
                </a:solidFill>
                <a:latin typeface="Arial"/>
                <a:cs typeface="Arial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5" name="Holder 5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rgbClr val="F1F1F1"/>
                </a:solidFill>
                <a:latin typeface="Microsoft Sans Serif"/>
                <a:cs typeface="Microsoft Sans Serif"/>
              </a:defRPr>
            </a:lvl1pPr>
          </a:lstStyle>
          <a:p>
            <a:pPr marL="184785">
              <a:lnSpc>
                <a:spcPts val="1425"/>
              </a:lnSpc>
            </a:pPr>
            <a:fld id="{81D60167-4931-47E6-BA6A-407CBD079E47}" type="slidenum">
              <a:rPr dirty="0" spc="-50"/>
              <a:t>#</a:t>
            </a:fld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4" name="Holder 4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rgbClr val="F1F1F1"/>
                </a:solidFill>
                <a:latin typeface="Microsoft Sans Serif"/>
                <a:cs typeface="Microsoft Sans Serif"/>
              </a:defRPr>
            </a:lvl1pPr>
          </a:lstStyle>
          <a:p>
            <a:pPr marL="184785">
              <a:lnSpc>
                <a:spcPts val="1425"/>
              </a:lnSpc>
            </a:pPr>
            <a:fld id="{81D60167-4931-47E6-BA6A-407CBD079E47}" type="slidenum">
              <a:rPr dirty="0" spc="-50"/>
              <a:t>#</a:t>
            </a:fld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602691" y="403098"/>
            <a:ext cx="6607860" cy="46266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000" b="1" i="0">
                <a:solidFill>
                  <a:srgbClr val="F1F1F1"/>
                </a:solidFill>
                <a:latin typeface="Arial"/>
                <a:cs typeface="Arial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936142" y="2000834"/>
            <a:ext cx="7013575" cy="304482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800" b="1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idx="5" sz="quarter"/>
          </p:nvPr>
        </p:nvSpPr>
        <p:spPr>
          <a:xfrm>
            <a:off x="4145280" y="6377940"/>
            <a:ext cx="390144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dt" idx="6" sz="half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6" name="Holder 6"/>
          <p:cNvSpPr>
            <a:spLocks noGrp="1"/>
          </p:cNvSpPr>
          <p:nvPr>
            <p:ph type="sldNum" idx="7" sz="quarter"/>
          </p:nvPr>
        </p:nvSpPr>
        <p:spPr>
          <a:xfrm>
            <a:off x="11544807" y="6403755"/>
            <a:ext cx="396875" cy="24163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200" b="0" i="0">
                <a:solidFill>
                  <a:srgbClr val="F1F1F1"/>
                </a:solidFill>
                <a:latin typeface="Microsoft Sans Serif"/>
                <a:cs typeface="Microsoft Sans Serif"/>
              </a:defRPr>
            </a:lvl1pPr>
          </a:lstStyle>
          <a:p>
            <a:pPr marL="184785">
              <a:lnSpc>
                <a:spcPts val="1425"/>
              </a:lnSpc>
            </a:pPr>
            <a:fld id="{81D60167-4931-47E6-BA6A-407CBD079E47}" type="slidenum">
              <a:rPr dirty="0" spc="-50"/>
              <a:t>#</a:t>
            </a:fld>
          </a:p>
        </p:txBody>
      </p:sp>
    </p:spTree>
  </p:cSld>
  <p:clrMap folHlink="folHlink" hlink="hlink" accent1="accent1" accent2="accent2" accent3="accent3" accent4="accent4" accent5="accent5" accent6="accent6" tx2="dk2" bg2="lt2" tx1="dk1" bg1="lt1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4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0.jpg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1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0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0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1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1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4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4.jpg"/><Relationship Id="rId3" Type="http://schemas.openxmlformats.org/officeDocument/2006/relationships/image" Target="../media/image42.png"/><Relationship Id="rId4" Type="http://schemas.openxmlformats.org/officeDocument/2006/relationships/image" Target="../media/image43.png"/><Relationship Id="rId5" Type="http://schemas.openxmlformats.org/officeDocument/2006/relationships/hyperlink" Target="http://www.lider.com/" TargetMode="External"/><Relationship Id="rId6" Type="http://schemas.openxmlformats.org/officeDocument/2006/relationships/image" Target="../media/image44.png"/><Relationship Id="rId7" Type="http://schemas.openxmlformats.org/officeDocument/2006/relationships/image" Target="../media/image45.png"/><Relationship Id="rId8" Type="http://schemas.openxmlformats.org/officeDocument/2006/relationships/image" Target="../media/image46.png"/><Relationship Id="rId9" Type="http://schemas.openxmlformats.org/officeDocument/2006/relationships/image" Target="../media/image9.png"/><Relationship Id="rId10" Type="http://schemas.openxmlformats.org/officeDocument/2006/relationships/image" Target="../media/image10.png"/><Relationship Id="rId11" Type="http://schemas.openxmlformats.org/officeDocument/2006/relationships/image" Target="../media/image11.png"/></Relationships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-4572" y="-4572"/>
            <a:ext cx="12197080" cy="6863080"/>
            <a:chOff x="-4572" y="-4572"/>
            <a:chExt cx="12197080" cy="6863080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0"/>
              <a:ext cx="12192000" cy="6857999"/>
            </a:xfrm>
            <a:prstGeom prst="rect">
              <a:avLst/>
            </a:prstGeom>
          </p:spPr>
        </p:pic>
        <p:sp>
          <p:nvSpPr>
            <p:cNvPr id="4" name="object 4"/>
            <p:cNvSpPr/>
            <p:nvPr/>
          </p:nvSpPr>
          <p:spPr>
            <a:xfrm>
              <a:off x="0" y="0"/>
              <a:ext cx="5829300" cy="1973580"/>
            </a:xfrm>
            <a:custGeom>
              <a:avLst/>
              <a:gdLst/>
              <a:ahLst/>
              <a:cxnLst/>
              <a:rect l="l" t="t" r="r" b="b"/>
              <a:pathLst>
                <a:path w="5829300" h="1973580">
                  <a:moveTo>
                    <a:pt x="5829299" y="0"/>
                  </a:moveTo>
                  <a:lnTo>
                    <a:pt x="5829299" y="1749044"/>
                  </a:lnTo>
                  <a:lnTo>
                    <a:pt x="5824741" y="1794316"/>
                  </a:lnTo>
                  <a:lnTo>
                    <a:pt x="5811664" y="1836473"/>
                  </a:lnTo>
                  <a:lnTo>
                    <a:pt x="5790971" y="1874615"/>
                  </a:lnTo>
                  <a:lnTo>
                    <a:pt x="5763561" y="1907841"/>
                  </a:lnTo>
                  <a:lnTo>
                    <a:pt x="5730335" y="1935251"/>
                  </a:lnTo>
                  <a:lnTo>
                    <a:pt x="5692193" y="1955944"/>
                  </a:lnTo>
                  <a:lnTo>
                    <a:pt x="5650036" y="1969021"/>
                  </a:lnTo>
                  <a:lnTo>
                    <a:pt x="5604763" y="1973579"/>
                  </a:lnTo>
                  <a:lnTo>
                    <a:pt x="0" y="1973579"/>
                  </a:lnTo>
                </a:path>
              </a:pathLst>
            </a:custGeom>
            <a:ln w="9144">
              <a:solidFill>
                <a:srgbClr val="FFD5E2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5" name="TextBox 4"/>
          <p:cNvSpPr txBox="1"/>
          <p:nvPr/>
        </p:nvSpPr>
        <p:spPr>
          <a:xfrm>
            <a:off x="758952" y="1417320"/>
            <a:ext cx="106070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6600" b="1">
                <a:solidFill>
                  <a:srgbClr val="FFFFFF"/>
                </a:solidFill>
                <a:latin typeface="Montserrat"/>
              </a:rPr>
              <a:t>RTK CRM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78892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100" b="1">
                <a:solidFill>
                  <a:srgbClr val="FFFFFF"/>
                </a:solidFill>
                <a:latin typeface="Montserrat"/>
              </a:rPr>
              <a:t>Система контроля взаимодействия ИТ Школы Ростелекома с вузами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429000"/>
            <a:ext cx="9601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500" b="0">
                <a:solidFill>
                  <a:srgbClr val="F3C9E4"/>
                </a:solidFill>
                <a:latin typeface="Montserrat"/>
              </a:rPr>
              <a:t>Лидеры цифровой трансформации 2026 · кейс №6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4224528"/>
            <a:ext cx="3200400" cy="475488"/>
          </a:xfrm>
          <a:prstGeom prst="roundRect">
            <a:avLst>
              <a:gd name="adj" fmla="val 50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/>
            <a:r>
              <a:rPr sz="1300" b="1">
                <a:solidFill>
                  <a:srgbClr val="FFFFFF"/>
                </a:solidFill>
                <a:latin typeface="Montserrat"/>
              </a:rPr>
              <a:t>Команда из 5 человек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956048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300" b="0">
                <a:solidFill>
                  <a:srgbClr val="E6D2EF"/>
                </a:solidFill>
                <a:latin typeface="Montserrat"/>
              </a:rPr>
              <a:t>Москва · github.com/Pavel1778/rtk-crm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0"/>
            <a:ext cx="11874500" cy="6858000"/>
            <a:chOff x="0" y="0"/>
            <a:chExt cx="11874500" cy="6858000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0"/>
              <a:ext cx="11874500" cy="6857999"/>
            </a:xfrm>
            <a:prstGeom prst="rect">
              <a:avLst/>
            </a:prstGeom>
          </p:spPr>
        </p:pic>
        <p:sp>
          <p:nvSpPr>
            <p:cNvPr id="4" name="object 4"/>
            <p:cNvSpPr/>
            <p:nvPr/>
          </p:nvSpPr>
          <p:spPr>
            <a:xfrm>
              <a:off x="0" y="2971799"/>
              <a:ext cx="6456045" cy="3886200"/>
            </a:xfrm>
            <a:custGeom>
              <a:avLst/>
              <a:gdLst/>
              <a:ahLst/>
              <a:cxnLst/>
              <a:rect l="l" t="t" r="r" b="b"/>
              <a:pathLst>
                <a:path w="6456045" h="3886200">
                  <a:moveTo>
                    <a:pt x="6455664" y="0"/>
                  </a:moveTo>
                  <a:lnTo>
                    <a:pt x="0" y="0"/>
                  </a:lnTo>
                  <a:lnTo>
                    <a:pt x="0" y="3886200"/>
                  </a:lnTo>
                  <a:lnTo>
                    <a:pt x="6455664" y="3886200"/>
                  </a:lnTo>
                  <a:lnTo>
                    <a:pt x="6455664" y="0"/>
                  </a:lnTo>
                  <a:close/>
                </a:path>
              </a:pathLst>
            </a:custGeom>
            <a:solidFill>
              <a:srgbClr val="DCCEE3">
                <a:alpha val="49803"/>
              </a:srgbClr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5" name="object 5"/>
          <p:cNvSpPr txBox="1"/>
          <p:nvPr/>
        </p:nvSpPr>
        <p:spPr>
          <a:xfrm>
            <a:off x="413715" y="3513582"/>
            <a:ext cx="3133725" cy="1938020"/>
          </a:xfrm>
          <a:prstGeom prst="rect">
            <a:avLst/>
          </a:prstGeom>
        </p:spPr>
        <p:txBody>
          <a:bodyPr wrap="square" lIns="0" tIns="13335" rIns="0" bIns="0" rtlCol="0" vert="horz">
            <a:spAutoFit/>
          </a:bodyPr>
          <a:lstStyle/>
          <a:p>
            <a:pPr marL="12700" algn="l">
              <a:lnSpc>
                <a:spcPct val="112000"/>
              </a:lnSpc>
              <a:spcBef>
                <a:spcPts val="105"/>
              </a:spcBef>
              <a:spcAft>
                <a:spcPts val="800"/>
              </a:spcAft>
            </a:pPr>
            <a:r>
              <a:rPr sz="2000" b="1">
                <a:solidFill>
                  <a:srgbClr val="520978"/>
                </a:solidFill>
                <a:latin typeface="Montserrat"/>
              </a:rPr>
              <a:t>О команде</a:t>
            </a:r>
            <a:endParaRPr sz="1600">
              <a:latin typeface="Arial"/>
              <a:cs typeface="Arial"/>
            </a:endParaRP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  <a:latin typeface="Montserrat"/>
              </a:rPr>
              <a:t>Капитан: Сабадаш Павел, backend и инфраструктура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  <a:latin typeface="Montserrat"/>
              </a:rPr>
              <a:t>Кол-во участников: 5 человек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00" b="0">
                <a:solidFill>
                  <a:srgbClr val="6B5B78"/>
                </a:solidFill>
                <a:latin typeface="Montserrat"/>
              </a:rPr>
              <a:t>Краткое описание: команда собралась на хакатоне ЛЦТ 2026 вокруг задачи ИТ Школы — связать коммуникации с вузами в один управляемый процесс.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  <a:latin typeface="Montserrat"/>
              </a:rPr>
              <a:t>Город и регион: Москва</a:t>
            </a:r>
          </a:p>
        </p:txBody>
      </p:sp>
      <p:grpSp>
        <p:nvGrpSpPr>
          <p:cNvPr id="6" name="object 6"/>
          <p:cNvGrpSpPr/>
          <p:nvPr/>
        </p:nvGrpSpPr>
        <p:grpSpPr>
          <a:xfrm>
            <a:off x="396240" y="2234183"/>
            <a:ext cx="11386185" cy="2209800"/>
            <a:chOff x="396240" y="2234183"/>
            <a:chExt cx="11386185" cy="2209800"/>
          </a:xfrm>
        </p:grpSpPr>
        <p:sp>
          <p:nvSpPr>
            <p:cNvPr id="7" name="object 7"/>
            <p:cNvSpPr/>
            <p:nvPr/>
          </p:nvSpPr>
          <p:spPr>
            <a:xfrm>
              <a:off x="6879336" y="2240279"/>
              <a:ext cx="4903470" cy="2197735"/>
            </a:xfrm>
            <a:custGeom>
              <a:avLst/>
              <a:gdLst/>
              <a:ahLst/>
              <a:cxnLst/>
              <a:rect l="l" t="t" r="r" b="b"/>
              <a:pathLst>
                <a:path w="4903470" h="2197735">
                  <a:moveTo>
                    <a:pt x="0" y="0"/>
                  </a:moveTo>
                  <a:lnTo>
                    <a:pt x="4884801" y="0"/>
                  </a:lnTo>
                </a:path>
                <a:path w="4903470" h="2197735">
                  <a:moveTo>
                    <a:pt x="18288" y="2197608"/>
                  </a:moveTo>
                  <a:lnTo>
                    <a:pt x="4903089" y="2197608"/>
                  </a:lnTo>
                </a:path>
              </a:pathLst>
            </a:custGeom>
            <a:ln w="12192">
              <a:solidFill>
                <a:srgbClr val="520977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8" name="object 8"/>
            <p:cNvSpPr/>
            <p:nvPr/>
          </p:nvSpPr>
          <p:spPr>
            <a:xfrm>
              <a:off x="396240" y="3447287"/>
              <a:ext cx="5700395" cy="0"/>
            </a:xfrm>
            <a:custGeom>
              <a:avLst/>
              <a:gdLst/>
              <a:ahLst/>
              <a:cxnLst/>
              <a:rect l="l" t="t" r="r" b="b"/>
              <a:pathLst>
                <a:path w="5700395" h="0">
                  <a:moveTo>
                    <a:pt x="0" y="0"/>
                  </a:moveTo>
                  <a:lnTo>
                    <a:pt x="5700141" y="0"/>
                  </a:lnTo>
                </a:path>
              </a:pathLst>
            </a:custGeom>
            <a:ln w="6096">
              <a:solidFill>
                <a:srgbClr val="520977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0" name="object 10"/>
          <p:cNvSpPr txBox="1"/>
          <p:nvPr/>
        </p:nvSpPr>
        <p:spPr>
          <a:xfrm>
            <a:off x="6888606" y="2244596"/>
            <a:ext cx="2854960" cy="644525"/>
          </a:xfrm>
          <a:prstGeom prst="rect">
            <a:avLst/>
          </a:prstGeom>
        </p:spPr>
        <p:txBody>
          <a:bodyPr wrap="square" lIns="0" tIns="100330" rIns="0" bIns="0" rtlCol="0" vert="horz">
            <a:spAutoFit/>
          </a:bodyPr>
          <a:lstStyle/>
          <a:p>
            <a:pPr marL="24130" algn="l">
              <a:lnSpc>
                <a:spcPct val="112000"/>
              </a:lnSpc>
              <a:spcBef>
                <a:spcPts val="790"/>
              </a:spcBef>
              <a:spcAft>
                <a:spcPts val="800"/>
              </a:spcAft>
            </a:pPr>
            <a:r>
              <a:rPr sz="2000" b="1">
                <a:solidFill>
                  <a:srgbClr val="520978"/>
                </a:solidFill>
                <a:latin typeface="Montserrat"/>
              </a:rPr>
              <a:t>Краткое описание решения</a:t>
            </a:r>
            <a:endParaRPr sz="1600">
              <a:latin typeface="Arial"/>
              <a:cs typeface="Arial"/>
            </a:endParaRP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  <a:latin typeface="Montserrat"/>
              </a:rPr>
              <a:t>CRM, которая ведёт взаимодействие с вузом от первого контакта до результата: Kanban по этапам workflow, карточка взаимодействия, задачи, комментарии, файлы и отчёты с экспортом.</a:t>
            </a:r>
          </a:p>
        </p:txBody>
      </p:sp>
      <p:sp>
        <p:nvSpPr>
          <p:cNvPr id="9" name="object 9"/>
          <p:cNvSpPr txBox="1"/>
          <p:nvPr/>
        </p:nvSpPr>
        <p:spPr>
          <a:xfrm>
            <a:off x="6900418" y="4464677"/>
            <a:ext cx="3645535" cy="895350"/>
          </a:xfrm>
          <a:prstGeom prst="rect">
            <a:avLst/>
          </a:prstGeom>
        </p:spPr>
        <p:txBody>
          <a:bodyPr wrap="square" lIns="0" tIns="120015" rIns="0" bIns="0" rtlCol="0" vert="horz">
            <a:spAutoFit/>
          </a:bodyPr>
          <a:lstStyle/>
          <a:p>
            <a:pPr marL="12700" algn="l">
              <a:lnSpc>
                <a:spcPct val="112000"/>
              </a:lnSpc>
              <a:spcBef>
                <a:spcPts val="945"/>
              </a:spcBef>
              <a:spcAft>
                <a:spcPts val="800"/>
              </a:spcAft>
            </a:pPr>
            <a:r>
              <a:rPr sz="2000" b="1">
                <a:solidFill>
                  <a:srgbClr val="520978"/>
                </a:solidFill>
                <a:latin typeface="Montserrat"/>
              </a:rPr>
              <a:t>Уникальность решения</a:t>
            </a:r>
            <a:endParaRPr sz="1600">
              <a:latin typeface="Arial"/>
              <a:cs typeface="Arial"/>
            </a:endParaRP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  <a:latin typeface="Montserrat"/>
              </a:rPr>
              <a:t>Настраиваемый workflow: этапы, порядок и цвета меняет администратор без доработки кода. Отдельные воронки B2B (14 этапов) и B2C (4 этапа) с корректной фильтрацией в UI, API и отчётах.</a:t>
            </a:r>
          </a:p>
        </p:txBody>
      </p:sp>
      <p:sp>
        <p:nvSpPr>
          <p:cNvPr id="11" name="object 11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43180" rIns="0" bIns="0" rtlCol="0" vert="horz">
            <a:spAutoFit/>
          </a:bodyPr>
          <a:lstStyle/>
          <a:p>
            <a:pPr marL="62865">
              <a:lnSpc>
                <a:spcPct val="100000"/>
              </a:lnSpc>
              <a:spcBef>
                <a:spcPts val="340"/>
              </a:spcBef>
            </a:pPr>
            <a:r>
              <a:rPr sz="1200">
                <a:solidFill>
                  <a:srgbClr val="520978"/>
                </a:solidFill>
                <a:latin typeface="Montserrat"/>
              </a:rPr>
              <a:t>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0"/>
              <a:ext cx="12192000" cy="6857999"/>
            </a:xfrm>
            <a:prstGeom prst="rect">
              <a:avLst/>
            </a:prstGeom>
          </p:spPr>
        </p:pic>
        <p:sp>
          <p:nvSpPr>
            <p:cNvPr id="4" name="object 4"/>
            <p:cNvSpPr/>
            <p:nvPr/>
          </p:nvSpPr>
          <p:spPr>
            <a:xfrm>
              <a:off x="2651760" y="1520952"/>
              <a:ext cx="2192020" cy="4834255"/>
            </a:xfrm>
            <a:custGeom>
              <a:avLst/>
              <a:gdLst/>
              <a:ahLst/>
              <a:cxnLst/>
              <a:rect l="l" t="t" r="r" b="b"/>
              <a:pathLst>
                <a:path w="2192020" h="4834255">
                  <a:moveTo>
                    <a:pt x="1976247" y="0"/>
                  </a:moveTo>
                  <a:lnTo>
                    <a:pt x="215264" y="0"/>
                  </a:lnTo>
                  <a:lnTo>
                    <a:pt x="165911" y="5686"/>
                  </a:lnTo>
                  <a:lnTo>
                    <a:pt x="120603" y="21882"/>
                  </a:lnTo>
                  <a:lnTo>
                    <a:pt x="80634" y="47296"/>
                  </a:lnTo>
                  <a:lnTo>
                    <a:pt x="47296" y="80634"/>
                  </a:lnTo>
                  <a:lnTo>
                    <a:pt x="21882" y="120603"/>
                  </a:lnTo>
                  <a:lnTo>
                    <a:pt x="5686" y="165911"/>
                  </a:lnTo>
                  <a:lnTo>
                    <a:pt x="0" y="215264"/>
                  </a:lnTo>
                  <a:lnTo>
                    <a:pt x="0" y="4618901"/>
                  </a:lnTo>
                  <a:lnTo>
                    <a:pt x="5686" y="4668252"/>
                  </a:lnTo>
                  <a:lnTo>
                    <a:pt x="21882" y="4713554"/>
                  </a:lnTo>
                  <a:lnTo>
                    <a:pt x="47296" y="4753516"/>
                  </a:lnTo>
                  <a:lnTo>
                    <a:pt x="80634" y="4786846"/>
                  </a:lnTo>
                  <a:lnTo>
                    <a:pt x="120603" y="4812253"/>
                  </a:lnTo>
                  <a:lnTo>
                    <a:pt x="165911" y="4828443"/>
                  </a:lnTo>
                  <a:lnTo>
                    <a:pt x="215264" y="4834128"/>
                  </a:lnTo>
                  <a:lnTo>
                    <a:pt x="1976247" y="4834128"/>
                  </a:lnTo>
                  <a:lnTo>
                    <a:pt x="2025600" y="4828443"/>
                  </a:lnTo>
                  <a:lnTo>
                    <a:pt x="2070908" y="4812253"/>
                  </a:lnTo>
                  <a:lnTo>
                    <a:pt x="2110877" y="4786846"/>
                  </a:lnTo>
                  <a:lnTo>
                    <a:pt x="2144215" y="4753516"/>
                  </a:lnTo>
                  <a:lnTo>
                    <a:pt x="2169629" y="4713554"/>
                  </a:lnTo>
                  <a:lnTo>
                    <a:pt x="2185825" y="4668252"/>
                  </a:lnTo>
                  <a:lnTo>
                    <a:pt x="2191512" y="4618901"/>
                  </a:lnTo>
                  <a:lnTo>
                    <a:pt x="2191512" y="215264"/>
                  </a:lnTo>
                  <a:lnTo>
                    <a:pt x="2185825" y="165911"/>
                  </a:lnTo>
                  <a:lnTo>
                    <a:pt x="2169629" y="120603"/>
                  </a:lnTo>
                  <a:lnTo>
                    <a:pt x="2144215" y="80634"/>
                  </a:lnTo>
                  <a:lnTo>
                    <a:pt x="2110877" y="47296"/>
                  </a:lnTo>
                  <a:lnTo>
                    <a:pt x="2070908" y="21882"/>
                  </a:lnTo>
                  <a:lnTo>
                    <a:pt x="2025600" y="5686"/>
                  </a:lnTo>
                  <a:lnTo>
                    <a:pt x="1976247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6" name="object 6"/>
          <p:cNvSpPr txBox="1"/>
          <p:nvPr/>
        </p:nvSpPr>
        <p:spPr>
          <a:xfrm>
            <a:off x="2902966" y="3626053"/>
            <a:ext cx="1439545" cy="271145"/>
          </a:xfrm>
          <a:prstGeom prst="rect">
            <a:avLst/>
          </a:prstGeom>
        </p:spPr>
        <p:txBody>
          <a:bodyPr wrap="square" lIns="0" tIns="13970" rIns="0" bIns="0" rtlCol="0" vert="horz">
            <a:spAutoFit/>
          </a:bodyPr>
          <a:lstStyle/>
          <a:p>
            <a:pPr marL="12700" algn="l">
              <a:lnSpc>
                <a:spcPct val="112000"/>
              </a:lnSpc>
              <a:spcBef>
                <a:spcPts val="110"/>
              </a:spcBef>
              <a:spcAft>
                <a:spcPts val="0"/>
              </a:spcAft>
            </a:pPr>
            <a:r>
              <a:rPr sz="1400" b="1">
                <a:solidFill>
                  <a:srgbClr val="1C1D22"/>
                </a:solidFill>
                <a:latin typeface="Montserrat"/>
              </a:rPr>
              <a:t>Тимофей Кобзев</a:t>
            </a:r>
            <a:endParaRPr sz="1600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2902966" y="4263339"/>
            <a:ext cx="1655445" cy="702945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60655" indent="-147955" algn="l">
              <a:lnSpc>
                <a:spcPct val="112000"/>
              </a:lnSpc>
              <a:spcBef>
                <a:spcPts val="100"/>
              </a:spcBef>
              <a:spcAft>
                <a:spcPts val="200"/>
              </a:spcAft>
              <a:buClr>
                <a:srgbClr val="FF0052"/>
              </a:buClr>
              <a:buChar char="•"/>
              <a:tabLst>
                <a:tab pos="160655" algn="l"/>
              </a:tabLst>
            </a:pPr>
            <a:r>
              <a:rPr sz="1000" b="0">
                <a:solidFill>
                  <a:srgbClr val="3C1B50"/>
                </a:solidFill>
                <a:latin typeface="Montserrat"/>
              </a:rPr>
              <a:t>Frontend и дизайн-система</a:t>
            </a:r>
            <a:endParaRPr sz="1200">
              <a:latin typeface="Microsoft Sans Serif"/>
              <a:cs typeface="Microsoft Sans Serif"/>
            </a:endParaRP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0">
                <a:solidFill>
                  <a:srgbClr val="6B5B78"/>
                </a:solidFill>
                <a:latin typeface="Montserrat"/>
              </a:rPr>
              <a:t>Telegram: @T1mka_Z</a:t>
            </a:r>
          </a:p>
        </p:txBody>
      </p:sp>
      <p:grpSp>
        <p:nvGrpSpPr>
          <p:cNvPr id="16" name="object 16"/>
          <p:cNvGrpSpPr/>
          <p:nvPr/>
        </p:nvGrpSpPr>
        <p:grpSpPr>
          <a:xfrm>
            <a:off x="347472" y="323088"/>
            <a:ext cx="3950335" cy="6032500"/>
            <a:chOff x="347472" y="323088"/>
            <a:chExt cx="3950335" cy="6032500"/>
          </a:xfrm>
        </p:grpSpPr>
        <p:sp>
          <p:nvSpPr>
            <p:cNvPr id="17" name="object 17"/>
            <p:cNvSpPr/>
            <p:nvPr/>
          </p:nvSpPr>
          <p:spPr>
            <a:xfrm>
              <a:off x="347472" y="1520952"/>
              <a:ext cx="2192020" cy="4834255"/>
            </a:xfrm>
            <a:custGeom>
              <a:avLst/>
              <a:gdLst/>
              <a:ahLst/>
              <a:cxnLst/>
              <a:rect l="l" t="t" r="r" b="b"/>
              <a:pathLst>
                <a:path w="2192020" h="4834255">
                  <a:moveTo>
                    <a:pt x="1976247" y="0"/>
                  </a:moveTo>
                  <a:lnTo>
                    <a:pt x="215226" y="0"/>
                  </a:lnTo>
                  <a:lnTo>
                    <a:pt x="165875" y="5686"/>
                  </a:lnTo>
                  <a:lnTo>
                    <a:pt x="120573" y="21882"/>
                  </a:lnTo>
                  <a:lnTo>
                    <a:pt x="80611" y="47296"/>
                  </a:lnTo>
                  <a:lnTo>
                    <a:pt x="47281" y="80634"/>
                  </a:lnTo>
                  <a:lnTo>
                    <a:pt x="21874" y="120603"/>
                  </a:lnTo>
                  <a:lnTo>
                    <a:pt x="5684" y="165911"/>
                  </a:lnTo>
                  <a:lnTo>
                    <a:pt x="0" y="215264"/>
                  </a:lnTo>
                  <a:lnTo>
                    <a:pt x="0" y="4618901"/>
                  </a:lnTo>
                  <a:lnTo>
                    <a:pt x="5684" y="4668252"/>
                  </a:lnTo>
                  <a:lnTo>
                    <a:pt x="21874" y="4713554"/>
                  </a:lnTo>
                  <a:lnTo>
                    <a:pt x="47281" y="4753516"/>
                  </a:lnTo>
                  <a:lnTo>
                    <a:pt x="80611" y="4786846"/>
                  </a:lnTo>
                  <a:lnTo>
                    <a:pt x="120573" y="4812253"/>
                  </a:lnTo>
                  <a:lnTo>
                    <a:pt x="165875" y="4828443"/>
                  </a:lnTo>
                  <a:lnTo>
                    <a:pt x="215226" y="4834128"/>
                  </a:lnTo>
                  <a:lnTo>
                    <a:pt x="1976247" y="4834128"/>
                  </a:lnTo>
                  <a:lnTo>
                    <a:pt x="2025600" y="4828443"/>
                  </a:lnTo>
                  <a:lnTo>
                    <a:pt x="2070908" y="4812253"/>
                  </a:lnTo>
                  <a:lnTo>
                    <a:pt x="2110877" y="4786846"/>
                  </a:lnTo>
                  <a:lnTo>
                    <a:pt x="2144215" y="4753516"/>
                  </a:lnTo>
                  <a:lnTo>
                    <a:pt x="2169629" y="4713554"/>
                  </a:lnTo>
                  <a:lnTo>
                    <a:pt x="2185825" y="4668252"/>
                  </a:lnTo>
                  <a:lnTo>
                    <a:pt x="2191512" y="4618901"/>
                  </a:lnTo>
                  <a:lnTo>
                    <a:pt x="2191512" y="215264"/>
                  </a:lnTo>
                  <a:lnTo>
                    <a:pt x="2185825" y="165911"/>
                  </a:lnTo>
                  <a:lnTo>
                    <a:pt x="2169629" y="120603"/>
                  </a:lnTo>
                  <a:lnTo>
                    <a:pt x="2144215" y="80634"/>
                  </a:lnTo>
                  <a:lnTo>
                    <a:pt x="2110877" y="47296"/>
                  </a:lnTo>
                  <a:lnTo>
                    <a:pt x="2070908" y="21882"/>
                  </a:lnTo>
                  <a:lnTo>
                    <a:pt x="2025600" y="5686"/>
                  </a:lnTo>
                  <a:lnTo>
                    <a:pt x="1976247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8" name="object 18"/>
            <p:cNvSpPr/>
            <p:nvPr/>
          </p:nvSpPr>
          <p:spPr>
            <a:xfrm>
              <a:off x="347472" y="323088"/>
              <a:ext cx="3950335" cy="622300"/>
            </a:xfrm>
            <a:custGeom>
              <a:avLst/>
              <a:gdLst/>
              <a:ahLst/>
              <a:cxnLst/>
              <a:rect l="l" t="t" r="r" b="b"/>
              <a:pathLst>
                <a:path w="3950335" h="622300">
                  <a:moveTo>
                    <a:pt x="3833876" y="0"/>
                  </a:moveTo>
                  <a:lnTo>
                    <a:pt x="116306" y="0"/>
                  </a:lnTo>
                  <a:lnTo>
                    <a:pt x="71033" y="9140"/>
                  </a:lnTo>
                  <a:lnTo>
                    <a:pt x="34064" y="34067"/>
                  </a:lnTo>
                  <a:lnTo>
                    <a:pt x="9139" y="71044"/>
                  </a:lnTo>
                  <a:lnTo>
                    <a:pt x="0" y="116331"/>
                  </a:lnTo>
                  <a:lnTo>
                    <a:pt x="0" y="505459"/>
                  </a:lnTo>
                  <a:lnTo>
                    <a:pt x="9139" y="550747"/>
                  </a:lnTo>
                  <a:lnTo>
                    <a:pt x="34064" y="587724"/>
                  </a:lnTo>
                  <a:lnTo>
                    <a:pt x="71033" y="612651"/>
                  </a:lnTo>
                  <a:lnTo>
                    <a:pt x="116306" y="621791"/>
                  </a:lnTo>
                  <a:lnTo>
                    <a:pt x="3833876" y="621791"/>
                  </a:lnTo>
                  <a:lnTo>
                    <a:pt x="3879163" y="612651"/>
                  </a:lnTo>
                  <a:lnTo>
                    <a:pt x="3916140" y="587724"/>
                  </a:lnTo>
                  <a:lnTo>
                    <a:pt x="3941067" y="550747"/>
                  </a:lnTo>
                  <a:lnTo>
                    <a:pt x="3950207" y="505459"/>
                  </a:lnTo>
                  <a:lnTo>
                    <a:pt x="3950207" y="116331"/>
                  </a:lnTo>
                  <a:lnTo>
                    <a:pt x="3941067" y="71044"/>
                  </a:lnTo>
                  <a:lnTo>
                    <a:pt x="3916140" y="34067"/>
                  </a:lnTo>
                  <a:lnTo>
                    <a:pt x="3879163" y="9140"/>
                  </a:lnTo>
                  <a:lnTo>
                    <a:pt x="3833876" y="0"/>
                  </a:lnTo>
                  <a:close/>
                </a:path>
              </a:pathLst>
            </a:custGeom>
            <a:solidFill>
              <a:srgbClr val="FF0052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20" name="object 20"/>
          <p:cNvSpPr txBox="1"/>
          <p:nvPr/>
        </p:nvSpPr>
        <p:spPr>
          <a:xfrm>
            <a:off x="597204" y="3626053"/>
            <a:ext cx="1436370" cy="271145"/>
          </a:xfrm>
          <a:prstGeom prst="rect">
            <a:avLst/>
          </a:prstGeom>
        </p:spPr>
        <p:txBody>
          <a:bodyPr wrap="square" lIns="0" tIns="13970" rIns="0" bIns="0" rtlCol="0" vert="horz">
            <a:spAutoFit/>
          </a:bodyPr>
          <a:lstStyle/>
          <a:p>
            <a:pPr marL="12700" algn="l">
              <a:lnSpc>
                <a:spcPct val="112000"/>
              </a:lnSpc>
              <a:spcBef>
                <a:spcPts val="110"/>
              </a:spcBef>
              <a:spcAft>
                <a:spcPts val="0"/>
              </a:spcAft>
            </a:pPr>
            <a:r>
              <a:rPr sz="1400" b="1">
                <a:solidFill>
                  <a:srgbClr val="1C1D22"/>
                </a:solidFill>
                <a:latin typeface="Montserrat"/>
              </a:rPr>
              <a:t>Сабадаш Павел</a:t>
            </a:r>
            <a:endParaRPr sz="1600">
              <a:latin typeface="Arial"/>
              <a:cs typeface="Arial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4956047" y="1520952"/>
            <a:ext cx="2194560" cy="4834255"/>
          </a:xfrm>
          <a:custGeom>
            <a:avLst/>
            <a:gdLst/>
            <a:ahLst/>
            <a:cxnLst/>
            <a:rect l="l" t="t" r="r" b="b"/>
            <a:pathLst>
              <a:path w="2194559" h="4834255">
                <a:moveTo>
                  <a:pt x="1979041" y="0"/>
                </a:moveTo>
                <a:lnTo>
                  <a:pt x="215518" y="0"/>
                </a:lnTo>
                <a:lnTo>
                  <a:pt x="166111" y="5693"/>
                </a:lnTo>
                <a:lnTo>
                  <a:pt x="120751" y="21910"/>
                </a:lnTo>
                <a:lnTo>
                  <a:pt x="80734" y="47356"/>
                </a:lnTo>
                <a:lnTo>
                  <a:pt x="47356" y="80734"/>
                </a:lnTo>
                <a:lnTo>
                  <a:pt x="21910" y="120751"/>
                </a:lnTo>
                <a:lnTo>
                  <a:pt x="5693" y="166111"/>
                </a:lnTo>
                <a:lnTo>
                  <a:pt x="0" y="215519"/>
                </a:lnTo>
                <a:lnTo>
                  <a:pt x="0" y="4618596"/>
                </a:lnTo>
                <a:lnTo>
                  <a:pt x="5693" y="4668016"/>
                </a:lnTo>
                <a:lnTo>
                  <a:pt x="21910" y="4713382"/>
                </a:lnTo>
                <a:lnTo>
                  <a:pt x="47356" y="4753401"/>
                </a:lnTo>
                <a:lnTo>
                  <a:pt x="80734" y="4786778"/>
                </a:lnTo>
                <a:lnTo>
                  <a:pt x="120751" y="4812221"/>
                </a:lnTo>
                <a:lnTo>
                  <a:pt x="166111" y="4828435"/>
                </a:lnTo>
                <a:lnTo>
                  <a:pt x="215518" y="4834128"/>
                </a:lnTo>
                <a:lnTo>
                  <a:pt x="1979041" y="4834128"/>
                </a:lnTo>
                <a:lnTo>
                  <a:pt x="2028448" y="4828435"/>
                </a:lnTo>
                <a:lnTo>
                  <a:pt x="2073808" y="4812221"/>
                </a:lnTo>
                <a:lnTo>
                  <a:pt x="2113825" y="4786778"/>
                </a:lnTo>
                <a:lnTo>
                  <a:pt x="2147203" y="4753401"/>
                </a:lnTo>
                <a:lnTo>
                  <a:pt x="2172649" y="4713382"/>
                </a:lnTo>
                <a:lnTo>
                  <a:pt x="2188866" y="4668016"/>
                </a:lnTo>
                <a:lnTo>
                  <a:pt x="2194559" y="4618596"/>
                </a:lnTo>
                <a:lnTo>
                  <a:pt x="2194559" y="215519"/>
                </a:lnTo>
                <a:lnTo>
                  <a:pt x="2188866" y="166111"/>
                </a:lnTo>
                <a:lnTo>
                  <a:pt x="2172649" y="120751"/>
                </a:lnTo>
                <a:lnTo>
                  <a:pt x="2147203" y="80734"/>
                </a:lnTo>
                <a:lnTo>
                  <a:pt x="2113825" y="47356"/>
                </a:lnTo>
                <a:lnTo>
                  <a:pt x="2073808" y="21910"/>
                </a:lnTo>
                <a:lnTo>
                  <a:pt x="2028448" y="5693"/>
                </a:lnTo>
                <a:lnTo>
                  <a:pt x="1979041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/>
        </p:txBody>
      </p:sp>
      <p:sp>
        <p:nvSpPr>
          <p:cNvPr id="9" name="object 9"/>
          <p:cNvSpPr txBox="1"/>
          <p:nvPr/>
        </p:nvSpPr>
        <p:spPr>
          <a:xfrm>
            <a:off x="5209159" y="3626053"/>
            <a:ext cx="1436370" cy="271145"/>
          </a:xfrm>
          <a:prstGeom prst="rect">
            <a:avLst/>
          </a:prstGeom>
        </p:spPr>
        <p:txBody>
          <a:bodyPr wrap="square" lIns="0" tIns="13970" rIns="0" bIns="0" rtlCol="0" vert="horz">
            <a:spAutoFit/>
          </a:bodyPr>
          <a:lstStyle/>
          <a:p>
            <a:pPr marL="12700" algn="l">
              <a:lnSpc>
                <a:spcPct val="112000"/>
              </a:lnSpc>
              <a:spcBef>
                <a:spcPts val="110"/>
              </a:spcBef>
              <a:spcAft>
                <a:spcPts val="0"/>
              </a:spcAft>
            </a:pPr>
            <a:r>
              <a:rPr sz="1400" b="1">
                <a:solidFill>
                  <a:srgbClr val="1C1D22"/>
                </a:solidFill>
                <a:latin typeface="Montserrat"/>
              </a:rPr>
              <a:t>Сазонов Александр</a:t>
            </a:r>
            <a:endParaRPr sz="1600">
              <a:latin typeface="Arial"/>
              <a:cs typeface="Arial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5209159" y="4263339"/>
            <a:ext cx="1654810" cy="702945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60020" indent="-147320" algn="l">
              <a:lnSpc>
                <a:spcPct val="112000"/>
              </a:lnSpc>
              <a:spcBef>
                <a:spcPts val="100"/>
              </a:spcBef>
              <a:spcAft>
                <a:spcPts val="200"/>
              </a:spcAft>
              <a:buClr>
                <a:srgbClr val="FF0052"/>
              </a:buClr>
              <a:buChar char="•"/>
              <a:tabLst>
                <a:tab pos="160020" algn="l"/>
              </a:tabLst>
            </a:pPr>
            <a:r>
              <a:rPr sz="1000" b="0">
                <a:solidFill>
                  <a:srgbClr val="3C1B50"/>
                </a:solidFill>
                <a:latin typeface="Montserrat"/>
              </a:rPr>
              <a:t>Backend, API и интеграции</a:t>
            </a:r>
            <a:endParaRPr sz="1200">
              <a:latin typeface="Microsoft Sans Serif"/>
              <a:cs typeface="Microsoft Sans Serif"/>
            </a:endParaRP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0">
                <a:solidFill>
                  <a:srgbClr val="6B5B78"/>
                </a:solidFill>
                <a:latin typeface="Montserrat"/>
              </a:rPr>
              <a:t>Telegram: @saneik_me</a:t>
            </a:r>
          </a:p>
        </p:txBody>
      </p:sp>
      <p:sp>
        <p:nvSpPr>
          <p:cNvPr id="10" name="object 10"/>
          <p:cNvSpPr/>
          <p:nvPr/>
        </p:nvSpPr>
        <p:spPr>
          <a:xfrm>
            <a:off x="7263383" y="1520952"/>
            <a:ext cx="2192020" cy="4834255"/>
          </a:xfrm>
          <a:custGeom>
            <a:avLst/>
            <a:gdLst/>
            <a:ahLst/>
            <a:cxnLst/>
            <a:rect l="l" t="t" r="r" b="b"/>
            <a:pathLst>
              <a:path w="2192020" h="4834255">
                <a:moveTo>
                  <a:pt x="1976247" y="0"/>
                </a:moveTo>
                <a:lnTo>
                  <a:pt x="215265" y="0"/>
                </a:lnTo>
                <a:lnTo>
                  <a:pt x="165911" y="5686"/>
                </a:lnTo>
                <a:lnTo>
                  <a:pt x="120603" y="21882"/>
                </a:lnTo>
                <a:lnTo>
                  <a:pt x="80634" y="47296"/>
                </a:lnTo>
                <a:lnTo>
                  <a:pt x="47296" y="80634"/>
                </a:lnTo>
                <a:lnTo>
                  <a:pt x="21882" y="120603"/>
                </a:lnTo>
                <a:lnTo>
                  <a:pt x="5686" y="165911"/>
                </a:lnTo>
                <a:lnTo>
                  <a:pt x="0" y="215264"/>
                </a:lnTo>
                <a:lnTo>
                  <a:pt x="0" y="4618901"/>
                </a:lnTo>
                <a:lnTo>
                  <a:pt x="5686" y="4668252"/>
                </a:lnTo>
                <a:lnTo>
                  <a:pt x="21882" y="4713554"/>
                </a:lnTo>
                <a:lnTo>
                  <a:pt x="47296" y="4753516"/>
                </a:lnTo>
                <a:lnTo>
                  <a:pt x="80634" y="4786846"/>
                </a:lnTo>
                <a:lnTo>
                  <a:pt x="120603" y="4812253"/>
                </a:lnTo>
                <a:lnTo>
                  <a:pt x="165911" y="4828443"/>
                </a:lnTo>
                <a:lnTo>
                  <a:pt x="215265" y="4834128"/>
                </a:lnTo>
                <a:lnTo>
                  <a:pt x="1976247" y="4834128"/>
                </a:lnTo>
                <a:lnTo>
                  <a:pt x="2025600" y="4828443"/>
                </a:lnTo>
                <a:lnTo>
                  <a:pt x="2070908" y="4812253"/>
                </a:lnTo>
                <a:lnTo>
                  <a:pt x="2110877" y="4786846"/>
                </a:lnTo>
                <a:lnTo>
                  <a:pt x="2144215" y="4753516"/>
                </a:lnTo>
                <a:lnTo>
                  <a:pt x="2169629" y="4713554"/>
                </a:lnTo>
                <a:lnTo>
                  <a:pt x="2185825" y="4668252"/>
                </a:lnTo>
                <a:lnTo>
                  <a:pt x="2191512" y="4618901"/>
                </a:lnTo>
                <a:lnTo>
                  <a:pt x="2191512" y="215264"/>
                </a:lnTo>
                <a:lnTo>
                  <a:pt x="2185825" y="165911"/>
                </a:lnTo>
                <a:lnTo>
                  <a:pt x="2169629" y="120603"/>
                </a:lnTo>
                <a:lnTo>
                  <a:pt x="2144215" y="80634"/>
                </a:lnTo>
                <a:lnTo>
                  <a:pt x="2110877" y="47296"/>
                </a:lnTo>
                <a:lnTo>
                  <a:pt x="2070908" y="21882"/>
                </a:lnTo>
                <a:lnTo>
                  <a:pt x="2025600" y="5686"/>
                </a:lnTo>
                <a:lnTo>
                  <a:pt x="1976247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2" name="object 12"/>
          <p:cNvSpPr txBox="1"/>
          <p:nvPr/>
        </p:nvSpPr>
        <p:spPr>
          <a:xfrm>
            <a:off x="7514970" y="3626053"/>
            <a:ext cx="1436370" cy="271145"/>
          </a:xfrm>
          <a:prstGeom prst="rect">
            <a:avLst/>
          </a:prstGeom>
        </p:spPr>
        <p:txBody>
          <a:bodyPr wrap="square" lIns="0" tIns="13970" rIns="0" bIns="0" rtlCol="0" vert="horz">
            <a:spAutoFit/>
          </a:bodyPr>
          <a:lstStyle/>
          <a:p>
            <a:pPr marL="12700" algn="l">
              <a:lnSpc>
                <a:spcPct val="112000"/>
              </a:lnSpc>
              <a:spcBef>
                <a:spcPts val="110"/>
              </a:spcBef>
              <a:spcAft>
                <a:spcPts val="0"/>
              </a:spcAft>
            </a:pPr>
            <a:r>
              <a:rPr sz="1400" b="1">
                <a:solidFill>
                  <a:srgbClr val="1C1D22"/>
                </a:solidFill>
                <a:latin typeface="Montserrat"/>
              </a:rPr>
              <a:t>Иван Мельников</a:t>
            </a:r>
            <a:endParaRPr sz="1600">
              <a:latin typeface="Arial"/>
              <a:cs typeface="Arial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7514970" y="4263339"/>
            <a:ext cx="1654810" cy="702945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60020" indent="-147320" algn="l">
              <a:lnSpc>
                <a:spcPct val="112000"/>
              </a:lnSpc>
              <a:spcBef>
                <a:spcPts val="100"/>
              </a:spcBef>
              <a:spcAft>
                <a:spcPts val="200"/>
              </a:spcAft>
              <a:buClr>
                <a:srgbClr val="FF0052"/>
              </a:buClr>
              <a:buChar char="•"/>
              <a:tabLst>
                <a:tab pos="160020" algn="l"/>
              </a:tabLst>
            </a:pPr>
            <a:r>
              <a:rPr sz="1000" b="0">
                <a:solidFill>
                  <a:srgbClr val="3C1B50"/>
                </a:solidFill>
                <a:latin typeface="Montserrat"/>
              </a:rPr>
              <a:t>Данные, отчёты и экспорт</a:t>
            </a:r>
            <a:endParaRPr sz="1200">
              <a:latin typeface="Microsoft Sans Serif"/>
              <a:cs typeface="Microsoft Sans Serif"/>
            </a:endParaRP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0">
                <a:solidFill>
                  <a:srgbClr val="6B5B78"/>
                </a:solidFill>
                <a:latin typeface="Montserrat"/>
              </a:rPr>
              <a:t>Telegram: @GooolZZ</a:t>
            </a:r>
          </a:p>
        </p:txBody>
      </p:sp>
      <p:sp>
        <p:nvSpPr>
          <p:cNvPr id="13" name="object 13"/>
          <p:cNvSpPr/>
          <p:nvPr/>
        </p:nvSpPr>
        <p:spPr>
          <a:xfrm>
            <a:off x="9567671" y="1520952"/>
            <a:ext cx="2192020" cy="4834255"/>
          </a:xfrm>
          <a:custGeom>
            <a:avLst/>
            <a:gdLst/>
            <a:ahLst/>
            <a:cxnLst/>
            <a:rect l="l" t="t" r="r" b="b"/>
            <a:pathLst>
              <a:path w="2192020" h="4834255">
                <a:moveTo>
                  <a:pt x="1976247" y="0"/>
                </a:moveTo>
                <a:lnTo>
                  <a:pt x="215264" y="0"/>
                </a:lnTo>
                <a:lnTo>
                  <a:pt x="165911" y="5686"/>
                </a:lnTo>
                <a:lnTo>
                  <a:pt x="120603" y="21882"/>
                </a:lnTo>
                <a:lnTo>
                  <a:pt x="80634" y="47296"/>
                </a:lnTo>
                <a:lnTo>
                  <a:pt x="47296" y="80634"/>
                </a:lnTo>
                <a:lnTo>
                  <a:pt x="21882" y="120603"/>
                </a:lnTo>
                <a:lnTo>
                  <a:pt x="5686" y="165911"/>
                </a:lnTo>
                <a:lnTo>
                  <a:pt x="0" y="215264"/>
                </a:lnTo>
                <a:lnTo>
                  <a:pt x="0" y="4618901"/>
                </a:lnTo>
                <a:lnTo>
                  <a:pt x="5686" y="4668252"/>
                </a:lnTo>
                <a:lnTo>
                  <a:pt x="21882" y="4713554"/>
                </a:lnTo>
                <a:lnTo>
                  <a:pt x="47296" y="4753516"/>
                </a:lnTo>
                <a:lnTo>
                  <a:pt x="80634" y="4786846"/>
                </a:lnTo>
                <a:lnTo>
                  <a:pt x="120603" y="4812253"/>
                </a:lnTo>
                <a:lnTo>
                  <a:pt x="165911" y="4828443"/>
                </a:lnTo>
                <a:lnTo>
                  <a:pt x="215264" y="4834128"/>
                </a:lnTo>
                <a:lnTo>
                  <a:pt x="1976247" y="4834128"/>
                </a:lnTo>
                <a:lnTo>
                  <a:pt x="2025600" y="4828443"/>
                </a:lnTo>
                <a:lnTo>
                  <a:pt x="2070908" y="4812253"/>
                </a:lnTo>
                <a:lnTo>
                  <a:pt x="2110877" y="4786846"/>
                </a:lnTo>
                <a:lnTo>
                  <a:pt x="2144215" y="4753516"/>
                </a:lnTo>
                <a:lnTo>
                  <a:pt x="2169629" y="4713554"/>
                </a:lnTo>
                <a:lnTo>
                  <a:pt x="2185825" y="4668252"/>
                </a:lnTo>
                <a:lnTo>
                  <a:pt x="2191511" y="4618901"/>
                </a:lnTo>
                <a:lnTo>
                  <a:pt x="2191511" y="215264"/>
                </a:lnTo>
                <a:lnTo>
                  <a:pt x="2185825" y="165911"/>
                </a:lnTo>
                <a:lnTo>
                  <a:pt x="2169629" y="120603"/>
                </a:lnTo>
                <a:lnTo>
                  <a:pt x="2144215" y="80634"/>
                </a:lnTo>
                <a:lnTo>
                  <a:pt x="2110877" y="47296"/>
                </a:lnTo>
                <a:lnTo>
                  <a:pt x="2070908" y="21882"/>
                </a:lnTo>
                <a:lnTo>
                  <a:pt x="2025600" y="5686"/>
                </a:lnTo>
                <a:lnTo>
                  <a:pt x="1976247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5" name="object 15"/>
          <p:cNvSpPr txBox="1"/>
          <p:nvPr/>
        </p:nvSpPr>
        <p:spPr>
          <a:xfrm>
            <a:off x="9820782" y="3626053"/>
            <a:ext cx="1436370" cy="271145"/>
          </a:xfrm>
          <a:prstGeom prst="rect">
            <a:avLst/>
          </a:prstGeom>
        </p:spPr>
        <p:txBody>
          <a:bodyPr wrap="square" lIns="0" tIns="13970" rIns="0" bIns="0" rtlCol="0" vert="horz">
            <a:spAutoFit/>
          </a:bodyPr>
          <a:lstStyle/>
          <a:p>
            <a:pPr marL="12700" algn="l">
              <a:lnSpc>
                <a:spcPct val="112000"/>
              </a:lnSpc>
              <a:spcBef>
                <a:spcPts val="110"/>
              </a:spcBef>
              <a:spcAft>
                <a:spcPts val="0"/>
              </a:spcAft>
            </a:pPr>
            <a:r>
              <a:rPr sz="1400" b="1">
                <a:solidFill>
                  <a:srgbClr val="1C1D22"/>
                </a:solidFill>
                <a:latin typeface="Montserrat"/>
              </a:rPr>
              <a:t>Никита Предков</a:t>
            </a:r>
            <a:endParaRPr sz="1600">
              <a:latin typeface="Arial"/>
              <a:cs typeface="Arial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597204" y="4263339"/>
            <a:ext cx="1654810" cy="702945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60020" indent="-147320" algn="l">
              <a:lnSpc>
                <a:spcPct val="112000"/>
              </a:lnSpc>
              <a:spcBef>
                <a:spcPts val="100"/>
              </a:spcBef>
              <a:spcAft>
                <a:spcPts val="200"/>
              </a:spcAft>
              <a:buClr>
                <a:srgbClr val="FF0052"/>
              </a:buClr>
              <a:buChar char="•"/>
              <a:tabLst>
                <a:tab pos="160020" algn="l"/>
              </a:tabLst>
            </a:pPr>
            <a:r>
              <a:rPr sz="1000" b="0">
                <a:solidFill>
                  <a:srgbClr val="3C1B50"/>
                </a:solidFill>
                <a:latin typeface="Montserrat"/>
              </a:rPr>
              <a:t>Капитан, backend и инфраструктура</a:t>
            </a:r>
            <a:endParaRPr sz="1200">
              <a:latin typeface="Microsoft Sans Serif"/>
              <a:cs typeface="Microsoft Sans Serif"/>
            </a:endParaRP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0">
                <a:solidFill>
                  <a:srgbClr val="6B5B78"/>
                </a:solidFill>
                <a:latin typeface="Montserrat"/>
              </a:rPr>
              <a:t>Telegram: @Pasha1778</a:t>
            </a:r>
          </a:p>
        </p:txBody>
      </p:sp>
      <p:sp>
        <p:nvSpPr>
          <p:cNvPr id="14" name="object 14"/>
          <p:cNvSpPr txBox="1"/>
          <p:nvPr/>
        </p:nvSpPr>
        <p:spPr>
          <a:xfrm>
            <a:off x="9820782" y="4263339"/>
            <a:ext cx="1654810" cy="702945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60020" indent="-147320" algn="l">
              <a:lnSpc>
                <a:spcPct val="112000"/>
              </a:lnSpc>
              <a:spcBef>
                <a:spcPts val="100"/>
              </a:spcBef>
              <a:spcAft>
                <a:spcPts val="200"/>
              </a:spcAft>
              <a:buClr>
                <a:srgbClr val="FF0052"/>
              </a:buClr>
              <a:buChar char="•"/>
              <a:tabLst>
                <a:tab pos="160020" algn="l"/>
              </a:tabLst>
            </a:pPr>
            <a:r>
              <a:rPr sz="1000" b="0">
                <a:solidFill>
                  <a:srgbClr val="3C1B50"/>
                </a:solidFill>
                <a:latin typeface="Montserrat"/>
              </a:rPr>
              <a:t>QA, документация и питч</a:t>
            </a:r>
            <a:endParaRPr sz="1200">
              <a:latin typeface="Microsoft Sans Serif"/>
              <a:cs typeface="Microsoft Sans Serif"/>
            </a:endParaRP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0">
                <a:solidFill>
                  <a:srgbClr val="6B5B78"/>
                </a:solidFill>
                <a:latin typeface="Montserrat"/>
              </a:rPr>
              <a:t>Telegram: @pretuan</a:t>
            </a:r>
          </a:p>
        </p:txBody>
      </p:sp>
      <p:sp>
        <p:nvSpPr>
          <p:cNvPr id="21" name="object 21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43180" rIns="0" bIns="0" rtlCol="0" vert="horz">
            <a:spAutoFit/>
          </a:bodyPr>
          <a:lstStyle/>
          <a:p>
            <a:pPr marL="62865">
              <a:lnSpc>
                <a:spcPct val="100000"/>
              </a:lnSpc>
              <a:spcBef>
                <a:spcPts val="340"/>
              </a:spcBef>
            </a:pPr>
            <a:r>
              <a:rPr sz="1200">
                <a:solidFill>
                  <a:srgbClr val="520978"/>
                </a:solidFill>
                <a:latin typeface="Montserrat"/>
              </a:rPr>
              <a:t>3</a:t>
            </a:r>
          </a:p>
        </p:txBody>
      </p:sp>
      <p:sp>
        <p:nvSpPr>
          <p:cNvPr id="22" name="Oval 21"/>
          <p:cNvSpPr/>
          <p:nvPr/>
        </p:nvSpPr>
        <p:spPr>
          <a:xfrm>
            <a:off x="597204" y="2057400"/>
            <a:ext cx="1325880" cy="1325880"/>
          </a:xfrm>
          <a:prstGeom prst="ellipse">
            <a:avLst/>
          </a:prstGeom>
          <a:solidFill>
            <a:srgbClr val="FF0053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Montserrat"/>
              </a:rPr>
              <a:t>СП</a:t>
            </a:r>
          </a:p>
        </p:txBody>
      </p:sp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1252" y="5074920"/>
            <a:ext cx="713232" cy="713232"/>
          </a:xfrm>
          <a:prstGeom prst="rect">
            <a:avLst/>
          </a:prstGeom>
        </p:spPr>
      </p:pic>
      <p:sp>
        <p:nvSpPr>
          <p:cNvPr id="24" name="Oval 23"/>
          <p:cNvSpPr/>
          <p:nvPr/>
        </p:nvSpPr>
        <p:spPr>
          <a:xfrm>
            <a:off x="2902966" y="2057400"/>
            <a:ext cx="1325880" cy="1325880"/>
          </a:xfrm>
          <a:prstGeom prst="ellipse">
            <a:avLst/>
          </a:prstGeom>
          <a:solidFill>
            <a:srgbClr val="FF0053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Montserrat"/>
              </a:rPr>
              <a:t>ТК</a:t>
            </a:r>
          </a:p>
        </p:txBody>
      </p:sp>
      <p:pic>
        <p:nvPicPr>
          <p:cNvPr id="25" name="Picture 24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87013" y="5074920"/>
            <a:ext cx="713232" cy="713232"/>
          </a:xfrm>
          <a:prstGeom prst="rect">
            <a:avLst/>
          </a:prstGeom>
        </p:spPr>
      </p:pic>
      <p:sp>
        <p:nvSpPr>
          <p:cNvPr id="26" name="Oval 25"/>
          <p:cNvSpPr/>
          <p:nvPr/>
        </p:nvSpPr>
        <p:spPr>
          <a:xfrm>
            <a:off x="5209159" y="2057400"/>
            <a:ext cx="1325880" cy="1325880"/>
          </a:xfrm>
          <a:prstGeom prst="ellipse">
            <a:avLst/>
          </a:prstGeom>
          <a:solidFill>
            <a:srgbClr val="FF0053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Montserrat"/>
              </a:rPr>
              <a:t>СА</a:t>
            </a:r>
          </a:p>
        </p:txBody>
      </p:sp>
      <p:pic>
        <p:nvPicPr>
          <p:cNvPr id="27" name="Picture 26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93207" y="5074920"/>
            <a:ext cx="713232" cy="713232"/>
          </a:xfrm>
          <a:prstGeom prst="rect">
            <a:avLst/>
          </a:prstGeom>
        </p:spPr>
      </p:pic>
      <p:sp>
        <p:nvSpPr>
          <p:cNvPr id="28" name="Oval 27"/>
          <p:cNvSpPr/>
          <p:nvPr/>
        </p:nvSpPr>
        <p:spPr>
          <a:xfrm>
            <a:off x="7514970" y="2057400"/>
            <a:ext cx="1325880" cy="1325880"/>
          </a:xfrm>
          <a:prstGeom prst="ellipse">
            <a:avLst/>
          </a:prstGeom>
          <a:solidFill>
            <a:srgbClr val="FF0053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Montserrat"/>
              </a:rPr>
              <a:t>ИМ</a:t>
            </a:r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99018" y="5074920"/>
            <a:ext cx="713232" cy="713232"/>
          </a:xfrm>
          <a:prstGeom prst="rect">
            <a:avLst/>
          </a:prstGeom>
        </p:spPr>
      </p:pic>
      <p:sp>
        <p:nvSpPr>
          <p:cNvPr id="30" name="Oval 29"/>
          <p:cNvSpPr/>
          <p:nvPr/>
        </p:nvSpPr>
        <p:spPr>
          <a:xfrm>
            <a:off x="9820782" y="2057400"/>
            <a:ext cx="1325880" cy="1325880"/>
          </a:xfrm>
          <a:prstGeom prst="ellipse">
            <a:avLst/>
          </a:prstGeom>
          <a:solidFill>
            <a:srgbClr val="FF0053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Montserrat"/>
              </a:rPr>
              <a:t>НП</a:t>
            </a:r>
          </a:p>
        </p:txBody>
      </p:sp>
      <p:pic>
        <p:nvPicPr>
          <p:cNvPr id="31" name="Picture 30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204830" y="5074920"/>
            <a:ext cx="713232" cy="713232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594360" y="60350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6B5B78"/>
                </a:solidFill>
                <a:latin typeface="Montserrat"/>
              </a:rPr>
              <a:t>QR-код ведёт на профиль участника в Telegram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0"/>
              <a:ext cx="12192000" cy="6857999"/>
            </a:xfrm>
            <a:prstGeom prst="rect">
              <a:avLst/>
            </a:prstGeom>
          </p:spPr>
        </p:pic>
        <p:sp>
          <p:nvSpPr>
            <p:cNvPr id="4" name="object 4"/>
            <p:cNvSpPr/>
            <p:nvPr/>
          </p:nvSpPr>
          <p:spPr>
            <a:xfrm>
              <a:off x="347472" y="323088"/>
              <a:ext cx="3950335" cy="622300"/>
            </a:xfrm>
            <a:custGeom>
              <a:avLst/>
              <a:gdLst/>
              <a:ahLst/>
              <a:cxnLst/>
              <a:rect l="l" t="t" r="r" b="b"/>
              <a:pathLst>
                <a:path w="3950335" h="622300">
                  <a:moveTo>
                    <a:pt x="3833876" y="0"/>
                  </a:moveTo>
                  <a:lnTo>
                    <a:pt x="116306" y="0"/>
                  </a:lnTo>
                  <a:lnTo>
                    <a:pt x="71033" y="9140"/>
                  </a:lnTo>
                  <a:lnTo>
                    <a:pt x="34064" y="34067"/>
                  </a:lnTo>
                  <a:lnTo>
                    <a:pt x="9139" y="71044"/>
                  </a:lnTo>
                  <a:lnTo>
                    <a:pt x="0" y="116331"/>
                  </a:lnTo>
                  <a:lnTo>
                    <a:pt x="0" y="505459"/>
                  </a:lnTo>
                  <a:lnTo>
                    <a:pt x="9139" y="550747"/>
                  </a:lnTo>
                  <a:lnTo>
                    <a:pt x="34064" y="587724"/>
                  </a:lnTo>
                  <a:lnTo>
                    <a:pt x="71033" y="612651"/>
                  </a:lnTo>
                  <a:lnTo>
                    <a:pt x="116306" y="621791"/>
                  </a:lnTo>
                  <a:lnTo>
                    <a:pt x="3833876" y="621791"/>
                  </a:lnTo>
                  <a:lnTo>
                    <a:pt x="3879163" y="612651"/>
                  </a:lnTo>
                  <a:lnTo>
                    <a:pt x="3916140" y="587724"/>
                  </a:lnTo>
                  <a:lnTo>
                    <a:pt x="3941067" y="550747"/>
                  </a:lnTo>
                  <a:lnTo>
                    <a:pt x="3950207" y="505459"/>
                  </a:lnTo>
                  <a:lnTo>
                    <a:pt x="3950207" y="116331"/>
                  </a:lnTo>
                  <a:lnTo>
                    <a:pt x="3941067" y="71044"/>
                  </a:lnTo>
                  <a:lnTo>
                    <a:pt x="3916140" y="34067"/>
                  </a:lnTo>
                  <a:lnTo>
                    <a:pt x="3879163" y="9140"/>
                  </a:lnTo>
                  <a:lnTo>
                    <a:pt x="3833876" y="0"/>
                  </a:lnTo>
                  <a:close/>
                </a:path>
              </a:pathLst>
            </a:custGeom>
            <a:solidFill>
              <a:srgbClr val="FF0052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5" name="object 5"/>
          <p:cNvSpPr txBox="1"/>
          <p:nvPr/>
        </p:nvSpPr>
        <p:spPr>
          <a:xfrm>
            <a:off x="868680" y="1225296"/>
            <a:ext cx="10424160" cy="1371600"/>
          </a:xfrm>
          <a:prstGeom prst="rect">
            <a:avLst/>
          </a:prstGeom>
        </p:spPr>
        <p:txBody>
          <a:bodyPr wrap="square" lIns="0" tIns="121920" rIns="0" bIns="0" rtlCol="0" vert="horz">
            <a:spAutoFit/>
          </a:bodyPr>
          <a:lstStyle/>
          <a:p>
            <a:pPr marL="12700" algn="l">
              <a:lnSpc>
                <a:spcPct val="112000"/>
              </a:lnSpc>
              <a:spcBef>
                <a:spcPts val="960"/>
              </a:spcBef>
              <a:spcAft>
                <a:spcPts val="500"/>
              </a:spcAft>
            </a:pPr>
            <a:r>
              <a:rPr sz="1500" b="1">
                <a:solidFill>
                  <a:srgbClr val="520978"/>
                </a:solidFill>
                <a:latin typeface="Montserrat"/>
              </a:rPr>
              <a:t>Краткая история команды</a:t>
            </a:r>
            <a:endParaRPr sz="1400">
              <a:latin typeface="Arial"/>
              <a:cs typeface="Arial"/>
            </a:endParaRP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0">
                <a:solidFill>
                  <a:srgbClr val="1C1D22"/>
                </a:solidFill>
                <a:latin typeface="Montserrat"/>
              </a:rPr>
              <a:t>Команда сложилась на хакатоне ЛЦТ 2026: backend, frontend, аналитика, отчёты и QA. Роли распределили по сильным сторонам, работали итерациями с ежедневной синхронизацией.</a:t>
            </a:r>
          </a:p>
        </p:txBody>
      </p:sp>
      <p:sp>
        <p:nvSpPr>
          <p:cNvPr id="7" name="object 7"/>
          <p:cNvSpPr txBox="1"/>
          <p:nvPr/>
        </p:nvSpPr>
        <p:spPr>
          <a:xfrm>
            <a:off x="868680" y="2852928"/>
            <a:ext cx="10424160" cy="1371600"/>
          </a:xfrm>
          <a:prstGeom prst="rect">
            <a:avLst/>
          </a:prstGeom>
        </p:spPr>
        <p:txBody>
          <a:bodyPr wrap="square" lIns="0" tIns="12065" rIns="0" bIns="0" rtlCol="0" vert="horz">
            <a:spAutoFit/>
          </a:bodyPr>
          <a:lstStyle/>
          <a:p>
            <a:pPr marL="12700" algn="l">
              <a:lnSpc>
                <a:spcPct val="112000"/>
              </a:lnSpc>
              <a:spcBef>
                <a:spcPts val="95"/>
              </a:spcBef>
              <a:spcAft>
                <a:spcPts val="500"/>
              </a:spcAft>
            </a:pPr>
            <a:r>
              <a:rPr sz="1500" b="1">
                <a:solidFill>
                  <a:srgbClr val="520978"/>
                </a:solidFill>
                <a:latin typeface="Montserrat"/>
              </a:rPr>
              <a:t>Почему выбрали эту задачу</a:t>
            </a:r>
            <a:endParaRPr sz="1400">
              <a:latin typeface="Arial"/>
              <a:cs typeface="Arial"/>
            </a:endParaRP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0">
                <a:solidFill>
                  <a:srgbClr val="1C1D22"/>
                </a:solidFill>
                <a:latin typeface="Montserrat"/>
              </a:rPr>
              <a:t>Задача ИТ Школы — про реальный процесс, а не учебный кейс: взаимодействие с вузами живёт в таблицах и чатах. Хотелось собрать это в один прозрачный контур.</a:t>
            </a:r>
          </a:p>
        </p:txBody>
      </p:sp>
      <p:sp>
        <p:nvSpPr>
          <p:cNvPr id="8" name="object 8"/>
          <p:cNvSpPr/>
          <p:nvPr/>
        </p:nvSpPr>
        <p:spPr>
          <a:xfrm>
            <a:off x="624840" y="1109472"/>
            <a:ext cx="11233150" cy="3298190"/>
          </a:xfrm>
          <a:custGeom>
            <a:avLst/>
            <a:gdLst/>
            <a:ahLst/>
            <a:cxnLst/>
            <a:rect l="l" t="t" r="r" b="b"/>
            <a:pathLst>
              <a:path w="11233150" h="3298190">
                <a:moveTo>
                  <a:pt x="0" y="1636776"/>
                </a:moveTo>
                <a:lnTo>
                  <a:pt x="11233150" y="1636776"/>
                </a:lnTo>
              </a:path>
              <a:path w="11233150" h="3298190">
                <a:moveTo>
                  <a:pt x="0" y="3297935"/>
                </a:moveTo>
                <a:lnTo>
                  <a:pt x="11233150" y="3297935"/>
                </a:lnTo>
              </a:path>
              <a:path w="11233150" h="3298190">
                <a:moveTo>
                  <a:pt x="0" y="0"/>
                </a:moveTo>
                <a:lnTo>
                  <a:pt x="11233150" y="0"/>
                </a:lnTo>
              </a:path>
            </a:pathLst>
          </a:custGeom>
          <a:ln w="6096">
            <a:solidFill>
              <a:srgbClr val="FF0052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9" name="object 9"/>
          <p:cNvSpPr txBox="1"/>
          <p:nvPr/>
        </p:nvSpPr>
        <p:spPr>
          <a:xfrm>
            <a:off x="11676633" y="1289050"/>
            <a:ext cx="220979" cy="238125"/>
          </a:xfrm>
          <a:prstGeom prst="rect">
            <a:avLst/>
          </a:prstGeom>
        </p:spPr>
        <p:txBody>
          <a:bodyPr wrap="square" lIns="0" tIns="114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dirty="0" sz="1400" spc="-25" b="1">
                <a:solidFill>
                  <a:srgbClr val="520977"/>
                </a:solidFill>
                <a:latin typeface="Montserrat"/>
                <a:cs typeface="Arial"/>
              </a:rPr>
              <a:t>01</a:t>
            </a:r>
            <a:endParaRPr sz="1400">
              <a:latin typeface="Arial"/>
              <a:cs typeface="Arial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11649202" y="2931109"/>
            <a:ext cx="220979" cy="238125"/>
          </a:xfrm>
          <a:prstGeom prst="rect">
            <a:avLst/>
          </a:prstGeom>
        </p:spPr>
        <p:txBody>
          <a:bodyPr wrap="square" lIns="0" tIns="1206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 sz="1400" spc="-25" b="1">
                <a:solidFill>
                  <a:srgbClr val="520977"/>
                </a:solidFill>
                <a:latin typeface="Montserrat"/>
                <a:cs typeface="Arial"/>
              </a:rPr>
              <a:t>02</a:t>
            </a:r>
            <a:endParaRPr sz="1400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868680" y="4535424"/>
            <a:ext cx="10424160" cy="137160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 marR="2652395" algn="l">
              <a:lnSpc>
                <a:spcPct val="112000"/>
              </a:lnSpc>
              <a:spcBef>
                <a:spcPts val="100"/>
              </a:spcBef>
              <a:spcAft>
                <a:spcPts val="500"/>
              </a:spcAft>
            </a:pPr>
            <a:r>
              <a:rPr sz="1500" b="1">
                <a:solidFill>
                  <a:srgbClr val="520978"/>
                </a:solidFill>
                <a:latin typeface="Montserrat"/>
              </a:rPr>
              <a:t>Сложности и вызовы</a:t>
            </a:r>
            <a:endParaRPr sz="1400">
              <a:latin typeface="Arial"/>
              <a:cs typeface="Arial"/>
            </a:endParaRP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0">
                <a:solidFill>
                  <a:srgbClr val="1C1D22"/>
                </a:solidFill>
                <a:latin typeface="Montserrat"/>
              </a:rPr>
              <a:t>Свести две разные воронки — B2B (14 этапов) и B2C (4 этапа) — так, чтобы фильтры, создание заявок и отчёты не путали их между собой. Отдельно занимались версткой PDF-отчётов и контрастом тёмной темы.</a:t>
            </a:r>
          </a:p>
        </p:txBody>
      </p:sp>
      <p:sp>
        <p:nvSpPr>
          <p:cNvPr id="11" name="object 11"/>
          <p:cNvSpPr txBox="1"/>
          <p:nvPr/>
        </p:nvSpPr>
        <p:spPr>
          <a:xfrm>
            <a:off x="11649202" y="4603750"/>
            <a:ext cx="220979" cy="238125"/>
          </a:xfrm>
          <a:prstGeom prst="rect">
            <a:avLst/>
          </a:prstGeom>
        </p:spPr>
        <p:txBody>
          <a:bodyPr wrap="square" lIns="0" tIns="114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dirty="0" sz="1400" spc="-25" b="1">
                <a:solidFill>
                  <a:srgbClr val="520977"/>
                </a:solidFill>
                <a:latin typeface="Montserrat"/>
                <a:cs typeface="Arial"/>
              </a:rPr>
              <a:t>03</a:t>
            </a:r>
            <a:endParaRPr sz="1400">
              <a:latin typeface="Arial"/>
              <a:cs typeface="Arial"/>
            </a:endParaRPr>
          </a:p>
        </p:txBody>
      </p:sp>
      <p:sp>
        <p:nvSpPr>
          <p:cNvPr id="12" name="object 12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43180" rIns="0" bIns="0" rtlCol="0" vert="horz">
            <a:spAutoFit/>
          </a:bodyPr>
          <a:lstStyle/>
          <a:p>
            <a:pPr marL="62865">
              <a:lnSpc>
                <a:spcPct val="100000"/>
              </a:lnSpc>
              <a:spcBef>
                <a:spcPts val="340"/>
              </a:spcBef>
            </a:pPr>
            <a:r>
              <a:rPr sz="1200">
                <a:solidFill>
                  <a:srgbClr val="520978"/>
                </a:solidFill>
                <a:latin typeface="Montserrat"/>
              </a:rPr>
              <a:t>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/>
        </p:spPr>
        <p:txBody>
          <a:bodyPr wrap="square" lIns="0" tIns="72974" rIns="0" bIns="0" rtlCol="0" vert="horz">
            <a:spAutoFit/>
          </a:bodyPr>
          <a:lstStyle/>
          <a:p>
            <a:pPr marL="14604">
              <a:lnSpc>
                <a:spcPct val="100000"/>
              </a:lnSpc>
              <a:spcBef>
                <a:spcPts val="95"/>
              </a:spcBef>
            </a:pPr>
            <a:r>
              <a:rPr dirty="0">
                <a:latin typeface="Montserrat"/>
              </a:rPr>
              <a:t>КОРОТКО</a:t>
            </a:r>
            <a:r>
              <a:rPr dirty="0" spc="-65">
                <a:latin typeface="Montserrat"/>
              </a:rPr>
              <a:t> </a:t>
            </a:r>
            <a:r>
              <a:rPr dirty="0">
                <a:latin typeface="Montserrat"/>
              </a:rPr>
              <a:t>О</a:t>
            </a:r>
            <a:r>
              <a:rPr dirty="0" spc="-20">
                <a:latin typeface="Montserrat"/>
              </a:rPr>
              <a:t> </a:t>
            </a:r>
            <a:r>
              <a:rPr dirty="0" spc="-10">
                <a:latin typeface="Montserrat"/>
              </a:rPr>
              <a:t>РЕШЕНИИ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656945" y="1329316"/>
            <a:ext cx="4420870" cy="1031240"/>
          </a:xfrm>
          <a:prstGeom prst="rect">
            <a:avLst/>
          </a:prstGeom>
        </p:spPr>
        <p:txBody>
          <a:bodyPr wrap="square" lIns="0" tIns="186690" rIns="0" bIns="0" rtlCol="0" vert="horz">
            <a:spAutoFit/>
          </a:bodyPr>
          <a:lstStyle/>
          <a:p>
            <a:pPr marL="12700" algn="l">
              <a:lnSpc>
                <a:spcPct val="112000"/>
              </a:lnSpc>
              <a:spcBef>
                <a:spcPts val="1470"/>
              </a:spcBef>
              <a:spcAft>
                <a:spcPts val="600"/>
              </a:spcAft>
            </a:pPr>
            <a:r>
              <a:rPr sz="1500" b="1">
                <a:solidFill>
                  <a:srgbClr val="520978"/>
                </a:solidFill>
                <a:latin typeface="Montserrat"/>
              </a:rPr>
              <a:t>Техническая суть решения</a:t>
            </a:r>
            <a:endParaRPr sz="2000">
              <a:latin typeface="Arial"/>
              <a:cs typeface="Arial"/>
            </a:endParaRP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0">
                <a:solidFill>
                  <a:srgbClr val="1C1D22"/>
                </a:solidFill>
                <a:latin typeface="Montserrat"/>
              </a:rPr>
              <a:t>React 18 + TypeScript + Ant Design на клиенте; FastAPI, SQLAlchemy 2 (async), PostgreSQL и JWT на сервере. Вход через Keycloak (Code Flow + PKCE) или локальный JWT. Ролевой доступ и audit log для изменяющих операций.</a:t>
            </a:r>
          </a:p>
        </p:txBody>
      </p:sp>
      <p:sp>
        <p:nvSpPr>
          <p:cNvPr id="4" name="object 4"/>
          <p:cNvSpPr txBox="1"/>
          <p:nvPr/>
        </p:nvSpPr>
        <p:spPr>
          <a:xfrm>
            <a:off x="6593840" y="1329316"/>
            <a:ext cx="4436110" cy="1223010"/>
          </a:xfrm>
          <a:prstGeom prst="rect">
            <a:avLst/>
          </a:prstGeom>
        </p:spPr>
        <p:txBody>
          <a:bodyPr wrap="square" lIns="0" tIns="186690" rIns="0" bIns="0" rtlCol="0" vert="horz">
            <a:spAutoFit/>
          </a:bodyPr>
          <a:lstStyle/>
          <a:p>
            <a:pPr marL="12700" algn="l">
              <a:lnSpc>
                <a:spcPct val="112000"/>
              </a:lnSpc>
              <a:spcBef>
                <a:spcPts val="1470"/>
              </a:spcBef>
              <a:spcAft>
                <a:spcPts val="600"/>
              </a:spcAft>
            </a:pPr>
            <a:r>
              <a:rPr sz="1500" b="1">
                <a:solidFill>
                  <a:srgbClr val="520978"/>
                </a:solidFill>
                <a:latin typeface="Montserrat"/>
              </a:rPr>
              <a:t>Маркетинговая суть решения</a:t>
            </a:r>
            <a:endParaRPr sz="2000">
              <a:latin typeface="Arial"/>
              <a:cs typeface="Arial"/>
            </a:endParaRP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0">
                <a:solidFill>
                  <a:srgbClr val="1C1D22"/>
                </a:solidFill>
                <a:latin typeface="Montserrat"/>
              </a:rPr>
              <a:t>Продукт закрывает потребность ИТ Школы в управляемом взаимодействии с вузами и переносится на другие подразделения с похожим процессом: продажи, партнёрства, работа с филиалами.</a:t>
            </a:r>
          </a:p>
        </p:txBody>
      </p:sp>
      <p:sp>
        <p:nvSpPr>
          <p:cNvPr id="5" name="object 5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43180" rIns="0" bIns="0" rtlCol="0" vert="horz">
            <a:spAutoFit/>
          </a:bodyPr>
          <a:lstStyle/>
          <a:p>
            <a:pPr marL="62865">
              <a:lnSpc>
                <a:spcPct val="100000"/>
              </a:lnSpc>
              <a:spcBef>
                <a:spcPts val="340"/>
              </a:spcBef>
            </a:pPr>
            <a:r>
              <a:rPr sz="1200">
                <a:solidFill>
                  <a:srgbClr val="520978"/>
                </a:solidFill>
                <a:latin typeface="Montserrat"/>
              </a:rPr>
              <a:t>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0"/>
              <a:ext cx="12192000" cy="6857999"/>
            </a:xfrm>
            <a:prstGeom prst="rect">
              <a:avLst/>
            </a:prstGeom>
          </p:spPr>
        </p:pic>
        <p:sp>
          <p:nvSpPr>
            <p:cNvPr id="4" name="object 4"/>
            <p:cNvSpPr/>
            <p:nvPr/>
          </p:nvSpPr>
          <p:spPr>
            <a:xfrm>
              <a:off x="326136" y="1304544"/>
              <a:ext cx="11539855" cy="5050790"/>
            </a:xfrm>
            <a:custGeom>
              <a:avLst/>
              <a:gdLst/>
              <a:ahLst/>
              <a:cxnLst/>
              <a:rect l="l" t="t" r="r" b="b"/>
              <a:pathLst>
                <a:path w="11539855" h="5050790">
                  <a:moveTo>
                    <a:pt x="11189970" y="0"/>
                  </a:moveTo>
                  <a:lnTo>
                    <a:pt x="349796" y="0"/>
                  </a:lnTo>
                  <a:lnTo>
                    <a:pt x="302332" y="3192"/>
                  </a:lnTo>
                  <a:lnTo>
                    <a:pt x="256808" y="12493"/>
                  </a:lnTo>
                  <a:lnTo>
                    <a:pt x="213642" y="27485"/>
                  </a:lnTo>
                  <a:lnTo>
                    <a:pt x="173250" y="47751"/>
                  </a:lnTo>
                  <a:lnTo>
                    <a:pt x="136049" y="72876"/>
                  </a:lnTo>
                  <a:lnTo>
                    <a:pt x="102455" y="102441"/>
                  </a:lnTo>
                  <a:lnTo>
                    <a:pt x="72886" y="136030"/>
                  </a:lnTo>
                  <a:lnTo>
                    <a:pt x="47759" y="173228"/>
                  </a:lnTo>
                  <a:lnTo>
                    <a:pt x="27489" y="213615"/>
                  </a:lnTo>
                  <a:lnTo>
                    <a:pt x="12495" y="256778"/>
                  </a:lnTo>
                  <a:lnTo>
                    <a:pt x="3193" y="302297"/>
                  </a:lnTo>
                  <a:lnTo>
                    <a:pt x="0" y="349757"/>
                  </a:lnTo>
                  <a:lnTo>
                    <a:pt x="0" y="4700739"/>
                  </a:lnTo>
                  <a:lnTo>
                    <a:pt x="3193" y="4748203"/>
                  </a:lnTo>
                  <a:lnTo>
                    <a:pt x="12495" y="4793727"/>
                  </a:lnTo>
                  <a:lnTo>
                    <a:pt x="27489" y="4836893"/>
                  </a:lnTo>
                  <a:lnTo>
                    <a:pt x="47759" y="4877285"/>
                  </a:lnTo>
                  <a:lnTo>
                    <a:pt x="72886" y="4914486"/>
                  </a:lnTo>
                  <a:lnTo>
                    <a:pt x="102455" y="4948080"/>
                  </a:lnTo>
                  <a:lnTo>
                    <a:pt x="136049" y="4977649"/>
                  </a:lnTo>
                  <a:lnTo>
                    <a:pt x="173250" y="5002776"/>
                  </a:lnTo>
                  <a:lnTo>
                    <a:pt x="213642" y="5023046"/>
                  </a:lnTo>
                  <a:lnTo>
                    <a:pt x="256808" y="5038040"/>
                  </a:lnTo>
                  <a:lnTo>
                    <a:pt x="302332" y="5047342"/>
                  </a:lnTo>
                  <a:lnTo>
                    <a:pt x="349796" y="5050535"/>
                  </a:lnTo>
                  <a:lnTo>
                    <a:pt x="11189970" y="5050535"/>
                  </a:lnTo>
                  <a:lnTo>
                    <a:pt x="11237430" y="5047342"/>
                  </a:lnTo>
                  <a:lnTo>
                    <a:pt x="11282949" y="5038040"/>
                  </a:lnTo>
                  <a:lnTo>
                    <a:pt x="11326112" y="5023046"/>
                  </a:lnTo>
                  <a:lnTo>
                    <a:pt x="11366500" y="5002776"/>
                  </a:lnTo>
                  <a:lnTo>
                    <a:pt x="11403697" y="4977649"/>
                  </a:lnTo>
                  <a:lnTo>
                    <a:pt x="11437286" y="4948080"/>
                  </a:lnTo>
                  <a:lnTo>
                    <a:pt x="11466851" y="4914486"/>
                  </a:lnTo>
                  <a:lnTo>
                    <a:pt x="11491976" y="4877285"/>
                  </a:lnTo>
                  <a:lnTo>
                    <a:pt x="11512242" y="4836893"/>
                  </a:lnTo>
                  <a:lnTo>
                    <a:pt x="11527234" y="4793727"/>
                  </a:lnTo>
                  <a:lnTo>
                    <a:pt x="11536535" y="4748203"/>
                  </a:lnTo>
                  <a:lnTo>
                    <a:pt x="11539728" y="4700739"/>
                  </a:lnTo>
                  <a:lnTo>
                    <a:pt x="11539728" y="349757"/>
                  </a:lnTo>
                  <a:lnTo>
                    <a:pt x="11536535" y="302297"/>
                  </a:lnTo>
                  <a:lnTo>
                    <a:pt x="11527234" y="256778"/>
                  </a:lnTo>
                  <a:lnTo>
                    <a:pt x="11512242" y="213615"/>
                  </a:lnTo>
                  <a:lnTo>
                    <a:pt x="11491976" y="173227"/>
                  </a:lnTo>
                  <a:lnTo>
                    <a:pt x="11466851" y="136030"/>
                  </a:lnTo>
                  <a:lnTo>
                    <a:pt x="11437286" y="102441"/>
                  </a:lnTo>
                  <a:lnTo>
                    <a:pt x="11403697" y="72876"/>
                  </a:lnTo>
                  <a:lnTo>
                    <a:pt x="11366500" y="47751"/>
                  </a:lnTo>
                  <a:lnTo>
                    <a:pt x="11326112" y="27485"/>
                  </a:lnTo>
                  <a:lnTo>
                    <a:pt x="11282949" y="12493"/>
                  </a:lnTo>
                  <a:lnTo>
                    <a:pt x="11237430" y="3192"/>
                  </a:lnTo>
                  <a:lnTo>
                    <a:pt x="11189970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5" name="object 5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43180" rIns="0" bIns="0" rtlCol="0" vert="horz">
            <a:spAutoFit/>
          </a:bodyPr>
          <a:lstStyle/>
          <a:p>
            <a:pPr marL="62865">
              <a:lnSpc>
                <a:spcPct val="100000"/>
              </a:lnSpc>
              <a:spcBef>
                <a:spcPts val="340"/>
              </a:spcBef>
            </a:pPr>
            <a:r>
              <a:rPr sz="1200">
                <a:solidFill>
                  <a:srgbClr val="520978"/>
                </a:solidFill>
                <a:latin typeface="Montserrat"/>
              </a:rPr>
              <a:t>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9184" y="1307592"/>
            <a:ext cx="11539728" cy="50474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517904"/>
            <a:ext cx="4023360" cy="475488"/>
          </a:xfrm>
          <a:prstGeom prst="roundRect">
            <a:avLst>
              <a:gd name="adj" fmla="val 50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/>
            <a:r>
              <a:rPr sz="1300" b="1">
                <a:solidFill>
                  <a:srgbClr val="FFFFFF"/>
                </a:solidFill>
                <a:latin typeface="Montserrat"/>
              </a:rPr>
              <a:t>01 · Подробное описание решения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240280"/>
            <a:ext cx="3429000" cy="3703320"/>
          </a:xfrm>
          <a:prstGeom prst="roundRect">
            <a:avLst>
              <a:gd name="adj" fmla="val 6000"/>
            </a:avLst>
          </a:prstGeom>
          <a:solidFill>
            <a:srgbClr val="F7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05256" y="2450592"/>
            <a:ext cx="30175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300" b="1">
                <a:solidFill>
                  <a:srgbClr val="520978"/>
                </a:solidFill>
                <a:latin typeface="Montserrat"/>
              </a:rPr>
              <a:t>Kanban-доска взаимодействий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256" y="3127248"/>
            <a:ext cx="301752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100" b="0">
                <a:solidFill>
                  <a:srgbClr val="1C1D22"/>
                </a:solidFill>
                <a:latin typeface="Montserrat"/>
              </a:rPr>
              <a:t>•  Перемещение карточек между этапами (drag-and-drop)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100" b="0">
                <a:solidFill>
                  <a:srgbClr val="1C1D22"/>
                </a:solidFill>
                <a:latin typeface="Montserrat"/>
              </a:rPr>
              <a:t>•  Поиск по вузу и фильтр по ИТ-продукту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100" b="0">
                <a:solidFill>
                  <a:srgbClr val="1C1D22"/>
                </a:solidFill>
                <a:latin typeface="Montserrat"/>
              </a:rPr>
              <a:t>•  Отдельный выбор этапа на мобильной версии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8536" y="2240280"/>
            <a:ext cx="3429000" cy="3703320"/>
          </a:xfrm>
          <a:prstGeom prst="roundRect">
            <a:avLst>
              <a:gd name="adj" fmla="val 6000"/>
            </a:avLst>
          </a:prstGeom>
          <a:solidFill>
            <a:srgbClr val="F7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07992" y="2450592"/>
            <a:ext cx="30175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300" b="1">
                <a:solidFill>
                  <a:srgbClr val="520978"/>
                </a:solidFill>
                <a:latin typeface="Montserrat"/>
              </a:rPr>
              <a:t>Карточка взаимодействия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07992" y="3127248"/>
            <a:ext cx="301752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100" b="0">
                <a:solidFill>
                  <a:srgbClr val="1C1D22"/>
                </a:solidFill>
                <a:latin typeface="Montserrat"/>
              </a:rPr>
              <a:t>•  Вуз, продукт, направление и договор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100" b="0">
                <a:solidFill>
                  <a:srgbClr val="1C1D22"/>
                </a:solidFill>
                <a:latin typeface="Montserrat"/>
              </a:rPr>
              <a:t>•  Задачи со сроками и ответственными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100" b="0">
                <a:solidFill>
                  <a:srgbClr val="1C1D22"/>
                </a:solidFill>
                <a:latin typeface="Montserrat"/>
              </a:rPr>
              <a:t>•  Комментарии, файлы и история изменений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91271" y="2240280"/>
            <a:ext cx="3429000" cy="3703320"/>
          </a:xfrm>
          <a:prstGeom prst="roundRect">
            <a:avLst>
              <a:gd name="adj" fmla="val 6000"/>
            </a:avLst>
          </a:prstGeom>
          <a:solidFill>
            <a:srgbClr val="F7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10727" y="2450592"/>
            <a:ext cx="30175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300" b="1">
                <a:solidFill>
                  <a:srgbClr val="520978"/>
                </a:solidFill>
                <a:latin typeface="Montserrat"/>
              </a:rPr>
              <a:t>Управляемость и отчётность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10727" y="3127248"/>
            <a:ext cx="301752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100" b="0">
                <a:solidFill>
                  <a:srgbClr val="1C1D22"/>
                </a:solidFill>
                <a:latin typeface="Montserrat"/>
              </a:rPr>
              <a:t>•  Настройка этапов workflow администратором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100" b="0">
                <a:solidFill>
                  <a:srgbClr val="1C1D22"/>
                </a:solidFill>
                <a:latin typeface="Montserrat"/>
              </a:rPr>
              <a:t>•  Интеграция с LMS и CMS: dry-run и импорт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100" b="0">
                <a:solidFill>
                  <a:srgbClr val="1C1D22"/>
                </a:solidFill>
                <a:latin typeface="Montserrat"/>
              </a:rPr>
              <a:t>•  Экспорт отчётов в XLSX, XLS, PDF и JSON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0"/>
              <a:ext cx="12192000" cy="6857999"/>
            </a:xfrm>
            <a:prstGeom prst="rect">
              <a:avLst/>
            </a:prstGeom>
          </p:spPr>
        </p:pic>
        <p:sp>
          <p:nvSpPr>
            <p:cNvPr id="4" name="object 4"/>
            <p:cNvSpPr/>
            <p:nvPr/>
          </p:nvSpPr>
          <p:spPr>
            <a:xfrm>
              <a:off x="347472" y="323088"/>
              <a:ext cx="3108960" cy="622300"/>
            </a:xfrm>
            <a:custGeom>
              <a:avLst/>
              <a:gdLst/>
              <a:ahLst/>
              <a:cxnLst/>
              <a:rect l="l" t="t" r="r" b="b"/>
              <a:pathLst>
                <a:path w="3108960" h="622300">
                  <a:moveTo>
                    <a:pt x="2992628" y="0"/>
                  </a:moveTo>
                  <a:lnTo>
                    <a:pt x="116319" y="0"/>
                  </a:lnTo>
                  <a:lnTo>
                    <a:pt x="71039" y="9140"/>
                  </a:lnTo>
                  <a:lnTo>
                    <a:pt x="34066" y="34067"/>
                  </a:lnTo>
                  <a:lnTo>
                    <a:pt x="9139" y="71044"/>
                  </a:lnTo>
                  <a:lnTo>
                    <a:pt x="0" y="116331"/>
                  </a:lnTo>
                  <a:lnTo>
                    <a:pt x="0" y="505459"/>
                  </a:lnTo>
                  <a:lnTo>
                    <a:pt x="9139" y="550747"/>
                  </a:lnTo>
                  <a:lnTo>
                    <a:pt x="34066" y="587724"/>
                  </a:lnTo>
                  <a:lnTo>
                    <a:pt x="71039" y="612651"/>
                  </a:lnTo>
                  <a:lnTo>
                    <a:pt x="116319" y="621791"/>
                  </a:lnTo>
                  <a:lnTo>
                    <a:pt x="2992628" y="621791"/>
                  </a:lnTo>
                  <a:lnTo>
                    <a:pt x="3037915" y="612651"/>
                  </a:lnTo>
                  <a:lnTo>
                    <a:pt x="3074892" y="587724"/>
                  </a:lnTo>
                  <a:lnTo>
                    <a:pt x="3099819" y="550747"/>
                  </a:lnTo>
                  <a:lnTo>
                    <a:pt x="3108960" y="505459"/>
                  </a:lnTo>
                  <a:lnTo>
                    <a:pt x="3108960" y="116331"/>
                  </a:lnTo>
                  <a:lnTo>
                    <a:pt x="3099819" y="71044"/>
                  </a:lnTo>
                  <a:lnTo>
                    <a:pt x="3074892" y="34067"/>
                  </a:lnTo>
                  <a:lnTo>
                    <a:pt x="3037915" y="9140"/>
                  </a:lnTo>
                  <a:lnTo>
                    <a:pt x="2992628" y="0"/>
                  </a:lnTo>
                  <a:close/>
                </a:path>
              </a:pathLst>
            </a:custGeom>
            <a:solidFill>
              <a:srgbClr val="FF0052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5" name="object 5"/>
            <p:cNvSpPr/>
            <p:nvPr/>
          </p:nvSpPr>
          <p:spPr>
            <a:xfrm>
              <a:off x="347472" y="1520951"/>
              <a:ext cx="11497310" cy="4678680"/>
            </a:xfrm>
            <a:custGeom>
              <a:avLst/>
              <a:gdLst/>
              <a:ahLst/>
              <a:cxnLst/>
              <a:rect l="l" t="t" r="r" b="b"/>
              <a:pathLst>
                <a:path w="11497310" h="4678680">
                  <a:moveTo>
                    <a:pt x="2670048" y="262255"/>
                  </a:moveTo>
                  <a:lnTo>
                    <a:pt x="2665819" y="215099"/>
                  </a:lnTo>
                  <a:lnTo>
                    <a:pt x="2653639" y="170726"/>
                  </a:lnTo>
                  <a:lnTo>
                    <a:pt x="2634246" y="129870"/>
                  </a:lnTo>
                  <a:lnTo>
                    <a:pt x="2608389" y="93268"/>
                  </a:lnTo>
                  <a:lnTo>
                    <a:pt x="2576779" y="61658"/>
                  </a:lnTo>
                  <a:lnTo>
                    <a:pt x="2540177" y="35801"/>
                  </a:lnTo>
                  <a:lnTo>
                    <a:pt x="2499322" y="16408"/>
                  </a:lnTo>
                  <a:lnTo>
                    <a:pt x="2454948" y="4229"/>
                  </a:lnTo>
                  <a:lnTo>
                    <a:pt x="2407793" y="0"/>
                  </a:lnTo>
                  <a:lnTo>
                    <a:pt x="262229" y="0"/>
                  </a:lnTo>
                  <a:lnTo>
                    <a:pt x="215087" y="4229"/>
                  </a:lnTo>
                  <a:lnTo>
                    <a:pt x="170726" y="16408"/>
                  </a:lnTo>
                  <a:lnTo>
                    <a:pt x="129870" y="35801"/>
                  </a:lnTo>
                  <a:lnTo>
                    <a:pt x="93268" y="61658"/>
                  </a:lnTo>
                  <a:lnTo>
                    <a:pt x="61671" y="93268"/>
                  </a:lnTo>
                  <a:lnTo>
                    <a:pt x="35788" y="129870"/>
                  </a:lnTo>
                  <a:lnTo>
                    <a:pt x="16395" y="170726"/>
                  </a:lnTo>
                  <a:lnTo>
                    <a:pt x="4216" y="215099"/>
                  </a:lnTo>
                  <a:lnTo>
                    <a:pt x="0" y="262255"/>
                  </a:lnTo>
                  <a:lnTo>
                    <a:pt x="0" y="4416450"/>
                  </a:lnTo>
                  <a:lnTo>
                    <a:pt x="4216" y="4463593"/>
                  </a:lnTo>
                  <a:lnTo>
                    <a:pt x="16395" y="4507954"/>
                  </a:lnTo>
                  <a:lnTo>
                    <a:pt x="35788" y="4548810"/>
                  </a:lnTo>
                  <a:lnTo>
                    <a:pt x="61671" y="4585411"/>
                  </a:lnTo>
                  <a:lnTo>
                    <a:pt x="93268" y="4617009"/>
                  </a:lnTo>
                  <a:lnTo>
                    <a:pt x="129870" y="4642891"/>
                  </a:lnTo>
                  <a:lnTo>
                    <a:pt x="170726" y="4662284"/>
                  </a:lnTo>
                  <a:lnTo>
                    <a:pt x="215087" y="4674463"/>
                  </a:lnTo>
                  <a:lnTo>
                    <a:pt x="262229" y="4678680"/>
                  </a:lnTo>
                  <a:lnTo>
                    <a:pt x="2407793" y="4678680"/>
                  </a:lnTo>
                  <a:lnTo>
                    <a:pt x="2454948" y="4674463"/>
                  </a:lnTo>
                  <a:lnTo>
                    <a:pt x="2499322" y="4662284"/>
                  </a:lnTo>
                  <a:lnTo>
                    <a:pt x="2540177" y="4642891"/>
                  </a:lnTo>
                  <a:lnTo>
                    <a:pt x="2576779" y="4617009"/>
                  </a:lnTo>
                  <a:lnTo>
                    <a:pt x="2608389" y="4585411"/>
                  </a:lnTo>
                  <a:lnTo>
                    <a:pt x="2634246" y="4548810"/>
                  </a:lnTo>
                  <a:lnTo>
                    <a:pt x="2653639" y="4507954"/>
                  </a:lnTo>
                  <a:lnTo>
                    <a:pt x="2665819" y="4463593"/>
                  </a:lnTo>
                  <a:lnTo>
                    <a:pt x="2670048" y="4416450"/>
                  </a:lnTo>
                  <a:lnTo>
                    <a:pt x="2670048" y="262255"/>
                  </a:lnTo>
                  <a:close/>
                </a:path>
                <a:path w="11497310" h="4678680">
                  <a:moveTo>
                    <a:pt x="5614416" y="262509"/>
                  </a:moveTo>
                  <a:lnTo>
                    <a:pt x="5610187" y="215315"/>
                  </a:lnTo>
                  <a:lnTo>
                    <a:pt x="5597995" y="170891"/>
                  </a:lnTo>
                  <a:lnTo>
                    <a:pt x="5578576" y="129997"/>
                  </a:lnTo>
                  <a:lnTo>
                    <a:pt x="5552694" y="93357"/>
                  </a:lnTo>
                  <a:lnTo>
                    <a:pt x="5521058" y="61722"/>
                  </a:lnTo>
                  <a:lnTo>
                    <a:pt x="5484419" y="35839"/>
                  </a:lnTo>
                  <a:lnTo>
                    <a:pt x="5443525" y="16421"/>
                  </a:lnTo>
                  <a:lnTo>
                    <a:pt x="5399100" y="4229"/>
                  </a:lnTo>
                  <a:lnTo>
                    <a:pt x="5351907" y="0"/>
                  </a:lnTo>
                  <a:lnTo>
                    <a:pt x="3203829" y="0"/>
                  </a:lnTo>
                  <a:lnTo>
                    <a:pt x="3156623" y="4229"/>
                  </a:lnTo>
                  <a:lnTo>
                    <a:pt x="3112198" y="16421"/>
                  </a:lnTo>
                  <a:lnTo>
                    <a:pt x="3071304" y="35839"/>
                  </a:lnTo>
                  <a:lnTo>
                    <a:pt x="3034665" y="61722"/>
                  </a:lnTo>
                  <a:lnTo>
                    <a:pt x="3003029" y="93357"/>
                  </a:lnTo>
                  <a:lnTo>
                    <a:pt x="2977146" y="129997"/>
                  </a:lnTo>
                  <a:lnTo>
                    <a:pt x="2957728" y="170891"/>
                  </a:lnTo>
                  <a:lnTo>
                    <a:pt x="2945536" y="215315"/>
                  </a:lnTo>
                  <a:lnTo>
                    <a:pt x="2941307" y="262509"/>
                  </a:lnTo>
                  <a:lnTo>
                    <a:pt x="2941307" y="4416158"/>
                  </a:lnTo>
                  <a:lnTo>
                    <a:pt x="2945536" y="4463351"/>
                  </a:lnTo>
                  <a:lnTo>
                    <a:pt x="2957728" y="4507763"/>
                  </a:lnTo>
                  <a:lnTo>
                    <a:pt x="2977146" y="4548657"/>
                  </a:lnTo>
                  <a:lnTo>
                    <a:pt x="3003029" y="4585297"/>
                  </a:lnTo>
                  <a:lnTo>
                    <a:pt x="3034665" y="4616945"/>
                  </a:lnTo>
                  <a:lnTo>
                    <a:pt x="3071304" y="4642840"/>
                  </a:lnTo>
                  <a:lnTo>
                    <a:pt x="3112198" y="4662259"/>
                  </a:lnTo>
                  <a:lnTo>
                    <a:pt x="3156623" y="4674451"/>
                  </a:lnTo>
                  <a:lnTo>
                    <a:pt x="3203829" y="4678680"/>
                  </a:lnTo>
                  <a:lnTo>
                    <a:pt x="5351907" y="4678680"/>
                  </a:lnTo>
                  <a:lnTo>
                    <a:pt x="5399100" y="4674451"/>
                  </a:lnTo>
                  <a:lnTo>
                    <a:pt x="5443525" y="4662259"/>
                  </a:lnTo>
                  <a:lnTo>
                    <a:pt x="5484419" y="4642840"/>
                  </a:lnTo>
                  <a:lnTo>
                    <a:pt x="5521058" y="4616945"/>
                  </a:lnTo>
                  <a:lnTo>
                    <a:pt x="5552694" y="4585297"/>
                  </a:lnTo>
                  <a:lnTo>
                    <a:pt x="5578576" y="4548657"/>
                  </a:lnTo>
                  <a:lnTo>
                    <a:pt x="5597995" y="4507763"/>
                  </a:lnTo>
                  <a:lnTo>
                    <a:pt x="5610187" y="4463351"/>
                  </a:lnTo>
                  <a:lnTo>
                    <a:pt x="5614416" y="4416158"/>
                  </a:lnTo>
                  <a:lnTo>
                    <a:pt x="5614416" y="262509"/>
                  </a:lnTo>
                  <a:close/>
                </a:path>
                <a:path w="11497310" h="4678680">
                  <a:moveTo>
                    <a:pt x="8555736" y="262509"/>
                  </a:moveTo>
                  <a:lnTo>
                    <a:pt x="8551507" y="215315"/>
                  </a:lnTo>
                  <a:lnTo>
                    <a:pt x="8539315" y="170891"/>
                  </a:lnTo>
                  <a:lnTo>
                    <a:pt x="8519897" y="129997"/>
                  </a:lnTo>
                  <a:lnTo>
                    <a:pt x="8494014" y="93357"/>
                  </a:lnTo>
                  <a:lnTo>
                    <a:pt x="8462378" y="61722"/>
                  </a:lnTo>
                  <a:lnTo>
                    <a:pt x="8425739" y="35839"/>
                  </a:lnTo>
                  <a:lnTo>
                    <a:pt x="8384845" y="16421"/>
                  </a:lnTo>
                  <a:lnTo>
                    <a:pt x="8340420" y="4229"/>
                  </a:lnTo>
                  <a:lnTo>
                    <a:pt x="8293227" y="0"/>
                  </a:lnTo>
                  <a:lnTo>
                    <a:pt x="6145149" y="0"/>
                  </a:lnTo>
                  <a:lnTo>
                    <a:pt x="6097943" y="4229"/>
                  </a:lnTo>
                  <a:lnTo>
                    <a:pt x="6053518" y="16421"/>
                  </a:lnTo>
                  <a:lnTo>
                    <a:pt x="6012624" y="35839"/>
                  </a:lnTo>
                  <a:lnTo>
                    <a:pt x="5975985" y="61722"/>
                  </a:lnTo>
                  <a:lnTo>
                    <a:pt x="5944349" y="93357"/>
                  </a:lnTo>
                  <a:lnTo>
                    <a:pt x="5918466" y="129997"/>
                  </a:lnTo>
                  <a:lnTo>
                    <a:pt x="5899048" y="170891"/>
                  </a:lnTo>
                  <a:lnTo>
                    <a:pt x="5886856" y="215315"/>
                  </a:lnTo>
                  <a:lnTo>
                    <a:pt x="5882640" y="262509"/>
                  </a:lnTo>
                  <a:lnTo>
                    <a:pt x="5882640" y="4416158"/>
                  </a:lnTo>
                  <a:lnTo>
                    <a:pt x="5886856" y="4463351"/>
                  </a:lnTo>
                  <a:lnTo>
                    <a:pt x="5899048" y="4507763"/>
                  </a:lnTo>
                  <a:lnTo>
                    <a:pt x="5918466" y="4548657"/>
                  </a:lnTo>
                  <a:lnTo>
                    <a:pt x="5944349" y="4585297"/>
                  </a:lnTo>
                  <a:lnTo>
                    <a:pt x="5975985" y="4616945"/>
                  </a:lnTo>
                  <a:lnTo>
                    <a:pt x="6012624" y="4642840"/>
                  </a:lnTo>
                  <a:lnTo>
                    <a:pt x="6053518" y="4662259"/>
                  </a:lnTo>
                  <a:lnTo>
                    <a:pt x="6097943" y="4674451"/>
                  </a:lnTo>
                  <a:lnTo>
                    <a:pt x="6145149" y="4678680"/>
                  </a:lnTo>
                  <a:lnTo>
                    <a:pt x="8293227" y="4678680"/>
                  </a:lnTo>
                  <a:lnTo>
                    <a:pt x="8340420" y="4674451"/>
                  </a:lnTo>
                  <a:lnTo>
                    <a:pt x="8384845" y="4662259"/>
                  </a:lnTo>
                  <a:lnTo>
                    <a:pt x="8425739" y="4642840"/>
                  </a:lnTo>
                  <a:lnTo>
                    <a:pt x="8462378" y="4616945"/>
                  </a:lnTo>
                  <a:lnTo>
                    <a:pt x="8494014" y="4585297"/>
                  </a:lnTo>
                  <a:lnTo>
                    <a:pt x="8519897" y="4548657"/>
                  </a:lnTo>
                  <a:lnTo>
                    <a:pt x="8539315" y="4507763"/>
                  </a:lnTo>
                  <a:lnTo>
                    <a:pt x="8551507" y="4463351"/>
                  </a:lnTo>
                  <a:lnTo>
                    <a:pt x="8555736" y="4416158"/>
                  </a:lnTo>
                  <a:lnTo>
                    <a:pt x="8555736" y="262509"/>
                  </a:lnTo>
                  <a:close/>
                </a:path>
                <a:path w="11497310" h="4678680">
                  <a:moveTo>
                    <a:pt x="11497056" y="262255"/>
                  </a:moveTo>
                  <a:lnTo>
                    <a:pt x="11492827" y="215099"/>
                  </a:lnTo>
                  <a:lnTo>
                    <a:pt x="11480648" y="170726"/>
                  </a:lnTo>
                  <a:lnTo>
                    <a:pt x="11461255" y="129870"/>
                  </a:lnTo>
                  <a:lnTo>
                    <a:pt x="11435398" y="93268"/>
                  </a:lnTo>
                  <a:lnTo>
                    <a:pt x="11403787" y="61658"/>
                  </a:lnTo>
                  <a:lnTo>
                    <a:pt x="11367186" y="35801"/>
                  </a:lnTo>
                  <a:lnTo>
                    <a:pt x="11326330" y="16408"/>
                  </a:lnTo>
                  <a:lnTo>
                    <a:pt x="11281956" y="4229"/>
                  </a:lnTo>
                  <a:lnTo>
                    <a:pt x="11234801" y="0"/>
                  </a:lnTo>
                  <a:lnTo>
                    <a:pt x="9089263" y="0"/>
                  </a:lnTo>
                  <a:lnTo>
                    <a:pt x="9042095" y="4229"/>
                  </a:lnTo>
                  <a:lnTo>
                    <a:pt x="8997721" y="16408"/>
                  </a:lnTo>
                  <a:lnTo>
                    <a:pt x="8956865" y="35801"/>
                  </a:lnTo>
                  <a:lnTo>
                    <a:pt x="8920264" y="61658"/>
                  </a:lnTo>
                  <a:lnTo>
                    <a:pt x="8888654" y="93268"/>
                  </a:lnTo>
                  <a:lnTo>
                    <a:pt x="8862797" y="129870"/>
                  </a:lnTo>
                  <a:lnTo>
                    <a:pt x="8843404" y="170726"/>
                  </a:lnTo>
                  <a:lnTo>
                    <a:pt x="8831224" y="215099"/>
                  </a:lnTo>
                  <a:lnTo>
                    <a:pt x="8827008" y="262255"/>
                  </a:lnTo>
                  <a:lnTo>
                    <a:pt x="8827008" y="4416450"/>
                  </a:lnTo>
                  <a:lnTo>
                    <a:pt x="8831224" y="4463593"/>
                  </a:lnTo>
                  <a:lnTo>
                    <a:pt x="8843404" y="4507954"/>
                  </a:lnTo>
                  <a:lnTo>
                    <a:pt x="8862797" y="4548810"/>
                  </a:lnTo>
                  <a:lnTo>
                    <a:pt x="8888654" y="4585411"/>
                  </a:lnTo>
                  <a:lnTo>
                    <a:pt x="8920264" y="4617009"/>
                  </a:lnTo>
                  <a:lnTo>
                    <a:pt x="8956865" y="4642891"/>
                  </a:lnTo>
                  <a:lnTo>
                    <a:pt x="8997721" y="4662284"/>
                  </a:lnTo>
                  <a:lnTo>
                    <a:pt x="9042095" y="4674463"/>
                  </a:lnTo>
                  <a:lnTo>
                    <a:pt x="9089263" y="4678680"/>
                  </a:lnTo>
                  <a:lnTo>
                    <a:pt x="11234801" y="4678680"/>
                  </a:lnTo>
                  <a:lnTo>
                    <a:pt x="11281956" y="4674463"/>
                  </a:lnTo>
                  <a:lnTo>
                    <a:pt x="11326330" y="4662284"/>
                  </a:lnTo>
                  <a:lnTo>
                    <a:pt x="11367186" y="4642891"/>
                  </a:lnTo>
                  <a:lnTo>
                    <a:pt x="11403787" y="4617009"/>
                  </a:lnTo>
                  <a:lnTo>
                    <a:pt x="11435398" y="4585411"/>
                  </a:lnTo>
                  <a:lnTo>
                    <a:pt x="11461255" y="4548810"/>
                  </a:lnTo>
                  <a:lnTo>
                    <a:pt x="11480648" y="4507954"/>
                  </a:lnTo>
                  <a:lnTo>
                    <a:pt x="11492827" y="4463593"/>
                  </a:lnTo>
                  <a:lnTo>
                    <a:pt x="11497056" y="4416450"/>
                  </a:lnTo>
                  <a:lnTo>
                    <a:pt x="11497056" y="262255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6" name="object 6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43180" rIns="0" bIns="0" rtlCol="0" vert="horz">
            <a:spAutoFit/>
          </a:bodyPr>
          <a:lstStyle/>
          <a:p>
            <a:pPr marL="62865">
              <a:lnSpc>
                <a:spcPct val="100000"/>
              </a:lnSpc>
              <a:spcBef>
                <a:spcPts val="340"/>
              </a:spcBef>
            </a:pPr>
            <a:r>
              <a:rPr sz="1200">
                <a:solidFill>
                  <a:srgbClr val="520978"/>
                </a:solidFill>
                <a:latin typeface="Montserrat"/>
              </a:rPr>
              <a:t>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" y="320040"/>
            <a:ext cx="3657600" cy="475488"/>
          </a:xfrm>
          <a:prstGeom prst="roundRect">
            <a:avLst>
              <a:gd name="adj" fmla="val 50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/>
            <a:r>
              <a:rPr sz="1300" b="1">
                <a:solidFill>
                  <a:srgbClr val="FFFFFF"/>
                </a:solidFill>
                <a:latin typeface="Montserrat"/>
              </a:rPr>
              <a:t>05 · Уникальность решения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874519"/>
            <a:ext cx="107899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2000" b="1">
                <a:solidFill>
                  <a:srgbClr val="520978"/>
                </a:solidFill>
                <a:latin typeface="Montserrat"/>
              </a:rPr>
              <a:t>Настраиваемый workflow без доработки кода</a:t>
            </a:r>
          </a:p>
          <a:p>
            <a:pPr algn="l">
              <a:lnSpc>
                <a:spcPct val="112000"/>
              </a:lnSpc>
              <a:spcAft>
                <a:spcPts val="1400"/>
              </a:spcAft>
            </a:pPr>
            <a:r>
              <a:rPr sz="1300" b="0">
                <a:solidFill>
                  <a:srgbClr val="1C1D22"/>
                </a:solidFill>
                <a:latin typeface="Montserrat"/>
              </a:rPr>
              <a:t>Администратор сам добавляет и переименовывает этапы, задаёт цвет колонки, порядок и включение — процесс меняется вместе с бизнесом, а не вслед за релизом.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2000" b="1">
                <a:solidFill>
                  <a:srgbClr val="520978"/>
                </a:solidFill>
                <a:latin typeface="Montserrat"/>
              </a:rPr>
              <a:t>Две воронки в одном продукте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300" b="0">
                <a:solidFill>
                  <a:srgbClr val="1C1D22"/>
                </a:solidFill>
                <a:latin typeface="Montserrat"/>
              </a:rPr>
              <a:t>B2B строится на 14 этапах, B2C — на 4. Фильтры доски, создание заявок и отчёты учитывают scope, поэтому воронки не смешиваются ни в UI, ни в API.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5623560"/>
            <a:ext cx="10789920" cy="868680"/>
          </a:xfrm>
          <a:prstGeom prst="roundRect">
            <a:avLst>
              <a:gd name="adj" fmla="val 6000"/>
            </a:avLst>
          </a:prstGeom>
          <a:solidFill>
            <a:srgbClr val="F7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5742432"/>
            <a:ext cx="10332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00" b="1">
                <a:solidFill>
                  <a:srgbClr val="520978"/>
                </a:solidFill>
                <a:latin typeface="Montserrat"/>
              </a:rPr>
              <a:t>Планы по развитию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6B5B78"/>
                </a:solidFill>
                <a:latin typeface="Montserrat"/>
              </a:rPr>
              <a:t>Браузерный smoke-тест сценариев · нагрузка Locust на стенде · резервное восстановление в CI · подтверждение контура хранения данных в РФ · перенос production после согласования.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0"/>
              <a:ext cx="12192000" cy="6857999"/>
            </a:xfrm>
            <a:prstGeom prst="rect">
              <a:avLst/>
            </a:prstGeom>
          </p:spPr>
        </p:pic>
        <p:sp>
          <p:nvSpPr>
            <p:cNvPr id="4" name="object 4"/>
            <p:cNvSpPr/>
            <p:nvPr/>
          </p:nvSpPr>
          <p:spPr>
            <a:xfrm>
              <a:off x="4421123" y="1522475"/>
              <a:ext cx="3398520" cy="4678680"/>
            </a:xfrm>
            <a:custGeom>
              <a:avLst/>
              <a:gdLst/>
              <a:ahLst/>
              <a:cxnLst/>
              <a:rect l="l" t="t" r="r" b="b"/>
              <a:pathLst>
                <a:path w="3398520" h="4678680">
                  <a:moveTo>
                    <a:pt x="3064764" y="0"/>
                  </a:moveTo>
                  <a:lnTo>
                    <a:pt x="333755" y="0"/>
                  </a:lnTo>
                  <a:lnTo>
                    <a:pt x="284447" y="3619"/>
                  </a:lnTo>
                  <a:lnTo>
                    <a:pt x="237381" y="14135"/>
                  </a:lnTo>
                  <a:lnTo>
                    <a:pt x="193075" y="31028"/>
                  </a:lnTo>
                  <a:lnTo>
                    <a:pt x="152045" y="53783"/>
                  </a:lnTo>
                  <a:lnTo>
                    <a:pt x="114808" y="81882"/>
                  </a:lnTo>
                  <a:lnTo>
                    <a:pt x="81882" y="114808"/>
                  </a:lnTo>
                  <a:lnTo>
                    <a:pt x="53783" y="152045"/>
                  </a:lnTo>
                  <a:lnTo>
                    <a:pt x="31028" y="193075"/>
                  </a:lnTo>
                  <a:lnTo>
                    <a:pt x="14135" y="237381"/>
                  </a:lnTo>
                  <a:lnTo>
                    <a:pt x="3619" y="284447"/>
                  </a:lnTo>
                  <a:lnTo>
                    <a:pt x="0" y="333756"/>
                  </a:lnTo>
                  <a:lnTo>
                    <a:pt x="0" y="4344911"/>
                  </a:lnTo>
                  <a:lnTo>
                    <a:pt x="3619" y="4394234"/>
                  </a:lnTo>
                  <a:lnTo>
                    <a:pt x="14135" y="4441309"/>
                  </a:lnTo>
                  <a:lnTo>
                    <a:pt x="31028" y="4485621"/>
                  </a:lnTo>
                  <a:lnTo>
                    <a:pt x="53783" y="4526654"/>
                  </a:lnTo>
                  <a:lnTo>
                    <a:pt x="81882" y="4563890"/>
                  </a:lnTo>
                  <a:lnTo>
                    <a:pt x="114808" y="4596813"/>
                  </a:lnTo>
                  <a:lnTo>
                    <a:pt x="152045" y="4624909"/>
                  </a:lnTo>
                  <a:lnTo>
                    <a:pt x="193075" y="4647659"/>
                  </a:lnTo>
                  <a:lnTo>
                    <a:pt x="237381" y="4664548"/>
                  </a:lnTo>
                  <a:lnTo>
                    <a:pt x="284447" y="4675061"/>
                  </a:lnTo>
                  <a:lnTo>
                    <a:pt x="333755" y="4678680"/>
                  </a:lnTo>
                  <a:lnTo>
                    <a:pt x="3064764" y="4678680"/>
                  </a:lnTo>
                  <a:lnTo>
                    <a:pt x="3114072" y="4675061"/>
                  </a:lnTo>
                  <a:lnTo>
                    <a:pt x="3161138" y="4664548"/>
                  </a:lnTo>
                  <a:lnTo>
                    <a:pt x="3205444" y="4647659"/>
                  </a:lnTo>
                  <a:lnTo>
                    <a:pt x="3246474" y="4624909"/>
                  </a:lnTo>
                  <a:lnTo>
                    <a:pt x="3283711" y="4596813"/>
                  </a:lnTo>
                  <a:lnTo>
                    <a:pt x="3316637" y="4563890"/>
                  </a:lnTo>
                  <a:lnTo>
                    <a:pt x="3344736" y="4526654"/>
                  </a:lnTo>
                  <a:lnTo>
                    <a:pt x="3367491" y="4485621"/>
                  </a:lnTo>
                  <a:lnTo>
                    <a:pt x="3384384" y="4441309"/>
                  </a:lnTo>
                  <a:lnTo>
                    <a:pt x="3394900" y="4394234"/>
                  </a:lnTo>
                  <a:lnTo>
                    <a:pt x="3398520" y="4344911"/>
                  </a:lnTo>
                  <a:lnTo>
                    <a:pt x="3398520" y="333756"/>
                  </a:lnTo>
                  <a:lnTo>
                    <a:pt x="3394900" y="284447"/>
                  </a:lnTo>
                  <a:lnTo>
                    <a:pt x="3384384" y="237381"/>
                  </a:lnTo>
                  <a:lnTo>
                    <a:pt x="3367491" y="193075"/>
                  </a:lnTo>
                  <a:lnTo>
                    <a:pt x="3344736" y="152045"/>
                  </a:lnTo>
                  <a:lnTo>
                    <a:pt x="3316637" y="114808"/>
                  </a:lnTo>
                  <a:lnTo>
                    <a:pt x="3283711" y="81882"/>
                  </a:lnTo>
                  <a:lnTo>
                    <a:pt x="3246474" y="53783"/>
                  </a:lnTo>
                  <a:lnTo>
                    <a:pt x="3205444" y="31028"/>
                  </a:lnTo>
                  <a:lnTo>
                    <a:pt x="3161138" y="14135"/>
                  </a:lnTo>
                  <a:lnTo>
                    <a:pt x="3114072" y="3619"/>
                  </a:lnTo>
                  <a:lnTo>
                    <a:pt x="3064764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5" name="object 5"/>
            <p:cNvSpPr/>
            <p:nvPr/>
          </p:nvSpPr>
          <p:spPr>
            <a:xfrm>
              <a:off x="4421123" y="1522475"/>
              <a:ext cx="3398520" cy="4678680"/>
            </a:xfrm>
            <a:custGeom>
              <a:avLst/>
              <a:gdLst/>
              <a:ahLst/>
              <a:cxnLst/>
              <a:rect l="l" t="t" r="r" b="b"/>
              <a:pathLst>
                <a:path w="3398520" h="4678680">
                  <a:moveTo>
                    <a:pt x="0" y="333756"/>
                  </a:moveTo>
                  <a:lnTo>
                    <a:pt x="3619" y="284447"/>
                  </a:lnTo>
                  <a:lnTo>
                    <a:pt x="14135" y="237381"/>
                  </a:lnTo>
                  <a:lnTo>
                    <a:pt x="31028" y="193075"/>
                  </a:lnTo>
                  <a:lnTo>
                    <a:pt x="53783" y="152045"/>
                  </a:lnTo>
                  <a:lnTo>
                    <a:pt x="81882" y="114808"/>
                  </a:lnTo>
                  <a:lnTo>
                    <a:pt x="114808" y="81882"/>
                  </a:lnTo>
                  <a:lnTo>
                    <a:pt x="152045" y="53783"/>
                  </a:lnTo>
                  <a:lnTo>
                    <a:pt x="193075" y="31028"/>
                  </a:lnTo>
                  <a:lnTo>
                    <a:pt x="237381" y="14135"/>
                  </a:lnTo>
                  <a:lnTo>
                    <a:pt x="284447" y="3619"/>
                  </a:lnTo>
                  <a:lnTo>
                    <a:pt x="333755" y="0"/>
                  </a:lnTo>
                  <a:lnTo>
                    <a:pt x="3064764" y="0"/>
                  </a:lnTo>
                  <a:lnTo>
                    <a:pt x="3114072" y="3619"/>
                  </a:lnTo>
                  <a:lnTo>
                    <a:pt x="3161138" y="14135"/>
                  </a:lnTo>
                  <a:lnTo>
                    <a:pt x="3205444" y="31028"/>
                  </a:lnTo>
                  <a:lnTo>
                    <a:pt x="3246474" y="53783"/>
                  </a:lnTo>
                  <a:lnTo>
                    <a:pt x="3283711" y="81882"/>
                  </a:lnTo>
                  <a:lnTo>
                    <a:pt x="3316637" y="114808"/>
                  </a:lnTo>
                  <a:lnTo>
                    <a:pt x="3344736" y="152045"/>
                  </a:lnTo>
                  <a:lnTo>
                    <a:pt x="3367491" y="193075"/>
                  </a:lnTo>
                  <a:lnTo>
                    <a:pt x="3384384" y="237381"/>
                  </a:lnTo>
                  <a:lnTo>
                    <a:pt x="3394900" y="284447"/>
                  </a:lnTo>
                  <a:lnTo>
                    <a:pt x="3398520" y="333756"/>
                  </a:lnTo>
                  <a:lnTo>
                    <a:pt x="3398520" y="4344911"/>
                  </a:lnTo>
                  <a:lnTo>
                    <a:pt x="3394900" y="4394234"/>
                  </a:lnTo>
                  <a:lnTo>
                    <a:pt x="3384384" y="4441309"/>
                  </a:lnTo>
                  <a:lnTo>
                    <a:pt x="3367491" y="4485621"/>
                  </a:lnTo>
                  <a:lnTo>
                    <a:pt x="3344736" y="4526654"/>
                  </a:lnTo>
                  <a:lnTo>
                    <a:pt x="3316637" y="4563890"/>
                  </a:lnTo>
                  <a:lnTo>
                    <a:pt x="3283711" y="4596813"/>
                  </a:lnTo>
                  <a:lnTo>
                    <a:pt x="3246474" y="4624909"/>
                  </a:lnTo>
                  <a:lnTo>
                    <a:pt x="3205444" y="4647659"/>
                  </a:lnTo>
                  <a:lnTo>
                    <a:pt x="3161138" y="4664548"/>
                  </a:lnTo>
                  <a:lnTo>
                    <a:pt x="3114072" y="4675061"/>
                  </a:lnTo>
                  <a:lnTo>
                    <a:pt x="3064764" y="4678680"/>
                  </a:lnTo>
                  <a:lnTo>
                    <a:pt x="333755" y="4678680"/>
                  </a:lnTo>
                  <a:lnTo>
                    <a:pt x="284447" y="4675061"/>
                  </a:lnTo>
                  <a:lnTo>
                    <a:pt x="237381" y="4664548"/>
                  </a:lnTo>
                  <a:lnTo>
                    <a:pt x="193075" y="4647659"/>
                  </a:lnTo>
                  <a:lnTo>
                    <a:pt x="152045" y="4624909"/>
                  </a:lnTo>
                  <a:lnTo>
                    <a:pt x="114808" y="4596813"/>
                  </a:lnTo>
                  <a:lnTo>
                    <a:pt x="81882" y="4563890"/>
                  </a:lnTo>
                  <a:lnTo>
                    <a:pt x="53783" y="4526654"/>
                  </a:lnTo>
                  <a:lnTo>
                    <a:pt x="31028" y="4485621"/>
                  </a:lnTo>
                  <a:lnTo>
                    <a:pt x="14135" y="4441309"/>
                  </a:lnTo>
                  <a:lnTo>
                    <a:pt x="3619" y="4394234"/>
                  </a:lnTo>
                  <a:lnTo>
                    <a:pt x="0" y="4344911"/>
                  </a:lnTo>
                  <a:lnTo>
                    <a:pt x="0" y="333756"/>
                  </a:lnTo>
                  <a:close/>
                </a:path>
              </a:pathLst>
            </a:custGeom>
            <a:ln w="9144">
              <a:solidFill>
                <a:srgbClr val="520977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6" name="object 6"/>
            <p:cNvSpPr/>
            <p:nvPr/>
          </p:nvSpPr>
          <p:spPr>
            <a:xfrm>
              <a:off x="8368283" y="1522475"/>
              <a:ext cx="3249295" cy="4678680"/>
            </a:xfrm>
            <a:custGeom>
              <a:avLst/>
              <a:gdLst/>
              <a:ahLst/>
              <a:cxnLst/>
              <a:rect l="l" t="t" r="r" b="b"/>
              <a:pathLst>
                <a:path w="3249295" h="4678680">
                  <a:moveTo>
                    <a:pt x="2930017" y="0"/>
                  </a:moveTo>
                  <a:lnTo>
                    <a:pt x="319150" y="0"/>
                  </a:lnTo>
                  <a:lnTo>
                    <a:pt x="271986" y="3460"/>
                  </a:lnTo>
                  <a:lnTo>
                    <a:pt x="226970" y="13511"/>
                  </a:lnTo>
                  <a:lnTo>
                    <a:pt x="184599" y="29660"/>
                  </a:lnTo>
                  <a:lnTo>
                    <a:pt x="145363" y="51413"/>
                  </a:lnTo>
                  <a:lnTo>
                    <a:pt x="109758" y="78277"/>
                  </a:lnTo>
                  <a:lnTo>
                    <a:pt x="78277" y="109758"/>
                  </a:lnTo>
                  <a:lnTo>
                    <a:pt x="51413" y="145363"/>
                  </a:lnTo>
                  <a:lnTo>
                    <a:pt x="29660" y="184599"/>
                  </a:lnTo>
                  <a:lnTo>
                    <a:pt x="13511" y="226970"/>
                  </a:lnTo>
                  <a:lnTo>
                    <a:pt x="3460" y="271986"/>
                  </a:lnTo>
                  <a:lnTo>
                    <a:pt x="0" y="319150"/>
                  </a:lnTo>
                  <a:lnTo>
                    <a:pt x="0" y="4359579"/>
                  </a:lnTo>
                  <a:lnTo>
                    <a:pt x="3460" y="4406734"/>
                  </a:lnTo>
                  <a:lnTo>
                    <a:pt x="13511" y="4451741"/>
                  </a:lnTo>
                  <a:lnTo>
                    <a:pt x="29660" y="4494106"/>
                  </a:lnTo>
                  <a:lnTo>
                    <a:pt x="51413" y="4533334"/>
                  </a:lnTo>
                  <a:lnTo>
                    <a:pt x="78277" y="4568934"/>
                  </a:lnTo>
                  <a:lnTo>
                    <a:pt x="109758" y="4600411"/>
                  </a:lnTo>
                  <a:lnTo>
                    <a:pt x="145363" y="4627271"/>
                  </a:lnTo>
                  <a:lnTo>
                    <a:pt x="184599" y="4649022"/>
                  </a:lnTo>
                  <a:lnTo>
                    <a:pt x="226970" y="4665169"/>
                  </a:lnTo>
                  <a:lnTo>
                    <a:pt x="271986" y="4675220"/>
                  </a:lnTo>
                  <a:lnTo>
                    <a:pt x="319150" y="4678680"/>
                  </a:lnTo>
                  <a:lnTo>
                    <a:pt x="2930017" y="4678680"/>
                  </a:lnTo>
                  <a:lnTo>
                    <a:pt x="2977181" y="4675220"/>
                  </a:lnTo>
                  <a:lnTo>
                    <a:pt x="3022197" y="4665169"/>
                  </a:lnTo>
                  <a:lnTo>
                    <a:pt x="3064568" y="4649022"/>
                  </a:lnTo>
                  <a:lnTo>
                    <a:pt x="3103804" y="4627271"/>
                  </a:lnTo>
                  <a:lnTo>
                    <a:pt x="3139409" y="4600411"/>
                  </a:lnTo>
                  <a:lnTo>
                    <a:pt x="3170890" y="4568934"/>
                  </a:lnTo>
                  <a:lnTo>
                    <a:pt x="3197754" y="4533334"/>
                  </a:lnTo>
                  <a:lnTo>
                    <a:pt x="3219507" y="4494106"/>
                  </a:lnTo>
                  <a:lnTo>
                    <a:pt x="3235656" y="4451741"/>
                  </a:lnTo>
                  <a:lnTo>
                    <a:pt x="3245707" y="4406734"/>
                  </a:lnTo>
                  <a:lnTo>
                    <a:pt x="3249168" y="4359579"/>
                  </a:lnTo>
                  <a:lnTo>
                    <a:pt x="3249168" y="319150"/>
                  </a:lnTo>
                  <a:lnTo>
                    <a:pt x="3245707" y="271986"/>
                  </a:lnTo>
                  <a:lnTo>
                    <a:pt x="3235656" y="226970"/>
                  </a:lnTo>
                  <a:lnTo>
                    <a:pt x="3219507" y="184599"/>
                  </a:lnTo>
                  <a:lnTo>
                    <a:pt x="3197754" y="145363"/>
                  </a:lnTo>
                  <a:lnTo>
                    <a:pt x="3170890" y="109758"/>
                  </a:lnTo>
                  <a:lnTo>
                    <a:pt x="3139409" y="78277"/>
                  </a:lnTo>
                  <a:lnTo>
                    <a:pt x="3103804" y="51413"/>
                  </a:lnTo>
                  <a:lnTo>
                    <a:pt x="3064568" y="29660"/>
                  </a:lnTo>
                  <a:lnTo>
                    <a:pt x="3022197" y="13511"/>
                  </a:lnTo>
                  <a:lnTo>
                    <a:pt x="2977181" y="3460"/>
                  </a:lnTo>
                  <a:lnTo>
                    <a:pt x="2930017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7" name="object 7"/>
            <p:cNvSpPr/>
            <p:nvPr/>
          </p:nvSpPr>
          <p:spPr>
            <a:xfrm>
              <a:off x="8368283" y="1522475"/>
              <a:ext cx="3249295" cy="4678680"/>
            </a:xfrm>
            <a:custGeom>
              <a:avLst/>
              <a:gdLst/>
              <a:ahLst/>
              <a:cxnLst/>
              <a:rect l="l" t="t" r="r" b="b"/>
              <a:pathLst>
                <a:path w="3249295" h="4678680">
                  <a:moveTo>
                    <a:pt x="0" y="319150"/>
                  </a:moveTo>
                  <a:lnTo>
                    <a:pt x="3460" y="271986"/>
                  </a:lnTo>
                  <a:lnTo>
                    <a:pt x="13511" y="226970"/>
                  </a:lnTo>
                  <a:lnTo>
                    <a:pt x="29660" y="184599"/>
                  </a:lnTo>
                  <a:lnTo>
                    <a:pt x="51413" y="145363"/>
                  </a:lnTo>
                  <a:lnTo>
                    <a:pt x="78277" y="109758"/>
                  </a:lnTo>
                  <a:lnTo>
                    <a:pt x="109758" y="78277"/>
                  </a:lnTo>
                  <a:lnTo>
                    <a:pt x="145363" y="51413"/>
                  </a:lnTo>
                  <a:lnTo>
                    <a:pt x="184599" y="29660"/>
                  </a:lnTo>
                  <a:lnTo>
                    <a:pt x="226970" y="13511"/>
                  </a:lnTo>
                  <a:lnTo>
                    <a:pt x="271986" y="3460"/>
                  </a:lnTo>
                  <a:lnTo>
                    <a:pt x="319150" y="0"/>
                  </a:lnTo>
                  <a:lnTo>
                    <a:pt x="2930017" y="0"/>
                  </a:lnTo>
                  <a:lnTo>
                    <a:pt x="2977181" y="3460"/>
                  </a:lnTo>
                  <a:lnTo>
                    <a:pt x="3022197" y="13511"/>
                  </a:lnTo>
                  <a:lnTo>
                    <a:pt x="3064568" y="29660"/>
                  </a:lnTo>
                  <a:lnTo>
                    <a:pt x="3103804" y="51413"/>
                  </a:lnTo>
                  <a:lnTo>
                    <a:pt x="3139409" y="78277"/>
                  </a:lnTo>
                  <a:lnTo>
                    <a:pt x="3170890" y="109758"/>
                  </a:lnTo>
                  <a:lnTo>
                    <a:pt x="3197754" y="145363"/>
                  </a:lnTo>
                  <a:lnTo>
                    <a:pt x="3219507" y="184599"/>
                  </a:lnTo>
                  <a:lnTo>
                    <a:pt x="3235656" y="226970"/>
                  </a:lnTo>
                  <a:lnTo>
                    <a:pt x="3245707" y="271986"/>
                  </a:lnTo>
                  <a:lnTo>
                    <a:pt x="3249168" y="319150"/>
                  </a:lnTo>
                  <a:lnTo>
                    <a:pt x="3249168" y="4359579"/>
                  </a:lnTo>
                  <a:lnTo>
                    <a:pt x="3245707" y="4406734"/>
                  </a:lnTo>
                  <a:lnTo>
                    <a:pt x="3235656" y="4451741"/>
                  </a:lnTo>
                  <a:lnTo>
                    <a:pt x="3219507" y="4494106"/>
                  </a:lnTo>
                  <a:lnTo>
                    <a:pt x="3197754" y="4533334"/>
                  </a:lnTo>
                  <a:lnTo>
                    <a:pt x="3170890" y="4568934"/>
                  </a:lnTo>
                  <a:lnTo>
                    <a:pt x="3139409" y="4600411"/>
                  </a:lnTo>
                  <a:lnTo>
                    <a:pt x="3103804" y="4627271"/>
                  </a:lnTo>
                  <a:lnTo>
                    <a:pt x="3064568" y="4649022"/>
                  </a:lnTo>
                  <a:lnTo>
                    <a:pt x="3022197" y="4665169"/>
                  </a:lnTo>
                  <a:lnTo>
                    <a:pt x="2977181" y="4675220"/>
                  </a:lnTo>
                  <a:lnTo>
                    <a:pt x="2930017" y="4678680"/>
                  </a:lnTo>
                  <a:lnTo>
                    <a:pt x="319150" y="4678680"/>
                  </a:lnTo>
                  <a:lnTo>
                    <a:pt x="271986" y="4675220"/>
                  </a:lnTo>
                  <a:lnTo>
                    <a:pt x="226970" y="4665169"/>
                  </a:lnTo>
                  <a:lnTo>
                    <a:pt x="184599" y="4649022"/>
                  </a:lnTo>
                  <a:lnTo>
                    <a:pt x="145363" y="4627271"/>
                  </a:lnTo>
                  <a:lnTo>
                    <a:pt x="109758" y="4600411"/>
                  </a:lnTo>
                  <a:lnTo>
                    <a:pt x="78277" y="4568934"/>
                  </a:lnTo>
                  <a:lnTo>
                    <a:pt x="51413" y="4533334"/>
                  </a:lnTo>
                  <a:lnTo>
                    <a:pt x="29660" y="4494106"/>
                  </a:lnTo>
                  <a:lnTo>
                    <a:pt x="13511" y="4451741"/>
                  </a:lnTo>
                  <a:lnTo>
                    <a:pt x="3460" y="4406734"/>
                  </a:lnTo>
                  <a:lnTo>
                    <a:pt x="0" y="4359579"/>
                  </a:lnTo>
                  <a:lnTo>
                    <a:pt x="0" y="319150"/>
                  </a:lnTo>
                  <a:close/>
                </a:path>
              </a:pathLst>
            </a:custGeom>
            <a:ln w="9144">
              <a:solidFill>
                <a:srgbClr val="520977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8" name="object 8"/>
            <p:cNvSpPr/>
            <p:nvPr/>
          </p:nvSpPr>
          <p:spPr>
            <a:xfrm>
              <a:off x="626363" y="1522475"/>
              <a:ext cx="3246120" cy="4678680"/>
            </a:xfrm>
            <a:custGeom>
              <a:avLst/>
              <a:gdLst/>
              <a:ahLst/>
              <a:cxnLst/>
              <a:rect l="l" t="t" r="r" b="b"/>
              <a:pathLst>
                <a:path w="3246120" h="4678680">
                  <a:moveTo>
                    <a:pt x="2927350" y="0"/>
                  </a:moveTo>
                  <a:lnTo>
                    <a:pt x="318795" y="0"/>
                  </a:lnTo>
                  <a:lnTo>
                    <a:pt x="271687" y="3456"/>
                  </a:lnTo>
                  <a:lnTo>
                    <a:pt x="226725" y="13498"/>
                  </a:lnTo>
                  <a:lnTo>
                    <a:pt x="184401" y="29632"/>
                  </a:lnTo>
                  <a:lnTo>
                    <a:pt x="145210" y="51363"/>
                  </a:lnTo>
                  <a:lnTo>
                    <a:pt x="109644" y="78198"/>
                  </a:lnTo>
                  <a:lnTo>
                    <a:pt x="78197" y="109645"/>
                  </a:lnTo>
                  <a:lnTo>
                    <a:pt x="51361" y="145209"/>
                  </a:lnTo>
                  <a:lnTo>
                    <a:pt x="29630" y="184397"/>
                  </a:lnTo>
                  <a:lnTo>
                    <a:pt x="13497" y="226715"/>
                  </a:lnTo>
                  <a:lnTo>
                    <a:pt x="3456" y="271671"/>
                  </a:lnTo>
                  <a:lnTo>
                    <a:pt x="0" y="318770"/>
                  </a:lnTo>
                  <a:lnTo>
                    <a:pt x="0" y="4359884"/>
                  </a:lnTo>
                  <a:lnTo>
                    <a:pt x="3456" y="4406992"/>
                  </a:lnTo>
                  <a:lnTo>
                    <a:pt x="13497" y="4451954"/>
                  </a:lnTo>
                  <a:lnTo>
                    <a:pt x="29630" y="4494278"/>
                  </a:lnTo>
                  <a:lnTo>
                    <a:pt x="51361" y="4533469"/>
                  </a:lnTo>
                  <a:lnTo>
                    <a:pt x="78197" y="4569035"/>
                  </a:lnTo>
                  <a:lnTo>
                    <a:pt x="109644" y="4600482"/>
                  </a:lnTo>
                  <a:lnTo>
                    <a:pt x="145210" y="4627318"/>
                  </a:lnTo>
                  <a:lnTo>
                    <a:pt x="184401" y="4649049"/>
                  </a:lnTo>
                  <a:lnTo>
                    <a:pt x="226725" y="4665182"/>
                  </a:lnTo>
                  <a:lnTo>
                    <a:pt x="271687" y="4675223"/>
                  </a:lnTo>
                  <a:lnTo>
                    <a:pt x="318795" y="4678680"/>
                  </a:lnTo>
                  <a:lnTo>
                    <a:pt x="2927350" y="4678680"/>
                  </a:lnTo>
                  <a:lnTo>
                    <a:pt x="2974448" y="4675223"/>
                  </a:lnTo>
                  <a:lnTo>
                    <a:pt x="3019404" y="4665182"/>
                  </a:lnTo>
                  <a:lnTo>
                    <a:pt x="3061722" y="4649049"/>
                  </a:lnTo>
                  <a:lnTo>
                    <a:pt x="3100910" y="4627318"/>
                  </a:lnTo>
                  <a:lnTo>
                    <a:pt x="3136474" y="4600482"/>
                  </a:lnTo>
                  <a:lnTo>
                    <a:pt x="3167921" y="4569035"/>
                  </a:lnTo>
                  <a:lnTo>
                    <a:pt x="3194756" y="4533469"/>
                  </a:lnTo>
                  <a:lnTo>
                    <a:pt x="3216487" y="4494278"/>
                  </a:lnTo>
                  <a:lnTo>
                    <a:pt x="3232621" y="4451954"/>
                  </a:lnTo>
                  <a:lnTo>
                    <a:pt x="3242663" y="4406992"/>
                  </a:lnTo>
                  <a:lnTo>
                    <a:pt x="3246120" y="4359884"/>
                  </a:lnTo>
                  <a:lnTo>
                    <a:pt x="3246120" y="318770"/>
                  </a:lnTo>
                  <a:lnTo>
                    <a:pt x="3242663" y="271671"/>
                  </a:lnTo>
                  <a:lnTo>
                    <a:pt x="3232621" y="226715"/>
                  </a:lnTo>
                  <a:lnTo>
                    <a:pt x="3216487" y="184397"/>
                  </a:lnTo>
                  <a:lnTo>
                    <a:pt x="3194756" y="145209"/>
                  </a:lnTo>
                  <a:lnTo>
                    <a:pt x="3167921" y="109645"/>
                  </a:lnTo>
                  <a:lnTo>
                    <a:pt x="3136474" y="78198"/>
                  </a:lnTo>
                  <a:lnTo>
                    <a:pt x="3100910" y="51363"/>
                  </a:lnTo>
                  <a:lnTo>
                    <a:pt x="3061722" y="29632"/>
                  </a:lnTo>
                  <a:lnTo>
                    <a:pt x="3019404" y="13498"/>
                  </a:lnTo>
                  <a:lnTo>
                    <a:pt x="2974448" y="3456"/>
                  </a:lnTo>
                  <a:lnTo>
                    <a:pt x="2927350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9" name="object 9"/>
            <p:cNvSpPr/>
            <p:nvPr/>
          </p:nvSpPr>
          <p:spPr>
            <a:xfrm>
              <a:off x="626363" y="1522475"/>
              <a:ext cx="3246120" cy="4678680"/>
            </a:xfrm>
            <a:custGeom>
              <a:avLst/>
              <a:gdLst/>
              <a:ahLst/>
              <a:cxnLst/>
              <a:rect l="l" t="t" r="r" b="b"/>
              <a:pathLst>
                <a:path w="3246120" h="4678680">
                  <a:moveTo>
                    <a:pt x="0" y="318770"/>
                  </a:moveTo>
                  <a:lnTo>
                    <a:pt x="3456" y="271671"/>
                  </a:lnTo>
                  <a:lnTo>
                    <a:pt x="13497" y="226715"/>
                  </a:lnTo>
                  <a:lnTo>
                    <a:pt x="29630" y="184397"/>
                  </a:lnTo>
                  <a:lnTo>
                    <a:pt x="51361" y="145209"/>
                  </a:lnTo>
                  <a:lnTo>
                    <a:pt x="78197" y="109645"/>
                  </a:lnTo>
                  <a:lnTo>
                    <a:pt x="109644" y="78198"/>
                  </a:lnTo>
                  <a:lnTo>
                    <a:pt x="145210" y="51363"/>
                  </a:lnTo>
                  <a:lnTo>
                    <a:pt x="184401" y="29632"/>
                  </a:lnTo>
                  <a:lnTo>
                    <a:pt x="226725" y="13498"/>
                  </a:lnTo>
                  <a:lnTo>
                    <a:pt x="271687" y="3456"/>
                  </a:lnTo>
                  <a:lnTo>
                    <a:pt x="318795" y="0"/>
                  </a:lnTo>
                  <a:lnTo>
                    <a:pt x="2927350" y="0"/>
                  </a:lnTo>
                  <a:lnTo>
                    <a:pt x="2974448" y="3456"/>
                  </a:lnTo>
                  <a:lnTo>
                    <a:pt x="3019404" y="13498"/>
                  </a:lnTo>
                  <a:lnTo>
                    <a:pt x="3061722" y="29632"/>
                  </a:lnTo>
                  <a:lnTo>
                    <a:pt x="3100910" y="51363"/>
                  </a:lnTo>
                  <a:lnTo>
                    <a:pt x="3136474" y="78198"/>
                  </a:lnTo>
                  <a:lnTo>
                    <a:pt x="3167921" y="109645"/>
                  </a:lnTo>
                  <a:lnTo>
                    <a:pt x="3194756" y="145209"/>
                  </a:lnTo>
                  <a:lnTo>
                    <a:pt x="3216487" y="184397"/>
                  </a:lnTo>
                  <a:lnTo>
                    <a:pt x="3232621" y="226715"/>
                  </a:lnTo>
                  <a:lnTo>
                    <a:pt x="3242663" y="271671"/>
                  </a:lnTo>
                  <a:lnTo>
                    <a:pt x="3246120" y="318770"/>
                  </a:lnTo>
                  <a:lnTo>
                    <a:pt x="3246120" y="4359884"/>
                  </a:lnTo>
                  <a:lnTo>
                    <a:pt x="3242663" y="4406992"/>
                  </a:lnTo>
                  <a:lnTo>
                    <a:pt x="3232621" y="4451954"/>
                  </a:lnTo>
                  <a:lnTo>
                    <a:pt x="3216487" y="4494278"/>
                  </a:lnTo>
                  <a:lnTo>
                    <a:pt x="3194756" y="4533469"/>
                  </a:lnTo>
                  <a:lnTo>
                    <a:pt x="3167921" y="4569035"/>
                  </a:lnTo>
                  <a:lnTo>
                    <a:pt x="3136474" y="4600482"/>
                  </a:lnTo>
                  <a:lnTo>
                    <a:pt x="3100910" y="4627318"/>
                  </a:lnTo>
                  <a:lnTo>
                    <a:pt x="3061722" y="4649049"/>
                  </a:lnTo>
                  <a:lnTo>
                    <a:pt x="3019404" y="4665182"/>
                  </a:lnTo>
                  <a:lnTo>
                    <a:pt x="2974448" y="4675223"/>
                  </a:lnTo>
                  <a:lnTo>
                    <a:pt x="2927350" y="4678680"/>
                  </a:lnTo>
                  <a:lnTo>
                    <a:pt x="318795" y="4678680"/>
                  </a:lnTo>
                  <a:lnTo>
                    <a:pt x="271687" y="4675223"/>
                  </a:lnTo>
                  <a:lnTo>
                    <a:pt x="226725" y="4665182"/>
                  </a:lnTo>
                  <a:lnTo>
                    <a:pt x="184401" y="4649049"/>
                  </a:lnTo>
                  <a:lnTo>
                    <a:pt x="145210" y="4627318"/>
                  </a:lnTo>
                  <a:lnTo>
                    <a:pt x="109644" y="4600482"/>
                  </a:lnTo>
                  <a:lnTo>
                    <a:pt x="78197" y="4569035"/>
                  </a:lnTo>
                  <a:lnTo>
                    <a:pt x="51361" y="4533469"/>
                  </a:lnTo>
                  <a:lnTo>
                    <a:pt x="29630" y="4494278"/>
                  </a:lnTo>
                  <a:lnTo>
                    <a:pt x="13497" y="4451954"/>
                  </a:lnTo>
                  <a:lnTo>
                    <a:pt x="3456" y="4406992"/>
                  </a:lnTo>
                  <a:lnTo>
                    <a:pt x="0" y="4359884"/>
                  </a:lnTo>
                  <a:lnTo>
                    <a:pt x="0" y="318770"/>
                  </a:lnTo>
                  <a:close/>
                </a:path>
              </a:pathLst>
            </a:custGeom>
            <a:ln w="9144">
              <a:solidFill>
                <a:srgbClr val="520977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0" name="object 10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43180" rIns="0" bIns="0" rtlCol="0" vert="horz">
            <a:spAutoFit/>
          </a:bodyPr>
          <a:lstStyle/>
          <a:p>
            <a:pPr marL="62865">
              <a:lnSpc>
                <a:spcPct val="100000"/>
              </a:lnSpc>
              <a:spcBef>
                <a:spcPts val="340"/>
              </a:spcBef>
            </a:pPr>
            <a:r>
              <a:rPr sz="1200">
                <a:solidFill>
                  <a:srgbClr val="520978"/>
                </a:solidFill>
                <a:latin typeface="Montserrat"/>
              </a:rPr>
              <a:t>7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" y="868680"/>
            <a:ext cx="4206240" cy="475488"/>
          </a:xfrm>
          <a:prstGeom prst="roundRect">
            <a:avLst>
              <a:gd name="adj" fmla="val 50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/>
            <a:r>
              <a:rPr sz="1300" b="1">
                <a:solidFill>
                  <a:srgbClr val="FFFFFF"/>
                </a:solidFill>
                <a:latin typeface="Montserrat"/>
              </a:rPr>
              <a:t>04 · Техническая проработка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1600200"/>
            <a:ext cx="499262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500" b="1">
                <a:solidFill>
                  <a:srgbClr val="520978"/>
                </a:solidFill>
                <a:latin typeface="Montserrat"/>
              </a:rPr>
              <a:t>Frontend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2148840"/>
            <a:ext cx="4992624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150" b="0">
                <a:solidFill>
                  <a:srgbClr val="1C1D22"/>
                </a:solidFill>
                <a:latin typeface="Montserrat"/>
              </a:rPr>
              <a:t>•  React 18 и TypeScript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150" b="0">
                <a:solidFill>
                  <a:srgbClr val="1C1D22"/>
                </a:solidFill>
                <a:latin typeface="Montserrat"/>
              </a:rPr>
              <a:t>•  Vite, Ant Design 5, Zustand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150" b="0">
                <a:solidFill>
                  <a:srgbClr val="1C1D22"/>
                </a:solidFill>
                <a:latin typeface="Montserrat"/>
              </a:rPr>
              <a:t>•  Recharts и @dnd-kit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73368" y="1600200"/>
            <a:ext cx="499262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500" b="1">
                <a:solidFill>
                  <a:srgbClr val="520978"/>
                </a:solidFill>
                <a:latin typeface="Montserrat"/>
              </a:rPr>
              <a:t>Backend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73368" y="2148840"/>
            <a:ext cx="4992624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150" b="0">
                <a:solidFill>
                  <a:srgbClr val="1C1D22"/>
                </a:solidFill>
                <a:latin typeface="Montserrat"/>
              </a:rPr>
              <a:t>•  Python 3.11, FastAPI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150" b="0">
                <a:solidFill>
                  <a:srgbClr val="1C1D22"/>
                </a:solidFill>
                <a:latin typeface="Montserrat"/>
              </a:rPr>
              <a:t>•  SQLAlchemy 2 async, asyncpg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150" b="0">
                <a:solidFill>
                  <a:srgbClr val="1C1D22"/>
                </a:solidFill>
                <a:latin typeface="Montserrat"/>
              </a:rPr>
              <a:t>•  Pydantic v2, JWT и bcrypt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3657600"/>
            <a:ext cx="499262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500" b="1">
                <a:solidFill>
                  <a:srgbClr val="520978"/>
                </a:solidFill>
                <a:latin typeface="Montserrat"/>
              </a:rPr>
              <a:t>Данные и инфраструктура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206240"/>
            <a:ext cx="4992624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150" b="0">
                <a:solidFill>
                  <a:srgbClr val="1C1D22"/>
                </a:solidFill>
                <a:latin typeface="Montserrat"/>
              </a:rPr>
              <a:t>•  PostgreSQL (Managed или контейнер)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150" b="0">
                <a:solidFill>
                  <a:srgbClr val="1C1D22"/>
                </a:solidFill>
                <a:latin typeface="Montserrat"/>
              </a:rPr>
              <a:t>•  Yandex Object Storage для файлов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150" b="0">
                <a:solidFill>
                  <a:srgbClr val="1C1D22"/>
                </a:solidFill>
                <a:latin typeface="Montserrat"/>
              </a:rPr>
              <a:t>•  KeyDB для кэша, Docker Compose, Nginx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73368" y="3657600"/>
            <a:ext cx="499262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500" b="1">
                <a:solidFill>
                  <a:srgbClr val="520978"/>
                </a:solidFill>
                <a:latin typeface="Montserrat"/>
              </a:rPr>
              <a:t>Интеграции и защита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73368" y="4206240"/>
            <a:ext cx="4992624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150" b="0">
                <a:solidFill>
                  <a:srgbClr val="1C1D22"/>
                </a:solidFill>
                <a:latin typeface="Montserrat"/>
              </a:rPr>
              <a:t>•  Keycloak: Code Flow + PKCE, RS256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150" b="0">
                <a:solidFill>
                  <a:srgbClr val="1C1D22"/>
                </a:solidFill>
                <a:latin typeface="Montserrat"/>
              </a:rPr>
              <a:t>•  LMS и CMS: контракт обмена, dry-run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150" b="0">
                <a:solidFill>
                  <a:srgbClr val="1C1D22"/>
                </a:solidFill>
                <a:latin typeface="Montserrat"/>
              </a:rPr>
              <a:t>•  GigaChat: сводка по взаимодействию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0"/>
              <a:ext cx="12192000" cy="6857999"/>
            </a:xfrm>
            <a:prstGeom prst="rect">
              <a:avLst/>
            </a:prstGeom>
          </p:spPr>
        </p:pic>
        <p:sp>
          <p:nvSpPr>
            <p:cNvPr id="4" name="object 4"/>
            <p:cNvSpPr/>
            <p:nvPr/>
          </p:nvSpPr>
          <p:spPr>
            <a:xfrm>
              <a:off x="347472" y="323088"/>
              <a:ext cx="3108960" cy="622300"/>
            </a:xfrm>
            <a:custGeom>
              <a:avLst/>
              <a:gdLst/>
              <a:ahLst/>
              <a:cxnLst/>
              <a:rect l="l" t="t" r="r" b="b"/>
              <a:pathLst>
                <a:path w="3108960" h="622300">
                  <a:moveTo>
                    <a:pt x="2992628" y="0"/>
                  </a:moveTo>
                  <a:lnTo>
                    <a:pt x="116319" y="0"/>
                  </a:lnTo>
                  <a:lnTo>
                    <a:pt x="71039" y="9140"/>
                  </a:lnTo>
                  <a:lnTo>
                    <a:pt x="34066" y="34067"/>
                  </a:lnTo>
                  <a:lnTo>
                    <a:pt x="9139" y="71044"/>
                  </a:lnTo>
                  <a:lnTo>
                    <a:pt x="0" y="116331"/>
                  </a:lnTo>
                  <a:lnTo>
                    <a:pt x="0" y="505459"/>
                  </a:lnTo>
                  <a:lnTo>
                    <a:pt x="9139" y="550747"/>
                  </a:lnTo>
                  <a:lnTo>
                    <a:pt x="34066" y="587724"/>
                  </a:lnTo>
                  <a:lnTo>
                    <a:pt x="71039" y="612651"/>
                  </a:lnTo>
                  <a:lnTo>
                    <a:pt x="116319" y="621791"/>
                  </a:lnTo>
                  <a:lnTo>
                    <a:pt x="2992628" y="621791"/>
                  </a:lnTo>
                  <a:lnTo>
                    <a:pt x="3037915" y="612651"/>
                  </a:lnTo>
                  <a:lnTo>
                    <a:pt x="3074892" y="587724"/>
                  </a:lnTo>
                  <a:lnTo>
                    <a:pt x="3099819" y="550747"/>
                  </a:lnTo>
                  <a:lnTo>
                    <a:pt x="3108960" y="505459"/>
                  </a:lnTo>
                  <a:lnTo>
                    <a:pt x="3108960" y="116331"/>
                  </a:lnTo>
                  <a:lnTo>
                    <a:pt x="3099819" y="71044"/>
                  </a:lnTo>
                  <a:lnTo>
                    <a:pt x="3074892" y="34067"/>
                  </a:lnTo>
                  <a:lnTo>
                    <a:pt x="3037915" y="9140"/>
                  </a:lnTo>
                  <a:lnTo>
                    <a:pt x="2992628" y="0"/>
                  </a:lnTo>
                  <a:close/>
                </a:path>
              </a:pathLst>
            </a:custGeom>
            <a:solidFill>
              <a:srgbClr val="520977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5" name="object 5"/>
            <p:cNvSpPr/>
            <p:nvPr/>
          </p:nvSpPr>
          <p:spPr>
            <a:xfrm>
              <a:off x="348995" y="1016508"/>
              <a:ext cx="6806565" cy="2030095"/>
            </a:xfrm>
            <a:custGeom>
              <a:avLst/>
              <a:gdLst/>
              <a:ahLst/>
              <a:cxnLst/>
              <a:rect l="l" t="t" r="r" b="b"/>
              <a:pathLst>
                <a:path w="6806565" h="2030095">
                  <a:moveTo>
                    <a:pt x="6600571" y="0"/>
                  </a:moveTo>
                  <a:lnTo>
                    <a:pt x="205587" y="0"/>
                  </a:lnTo>
                  <a:lnTo>
                    <a:pt x="158449" y="5431"/>
                  </a:lnTo>
                  <a:lnTo>
                    <a:pt x="115177" y="20902"/>
                  </a:lnTo>
                  <a:lnTo>
                    <a:pt x="77005" y="45176"/>
                  </a:lnTo>
                  <a:lnTo>
                    <a:pt x="45166" y="77020"/>
                  </a:lnTo>
                  <a:lnTo>
                    <a:pt x="20897" y="115197"/>
                  </a:lnTo>
                  <a:lnTo>
                    <a:pt x="5429" y="158473"/>
                  </a:lnTo>
                  <a:lnTo>
                    <a:pt x="0" y="205612"/>
                  </a:lnTo>
                  <a:lnTo>
                    <a:pt x="0" y="1824354"/>
                  </a:lnTo>
                  <a:lnTo>
                    <a:pt x="5429" y="1871494"/>
                  </a:lnTo>
                  <a:lnTo>
                    <a:pt x="20897" y="1914770"/>
                  </a:lnTo>
                  <a:lnTo>
                    <a:pt x="45166" y="1952947"/>
                  </a:lnTo>
                  <a:lnTo>
                    <a:pt x="77005" y="1984791"/>
                  </a:lnTo>
                  <a:lnTo>
                    <a:pt x="115177" y="2009065"/>
                  </a:lnTo>
                  <a:lnTo>
                    <a:pt x="158449" y="2024536"/>
                  </a:lnTo>
                  <a:lnTo>
                    <a:pt x="205587" y="2029967"/>
                  </a:lnTo>
                  <a:lnTo>
                    <a:pt x="6600571" y="2029967"/>
                  </a:lnTo>
                  <a:lnTo>
                    <a:pt x="6647710" y="2024536"/>
                  </a:lnTo>
                  <a:lnTo>
                    <a:pt x="6690986" y="2009065"/>
                  </a:lnTo>
                  <a:lnTo>
                    <a:pt x="6729163" y="1984791"/>
                  </a:lnTo>
                  <a:lnTo>
                    <a:pt x="6761007" y="1952947"/>
                  </a:lnTo>
                  <a:lnTo>
                    <a:pt x="6785281" y="1914770"/>
                  </a:lnTo>
                  <a:lnTo>
                    <a:pt x="6800752" y="1871494"/>
                  </a:lnTo>
                  <a:lnTo>
                    <a:pt x="6806183" y="1824354"/>
                  </a:lnTo>
                  <a:lnTo>
                    <a:pt x="6806183" y="205612"/>
                  </a:lnTo>
                  <a:lnTo>
                    <a:pt x="6800752" y="158473"/>
                  </a:lnTo>
                  <a:lnTo>
                    <a:pt x="6785281" y="115197"/>
                  </a:lnTo>
                  <a:lnTo>
                    <a:pt x="6761007" y="77020"/>
                  </a:lnTo>
                  <a:lnTo>
                    <a:pt x="6729163" y="45176"/>
                  </a:lnTo>
                  <a:lnTo>
                    <a:pt x="6690986" y="20902"/>
                  </a:lnTo>
                  <a:lnTo>
                    <a:pt x="6647710" y="5431"/>
                  </a:lnTo>
                  <a:lnTo>
                    <a:pt x="6600571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6" name="object 6"/>
            <p:cNvSpPr/>
            <p:nvPr/>
          </p:nvSpPr>
          <p:spPr>
            <a:xfrm>
              <a:off x="348995" y="1016508"/>
              <a:ext cx="6806565" cy="2030095"/>
            </a:xfrm>
            <a:custGeom>
              <a:avLst/>
              <a:gdLst/>
              <a:ahLst/>
              <a:cxnLst/>
              <a:rect l="l" t="t" r="r" b="b"/>
              <a:pathLst>
                <a:path w="6806565" h="2030095">
                  <a:moveTo>
                    <a:pt x="0" y="205612"/>
                  </a:moveTo>
                  <a:lnTo>
                    <a:pt x="5429" y="158473"/>
                  </a:lnTo>
                  <a:lnTo>
                    <a:pt x="20897" y="115197"/>
                  </a:lnTo>
                  <a:lnTo>
                    <a:pt x="45166" y="77020"/>
                  </a:lnTo>
                  <a:lnTo>
                    <a:pt x="77005" y="45176"/>
                  </a:lnTo>
                  <a:lnTo>
                    <a:pt x="115177" y="20902"/>
                  </a:lnTo>
                  <a:lnTo>
                    <a:pt x="158449" y="5431"/>
                  </a:lnTo>
                  <a:lnTo>
                    <a:pt x="205587" y="0"/>
                  </a:lnTo>
                  <a:lnTo>
                    <a:pt x="6600571" y="0"/>
                  </a:lnTo>
                  <a:lnTo>
                    <a:pt x="6647710" y="5431"/>
                  </a:lnTo>
                  <a:lnTo>
                    <a:pt x="6690986" y="20902"/>
                  </a:lnTo>
                  <a:lnTo>
                    <a:pt x="6729163" y="45176"/>
                  </a:lnTo>
                  <a:lnTo>
                    <a:pt x="6761007" y="77020"/>
                  </a:lnTo>
                  <a:lnTo>
                    <a:pt x="6785281" y="115197"/>
                  </a:lnTo>
                  <a:lnTo>
                    <a:pt x="6800752" y="158473"/>
                  </a:lnTo>
                  <a:lnTo>
                    <a:pt x="6806183" y="205612"/>
                  </a:lnTo>
                  <a:lnTo>
                    <a:pt x="6806183" y="1824354"/>
                  </a:lnTo>
                  <a:lnTo>
                    <a:pt x="6800752" y="1871494"/>
                  </a:lnTo>
                  <a:lnTo>
                    <a:pt x="6785281" y="1914770"/>
                  </a:lnTo>
                  <a:lnTo>
                    <a:pt x="6761007" y="1952947"/>
                  </a:lnTo>
                  <a:lnTo>
                    <a:pt x="6729163" y="1984791"/>
                  </a:lnTo>
                  <a:lnTo>
                    <a:pt x="6690986" y="2009065"/>
                  </a:lnTo>
                  <a:lnTo>
                    <a:pt x="6647710" y="2024536"/>
                  </a:lnTo>
                  <a:lnTo>
                    <a:pt x="6600571" y="2029967"/>
                  </a:lnTo>
                  <a:lnTo>
                    <a:pt x="205587" y="2029967"/>
                  </a:lnTo>
                  <a:lnTo>
                    <a:pt x="158449" y="2024536"/>
                  </a:lnTo>
                  <a:lnTo>
                    <a:pt x="115177" y="2009065"/>
                  </a:lnTo>
                  <a:lnTo>
                    <a:pt x="77005" y="1984791"/>
                  </a:lnTo>
                  <a:lnTo>
                    <a:pt x="45166" y="1952947"/>
                  </a:lnTo>
                  <a:lnTo>
                    <a:pt x="20897" y="1914770"/>
                  </a:lnTo>
                  <a:lnTo>
                    <a:pt x="5429" y="1871494"/>
                  </a:lnTo>
                  <a:lnTo>
                    <a:pt x="0" y="1824354"/>
                  </a:lnTo>
                  <a:lnTo>
                    <a:pt x="0" y="205612"/>
                  </a:lnTo>
                  <a:close/>
                </a:path>
              </a:pathLst>
            </a:custGeom>
            <a:ln w="9144">
              <a:solidFill>
                <a:srgbClr val="520977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7" name="object 7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43180" rIns="0" bIns="0" rtlCol="0" vert="horz">
            <a:spAutoFit/>
          </a:bodyPr>
          <a:lstStyle/>
          <a:p>
            <a:pPr marL="62865">
              <a:lnSpc>
                <a:spcPct val="100000"/>
              </a:lnSpc>
              <a:spcBef>
                <a:spcPts val="340"/>
              </a:spcBef>
            </a:pPr>
            <a:r>
              <a:rPr sz="1200">
                <a:solidFill>
                  <a:srgbClr val="520978"/>
                </a:solidFill>
                <a:latin typeface="Montserrat"/>
              </a:rPr>
              <a:t>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7472" y="320040"/>
            <a:ext cx="4206240" cy="475488"/>
          </a:xfrm>
          <a:prstGeom prst="roundRect">
            <a:avLst>
              <a:gd name="adj" fmla="val 50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/>
            <a:r>
              <a:rPr sz="1300" b="1">
                <a:solidFill>
                  <a:srgbClr val="FFFFFF"/>
                </a:solidFill>
                <a:latin typeface="Montserrat"/>
              </a:rPr>
              <a:t>02 · Маркетинговая часть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7472" y="1014984"/>
            <a:ext cx="11384280" cy="20299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3504" y="1225296"/>
            <a:ext cx="51206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00" b="1">
                <a:solidFill>
                  <a:srgbClr val="520978"/>
                </a:solidFill>
                <a:latin typeface="Montserrat"/>
              </a:rPr>
              <a:t>Потребность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0">
                <a:solidFill>
                  <a:srgbClr val="1C1D22"/>
                </a:solidFill>
                <a:latin typeface="Montserrat"/>
              </a:rPr>
              <a:t>ИТ Школа ведёт десятки вузов-партнёров. Статус взаимодействия и договорённости разбросаны по таблицам и чатам, из-за чего теряются сроки и история.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1225296"/>
            <a:ext cx="5486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00" b="1">
                <a:solidFill>
                  <a:srgbClr val="520978"/>
                </a:solidFill>
                <a:latin typeface="Montserrat"/>
              </a:rPr>
              <a:t>Продвижение и развитие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0">
                <a:solidFill>
                  <a:srgbClr val="1C1D22"/>
                </a:solidFill>
                <a:latin typeface="Montserrat"/>
              </a:rPr>
              <a:t>Продукт внедряется внутри Ростелекома как готовый контур, а затем тиражируется на подразделения с похожим процессом: продажи, партнёрства, работа с филиалами.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0"/>
            <a:ext cx="11874500" cy="6858000"/>
            <a:chOff x="0" y="0"/>
            <a:chExt cx="11874500" cy="6858000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0"/>
              <a:ext cx="11874500" cy="6857999"/>
            </a:xfrm>
            <a:prstGeom prst="rect">
              <a:avLst/>
            </a:prstGeom>
          </p:spPr>
        </p:pic>
        <p:sp>
          <p:nvSpPr>
            <p:cNvPr id="4" name="object 4"/>
            <p:cNvSpPr/>
            <p:nvPr/>
          </p:nvSpPr>
          <p:spPr>
            <a:xfrm>
              <a:off x="347472" y="323088"/>
              <a:ext cx="3108960" cy="622300"/>
            </a:xfrm>
            <a:custGeom>
              <a:avLst/>
              <a:gdLst/>
              <a:ahLst/>
              <a:cxnLst/>
              <a:rect l="l" t="t" r="r" b="b"/>
              <a:pathLst>
                <a:path w="3108960" h="622300">
                  <a:moveTo>
                    <a:pt x="2992628" y="0"/>
                  </a:moveTo>
                  <a:lnTo>
                    <a:pt x="116319" y="0"/>
                  </a:lnTo>
                  <a:lnTo>
                    <a:pt x="71039" y="9140"/>
                  </a:lnTo>
                  <a:lnTo>
                    <a:pt x="34066" y="34067"/>
                  </a:lnTo>
                  <a:lnTo>
                    <a:pt x="9139" y="71044"/>
                  </a:lnTo>
                  <a:lnTo>
                    <a:pt x="0" y="116331"/>
                  </a:lnTo>
                  <a:lnTo>
                    <a:pt x="0" y="505459"/>
                  </a:lnTo>
                  <a:lnTo>
                    <a:pt x="9139" y="550747"/>
                  </a:lnTo>
                  <a:lnTo>
                    <a:pt x="34066" y="587724"/>
                  </a:lnTo>
                  <a:lnTo>
                    <a:pt x="71039" y="612651"/>
                  </a:lnTo>
                  <a:lnTo>
                    <a:pt x="116319" y="621791"/>
                  </a:lnTo>
                  <a:lnTo>
                    <a:pt x="2992628" y="621791"/>
                  </a:lnTo>
                  <a:lnTo>
                    <a:pt x="3037915" y="612651"/>
                  </a:lnTo>
                  <a:lnTo>
                    <a:pt x="3074892" y="587724"/>
                  </a:lnTo>
                  <a:lnTo>
                    <a:pt x="3099819" y="550747"/>
                  </a:lnTo>
                  <a:lnTo>
                    <a:pt x="3108960" y="505459"/>
                  </a:lnTo>
                  <a:lnTo>
                    <a:pt x="3108960" y="116331"/>
                  </a:lnTo>
                  <a:lnTo>
                    <a:pt x="3099819" y="71044"/>
                  </a:lnTo>
                  <a:lnTo>
                    <a:pt x="3074892" y="34067"/>
                  </a:lnTo>
                  <a:lnTo>
                    <a:pt x="3037915" y="9140"/>
                  </a:lnTo>
                  <a:lnTo>
                    <a:pt x="2992628" y="0"/>
                  </a:lnTo>
                  <a:close/>
                </a:path>
              </a:pathLst>
            </a:custGeom>
            <a:solidFill>
              <a:srgbClr val="520977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5" name="object 5"/>
            <p:cNvSpPr/>
            <p:nvPr/>
          </p:nvSpPr>
          <p:spPr>
            <a:xfrm>
              <a:off x="5954267" y="1367027"/>
              <a:ext cx="5904230" cy="792480"/>
            </a:xfrm>
            <a:custGeom>
              <a:avLst/>
              <a:gdLst/>
              <a:ahLst/>
              <a:cxnLst/>
              <a:rect l="l" t="t" r="r" b="b"/>
              <a:pathLst>
                <a:path w="5904230" h="792480">
                  <a:moveTo>
                    <a:pt x="5774436" y="0"/>
                  </a:moveTo>
                  <a:lnTo>
                    <a:pt x="129540" y="0"/>
                  </a:lnTo>
                  <a:lnTo>
                    <a:pt x="79081" y="10167"/>
                  </a:lnTo>
                  <a:lnTo>
                    <a:pt x="37909" y="37909"/>
                  </a:lnTo>
                  <a:lnTo>
                    <a:pt x="10167" y="79081"/>
                  </a:lnTo>
                  <a:lnTo>
                    <a:pt x="0" y="129539"/>
                  </a:lnTo>
                  <a:lnTo>
                    <a:pt x="0" y="662939"/>
                  </a:lnTo>
                  <a:lnTo>
                    <a:pt x="10167" y="713398"/>
                  </a:lnTo>
                  <a:lnTo>
                    <a:pt x="37909" y="754570"/>
                  </a:lnTo>
                  <a:lnTo>
                    <a:pt x="79081" y="782312"/>
                  </a:lnTo>
                  <a:lnTo>
                    <a:pt x="129540" y="792480"/>
                  </a:lnTo>
                  <a:lnTo>
                    <a:pt x="5774436" y="792480"/>
                  </a:lnTo>
                  <a:lnTo>
                    <a:pt x="5824894" y="782312"/>
                  </a:lnTo>
                  <a:lnTo>
                    <a:pt x="5866066" y="754570"/>
                  </a:lnTo>
                  <a:lnTo>
                    <a:pt x="5893808" y="713398"/>
                  </a:lnTo>
                  <a:lnTo>
                    <a:pt x="5903976" y="662939"/>
                  </a:lnTo>
                  <a:lnTo>
                    <a:pt x="5903976" y="129539"/>
                  </a:lnTo>
                  <a:lnTo>
                    <a:pt x="5893808" y="79081"/>
                  </a:lnTo>
                  <a:lnTo>
                    <a:pt x="5866066" y="37909"/>
                  </a:lnTo>
                  <a:lnTo>
                    <a:pt x="5824894" y="10167"/>
                  </a:lnTo>
                  <a:lnTo>
                    <a:pt x="5774436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6" name="object 6"/>
            <p:cNvSpPr/>
            <p:nvPr/>
          </p:nvSpPr>
          <p:spPr>
            <a:xfrm>
              <a:off x="5954267" y="1367027"/>
              <a:ext cx="5904230" cy="792480"/>
            </a:xfrm>
            <a:custGeom>
              <a:avLst/>
              <a:gdLst/>
              <a:ahLst/>
              <a:cxnLst/>
              <a:rect l="l" t="t" r="r" b="b"/>
              <a:pathLst>
                <a:path w="5904230" h="792480">
                  <a:moveTo>
                    <a:pt x="0" y="129539"/>
                  </a:moveTo>
                  <a:lnTo>
                    <a:pt x="10167" y="79081"/>
                  </a:lnTo>
                  <a:lnTo>
                    <a:pt x="37909" y="37909"/>
                  </a:lnTo>
                  <a:lnTo>
                    <a:pt x="79081" y="10167"/>
                  </a:lnTo>
                  <a:lnTo>
                    <a:pt x="129540" y="0"/>
                  </a:lnTo>
                  <a:lnTo>
                    <a:pt x="5774436" y="0"/>
                  </a:lnTo>
                  <a:lnTo>
                    <a:pt x="5824894" y="10167"/>
                  </a:lnTo>
                  <a:lnTo>
                    <a:pt x="5866066" y="37909"/>
                  </a:lnTo>
                  <a:lnTo>
                    <a:pt x="5893808" y="79081"/>
                  </a:lnTo>
                  <a:lnTo>
                    <a:pt x="5903976" y="129539"/>
                  </a:lnTo>
                  <a:lnTo>
                    <a:pt x="5903976" y="662939"/>
                  </a:lnTo>
                  <a:lnTo>
                    <a:pt x="5893808" y="713398"/>
                  </a:lnTo>
                  <a:lnTo>
                    <a:pt x="5866066" y="754570"/>
                  </a:lnTo>
                  <a:lnTo>
                    <a:pt x="5824894" y="782312"/>
                  </a:lnTo>
                  <a:lnTo>
                    <a:pt x="5774436" y="792480"/>
                  </a:lnTo>
                  <a:lnTo>
                    <a:pt x="129540" y="792480"/>
                  </a:lnTo>
                  <a:lnTo>
                    <a:pt x="79081" y="782312"/>
                  </a:lnTo>
                  <a:lnTo>
                    <a:pt x="37909" y="754570"/>
                  </a:lnTo>
                  <a:lnTo>
                    <a:pt x="10167" y="713398"/>
                  </a:lnTo>
                  <a:lnTo>
                    <a:pt x="0" y="662939"/>
                  </a:lnTo>
                  <a:lnTo>
                    <a:pt x="0" y="129539"/>
                  </a:lnTo>
                  <a:close/>
                </a:path>
              </a:pathLst>
            </a:custGeom>
            <a:ln w="9144">
              <a:solidFill>
                <a:srgbClr val="520977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7" name="object 7"/>
            <p:cNvSpPr/>
            <p:nvPr/>
          </p:nvSpPr>
          <p:spPr>
            <a:xfrm>
              <a:off x="5954267" y="2378964"/>
              <a:ext cx="5904230" cy="792480"/>
            </a:xfrm>
            <a:custGeom>
              <a:avLst/>
              <a:gdLst/>
              <a:ahLst/>
              <a:cxnLst/>
              <a:rect l="l" t="t" r="r" b="b"/>
              <a:pathLst>
                <a:path w="5904230" h="792480">
                  <a:moveTo>
                    <a:pt x="5774436" y="0"/>
                  </a:moveTo>
                  <a:lnTo>
                    <a:pt x="129540" y="0"/>
                  </a:lnTo>
                  <a:lnTo>
                    <a:pt x="79081" y="10167"/>
                  </a:lnTo>
                  <a:lnTo>
                    <a:pt x="37909" y="37909"/>
                  </a:lnTo>
                  <a:lnTo>
                    <a:pt x="10167" y="79081"/>
                  </a:lnTo>
                  <a:lnTo>
                    <a:pt x="0" y="129539"/>
                  </a:lnTo>
                  <a:lnTo>
                    <a:pt x="0" y="662939"/>
                  </a:lnTo>
                  <a:lnTo>
                    <a:pt x="10167" y="713398"/>
                  </a:lnTo>
                  <a:lnTo>
                    <a:pt x="37909" y="754570"/>
                  </a:lnTo>
                  <a:lnTo>
                    <a:pt x="79081" y="782312"/>
                  </a:lnTo>
                  <a:lnTo>
                    <a:pt x="129540" y="792480"/>
                  </a:lnTo>
                  <a:lnTo>
                    <a:pt x="5774436" y="792480"/>
                  </a:lnTo>
                  <a:lnTo>
                    <a:pt x="5824894" y="782312"/>
                  </a:lnTo>
                  <a:lnTo>
                    <a:pt x="5866066" y="754570"/>
                  </a:lnTo>
                  <a:lnTo>
                    <a:pt x="5893808" y="713398"/>
                  </a:lnTo>
                  <a:lnTo>
                    <a:pt x="5903976" y="662939"/>
                  </a:lnTo>
                  <a:lnTo>
                    <a:pt x="5903976" y="129539"/>
                  </a:lnTo>
                  <a:lnTo>
                    <a:pt x="5893808" y="79081"/>
                  </a:lnTo>
                  <a:lnTo>
                    <a:pt x="5866066" y="37909"/>
                  </a:lnTo>
                  <a:lnTo>
                    <a:pt x="5824894" y="10167"/>
                  </a:lnTo>
                  <a:lnTo>
                    <a:pt x="5774436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8" name="object 8"/>
            <p:cNvSpPr/>
            <p:nvPr/>
          </p:nvSpPr>
          <p:spPr>
            <a:xfrm>
              <a:off x="5954267" y="2378964"/>
              <a:ext cx="5904230" cy="792480"/>
            </a:xfrm>
            <a:custGeom>
              <a:avLst/>
              <a:gdLst/>
              <a:ahLst/>
              <a:cxnLst/>
              <a:rect l="l" t="t" r="r" b="b"/>
              <a:pathLst>
                <a:path w="5904230" h="792480">
                  <a:moveTo>
                    <a:pt x="0" y="129539"/>
                  </a:moveTo>
                  <a:lnTo>
                    <a:pt x="10167" y="79081"/>
                  </a:lnTo>
                  <a:lnTo>
                    <a:pt x="37909" y="37909"/>
                  </a:lnTo>
                  <a:lnTo>
                    <a:pt x="79081" y="10167"/>
                  </a:lnTo>
                  <a:lnTo>
                    <a:pt x="129540" y="0"/>
                  </a:lnTo>
                  <a:lnTo>
                    <a:pt x="5774436" y="0"/>
                  </a:lnTo>
                  <a:lnTo>
                    <a:pt x="5824894" y="10167"/>
                  </a:lnTo>
                  <a:lnTo>
                    <a:pt x="5866066" y="37909"/>
                  </a:lnTo>
                  <a:lnTo>
                    <a:pt x="5893808" y="79081"/>
                  </a:lnTo>
                  <a:lnTo>
                    <a:pt x="5903976" y="129539"/>
                  </a:lnTo>
                  <a:lnTo>
                    <a:pt x="5903976" y="662939"/>
                  </a:lnTo>
                  <a:lnTo>
                    <a:pt x="5893808" y="713398"/>
                  </a:lnTo>
                  <a:lnTo>
                    <a:pt x="5866066" y="754570"/>
                  </a:lnTo>
                  <a:lnTo>
                    <a:pt x="5824894" y="782312"/>
                  </a:lnTo>
                  <a:lnTo>
                    <a:pt x="5774436" y="792480"/>
                  </a:lnTo>
                  <a:lnTo>
                    <a:pt x="129540" y="792480"/>
                  </a:lnTo>
                  <a:lnTo>
                    <a:pt x="79081" y="782312"/>
                  </a:lnTo>
                  <a:lnTo>
                    <a:pt x="37909" y="754570"/>
                  </a:lnTo>
                  <a:lnTo>
                    <a:pt x="10167" y="713398"/>
                  </a:lnTo>
                  <a:lnTo>
                    <a:pt x="0" y="662939"/>
                  </a:lnTo>
                  <a:lnTo>
                    <a:pt x="0" y="129539"/>
                  </a:lnTo>
                  <a:close/>
                </a:path>
              </a:pathLst>
            </a:custGeom>
            <a:ln w="9144">
              <a:solidFill>
                <a:srgbClr val="520977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9" name="object 9"/>
            <p:cNvSpPr/>
            <p:nvPr/>
          </p:nvSpPr>
          <p:spPr>
            <a:xfrm>
              <a:off x="5954267" y="3387852"/>
              <a:ext cx="5904230" cy="792480"/>
            </a:xfrm>
            <a:custGeom>
              <a:avLst/>
              <a:gdLst/>
              <a:ahLst/>
              <a:cxnLst/>
              <a:rect l="l" t="t" r="r" b="b"/>
              <a:pathLst>
                <a:path w="5904230" h="792479">
                  <a:moveTo>
                    <a:pt x="5774436" y="0"/>
                  </a:moveTo>
                  <a:lnTo>
                    <a:pt x="129540" y="0"/>
                  </a:lnTo>
                  <a:lnTo>
                    <a:pt x="79081" y="10167"/>
                  </a:lnTo>
                  <a:lnTo>
                    <a:pt x="37909" y="37909"/>
                  </a:lnTo>
                  <a:lnTo>
                    <a:pt x="10167" y="79081"/>
                  </a:lnTo>
                  <a:lnTo>
                    <a:pt x="0" y="129539"/>
                  </a:lnTo>
                  <a:lnTo>
                    <a:pt x="0" y="662940"/>
                  </a:lnTo>
                  <a:lnTo>
                    <a:pt x="10167" y="713398"/>
                  </a:lnTo>
                  <a:lnTo>
                    <a:pt x="37909" y="754570"/>
                  </a:lnTo>
                  <a:lnTo>
                    <a:pt x="79081" y="782312"/>
                  </a:lnTo>
                  <a:lnTo>
                    <a:pt x="129540" y="792480"/>
                  </a:lnTo>
                  <a:lnTo>
                    <a:pt x="5774436" y="792480"/>
                  </a:lnTo>
                  <a:lnTo>
                    <a:pt x="5824894" y="782312"/>
                  </a:lnTo>
                  <a:lnTo>
                    <a:pt x="5866066" y="754570"/>
                  </a:lnTo>
                  <a:lnTo>
                    <a:pt x="5893808" y="713398"/>
                  </a:lnTo>
                  <a:lnTo>
                    <a:pt x="5903976" y="662940"/>
                  </a:lnTo>
                  <a:lnTo>
                    <a:pt x="5903976" y="129539"/>
                  </a:lnTo>
                  <a:lnTo>
                    <a:pt x="5893808" y="79081"/>
                  </a:lnTo>
                  <a:lnTo>
                    <a:pt x="5866066" y="37909"/>
                  </a:lnTo>
                  <a:lnTo>
                    <a:pt x="5824894" y="10167"/>
                  </a:lnTo>
                  <a:lnTo>
                    <a:pt x="5774436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0" name="object 10"/>
            <p:cNvSpPr/>
            <p:nvPr/>
          </p:nvSpPr>
          <p:spPr>
            <a:xfrm>
              <a:off x="5954267" y="3387852"/>
              <a:ext cx="5904230" cy="792480"/>
            </a:xfrm>
            <a:custGeom>
              <a:avLst/>
              <a:gdLst/>
              <a:ahLst/>
              <a:cxnLst/>
              <a:rect l="l" t="t" r="r" b="b"/>
              <a:pathLst>
                <a:path w="5904230" h="792479">
                  <a:moveTo>
                    <a:pt x="0" y="129539"/>
                  </a:moveTo>
                  <a:lnTo>
                    <a:pt x="10167" y="79081"/>
                  </a:lnTo>
                  <a:lnTo>
                    <a:pt x="37909" y="37909"/>
                  </a:lnTo>
                  <a:lnTo>
                    <a:pt x="79081" y="10167"/>
                  </a:lnTo>
                  <a:lnTo>
                    <a:pt x="129540" y="0"/>
                  </a:lnTo>
                  <a:lnTo>
                    <a:pt x="5774436" y="0"/>
                  </a:lnTo>
                  <a:lnTo>
                    <a:pt x="5824894" y="10167"/>
                  </a:lnTo>
                  <a:lnTo>
                    <a:pt x="5866066" y="37909"/>
                  </a:lnTo>
                  <a:lnTo>
                    <a:pt x="5893808" y="79081"/>
                  </a:lnTo>
                  <a:lnTo>
                    <a:pt x="5903976" y="129539"/>
                  </a:lnTo>
                  <a:lnTo>
                    <a:pt x="5903976" y="662940"/>
                  </a:lnTo>
                  <a:lnTo>
                    <a:pt x="5893808" y="713398"/>
                  </a:lnTo>
                  <a:lnTo>
                    <a:pt x="5866066" y="754570"/>
                  </a:lnTo>
                  <a:lnTo>
                    <a:pt x="5824894" y="782312"/>
                  </a:lnTo>
                  <a:lnTo>
                    <a:pt x="5774436" y="792480"/>
                  </a:lnTo>
                  <a:lnTo>
                    <a:pt x="129540" y="792480"/>
                  </a:lnTo>
                  <a:lnTo>
                    <a:pt x="79081" y="782312"/>
                  </a:lnTo>
                  <a:lnTo>
                    <a:pt x="37909" y="754570"/>
                  </a:lnTo>
                  <a:lnTo>
                    <a:pt x="10167" y="713398"/>
                  </a:lnTo>
                  <a:lnTo>
                    <a:pt x="0" y="662940"/>
                  </a:lnTo>
                  <a:lnTo>
                    <a:pt x="0" y="129539"/>
                  </a:lnTo>
                  <a:close/>
                </a:path>
              </a:pathLst>
            </a:custGeom>
            <a:ln w="9144">
              <a:solidFill>
                <a:srgbClr val="520977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1" name="object 11"/>
            <p:cNvSpPr/>
            <p:nvPr/>
          </p:nvSpPr>
          <p:spPr>
            <a:xfrm>
              <a:off x="5954267" y="4399788"/>
              <a:ext cx="5904230" cy="792480"/>
            </a:xfrm>
            <a:custGeom>
              <a:avLst/>
              <a:gdLst/>
              <a:ahLst/>
              <a:cxnLst/>
              <a:rect l="l" t="t" r="r" b="b"/>
              <a:pathLst>
                <a:path w="5904230" h="792479">
                  <a:moveTo>
                    <a:pt x="5774436" y="0"/>
                  </a:moveTo>
                  <a:lnTo>
                    <a:pt x="129540" y="0"/>
                  </a:lnTo>
                  <a:lnTo>
                    <a:pt x="79081" y="10167"/>
                  </a:lnTo>
                  <a:lnTo>
                    <a:pt x="37909" y="37909"/>
                  </a:lnTo>
                  <a:lnTo>
                    <a:pt x="10167" y="79081"/>
                  </a:lnTo>
                  <a:lnTo>
                    <a:pt x="0" y="129539"/>
                  </a:lnTo>
                  <a:lnTo>
                    <a:pt x="0" y="662939"/>
                  </a:lnTo>
                  <a:lnTo>
                    <a:pt x="10167" y="713398"/>
                  </a:lnTo>
                  <a:lnTo>
                    <a:pt x="37909" y="754570"/>
                  </a:lnTo>
                  <a:lnTo>
                    <a:pt x="79081" y="782312"/>
                  </a:lnTo>
                  <a:lnTo>
                    <a:pt x="129540" y="792480"/>
                  </a:lnTo>
                  <a:lnTo>
                    <a:pt x="5774436" y="792480"/>
                  </a:lnTo>
                  <a:lnTo>
                    <a:pt x="5824894" y="782312"/>
                  </a:lnTo>
                  <a:lnTo>
                    <a:pt x="5866066" y="754570"/>
                  </a:lnTo>
                  <a:lnTo>
                    <a:pt x="5893808" y="713398"/>
                  </a:lnTo>
                  <a:lnTo>
                    <a:pt x="5903976" y="662939"/>
                  </a:lnTo>
                  <a:lnTo>
                    <a:pt x="5903976" y="129539"/>
                  </a:lnTo>
                  <a:lnTo>
                    <a:pt x="5893808" y="79081"/>
                  </a:lnTo>
                  <a:lnTo>
                    <a:pt x="5866066" y="37909"/>
                  </a:lnTo>
                  <a:lnTo>
                    <a:pt x="5824894" y="10167"/>
                  </a:lnTo>
                  <a:lnTo>
                    <a:pt x="5774436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2" name="object 12"/>
            <p:cNvSpPr/>
            <p:nvPr/>
          </p:nvSpPr>
          <p:spPr>
            <a:xfrm>
              <a:off x="5954267" y="4399788"/>
              <a:ext cx="5904230" cy="792480"/>
            </a:xfrm>
            <a:custGeom>
              <a:avLst/>
              <a:gdLst/>
              <a:ahLst/>
              <a:cxnLst/>
              <a:rect l="l" t="t" r="r" b="b"/>
              <a:pathLst>
                <a:path w="5904230" h="792479">
                  <a:moveTo>
                    <a:pt x="0" y="129539"/>
                  </a:moveTo>
                  <a:lnTo>
                    <a:pt x="10167" y="79081"/>
                  </a:lnTo>
                  <a:lnTo>
                    <a:pt x="37909" y="37909"/>
                  </a:lnTo>
                  <a:lnTo>
                    <a:pt x="79081" y="10167"/>
                  </a:lnTo>
                  <a:lnTo>
                    <a:pt x="129540" y="0"/>
                  </a:lnTo>
                  <a:lnTo>
                    <a:pt x="5774436" y="0"/>
                  </a:lnTo>
                  <a:lnTo>
                    <a:pt x="5824894" y="10167"/>
                  </a:lnTo>
                  <a:lnTo>
                    <a:pt x="5866066" y="37909"/>
                  </a:lnTo>
                  <a:lnTo>
                    <a:pt x="5893808" y="79081"/>
                  </a:lnTo>
                  <a:lnTo>
                    <a:pt x="5903976" y="129539"/>
                  </a:lnTo>
                  <a:lnTo>
                    <a:pt x="5903976" y="662939"/>
                  </a:lnTo>
                  <a:lnTo>
                    <a:pt x="5893808" y="713398"/>
                  </a:lnTo>
                  <a:lnTo>
                    <a:pt x="5866066" y="754570"/>
                  </a:lnTo>
                  <a:lnTo>
                    <a:pt x="5824894" y="782312"/>
                  </a:lnTo>
                  <a:lnTo>
                    <a:pt x="5774436" y="792480"/>
                  </a:lnTo>
                  <a:lnTo>
                    <a:pt x="129540" y="792480"/>
                  </a:lnTo>
                  <a:lnTo>
                    <a:pt x="79081" y="782312"/>
                  </a:lnTo>
                  <a:lnTo>
                    <a:pt x="37909" y="754570"/>
                  </a:lnTo>
                  <a:lnTo>
                    <a:pt x="10167" y="713398"/>
                  </a:lnTo>
                  <a:lnTo>
                    <a:pt x="0" y="662939"/>
                  </a:lnTo>
                  <a:lnTo>
                    <a:pt x="0" y="129539"/>
                  </a:lnTo>
                  <a:close/>
                </a:path>
              </a:pathLst>
            </a:custGeom>
            <a:ln w="9144">
              <a:solidFill>
                <a:srgbClr val="520977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3" name="object 13"/>
            <p:cNvSpPr/>
            <p:nvPr/>
          </p:nvSpPr>
          <p:spPr>
            <a:xfrm>
              <a:off x="5954267" y="5411723"/>
              <a:ext cx="5904230" cy="789940"/>
            </a:xfrm>
            <a:custGeom>
              <a:avLst/>
              <a:gdLst/>
              <a:ahLst/>
              <a:cxnLst/>
              <a:rect l="l" t="t" r="r" b="b"/>
              <a:pathLst>
                <a:path w="5904230" h="789939">
                  <a:moveTo>
                    <a:pt x="5774944" y="0"/>
                  </a:moveTo>
                  <a:lnTo>
                    <a:pt x="129032" y="0"/>
                  </a:lnTo>
                  <a:lnTo>
                    <a:pt x="78813" y="10142"/>
                  </a:lnTo>
                  <a:lnTo>
                    <a:pt x="37798" y="37798"/>
                  </a:lnTo>
                  <a:lnTo>
                    <a:pt x="10142" y="78813"/>
                  </a:lnTo>
                  <a:lnTo>
                    <a:pt x="0" y="129031"/>
                  </a:lnTo>
                  <a:lnTo>
                    <a:pt x="0" y="660450"/>
                  </a:lnTo>
                  <a:lnTo>
                    <a:pt x="10142" y="710656"/>
                  </a:lnTo>
                  <a:lnTo>
                    <a:pt x="37798" y="751654"/>
                  </a:lnTo>
                  <a:lnTo>
                    <a:pt x="78813" y="779296"/>
                  </a:lnTo>
                  <a:lnTo>
                    <a:pt x="129032" y="789432"/>
                  </a:lnTo>
                  <a:lnTo>
                    <a:pt x="5774944" y="789432"/>
                  </a:lnTo>
                  <a:lnTo>
                    <a:pt x="5825162" y="779296"/>
                  </a:lnTo>
                  <a:lnTo>
                    <a:pt x="5866177" y="751654"/>
                  </a:lnTo>
                  <a:lnTo>
                    <a:pt x="5893833" y="710656"/>
                  </a:lnTo>
                  <a:lnTo>
                    <a:pt x="5903976" y="660450"/>
                  </a:lnTo>
                  <a:lnTo>
                    <a:pt x="5903976" y="129031"/>
                  </a:lnTo>
                  <a:lnTo>
                    <a:pt x="5893833" y="78813"/>
                  </a:lnTo>
                  <a:lnTo>
                    <a:pt x="5866177" y="37798"/>
                  </a:lnTo>
                  <a:lnTo>
                    <a:pt x="5825162" y="10142"/>
                  </a:lnTo>
                  <a:lnTo>
                    <a:pt x="5774944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4" name="object 14"/>
            <p:cNvSpPr/>
            <p:nvPr/>
          </p:nvSpPr>
          <p:spPr>
            <a:xfrm>
              <a:off x="5954267" y="5411723"/>
              <a:ext cx="5904230" cy="789940"/>
            </a:xfrm>
            <a:custGeom>
              <a:avLst/>
              <a:gdLst/>
              <a:ahLst/>
              <a:cxnLst/>
              <a:rect l="l" t="t" r="r" b="b"/>
              <a:pathLst>
                <a:path w="5904230" h="789939">
                  <a:moveTo>
                    <a:pt x="0" y="129031"/>
                  </a:moveTo>
                  <a:lnTo>
                    <a:pt x="10142" y="78813"/>
                  </a:lnTo>
                  <a:lnTo>
                    <a:pt x="37798" y="37798"/>
                  </a:lnTo>
                  <a:lnTo>
                    <a:pt x="78813" y="10142"/>
                  </a:lnTo>
                  <a:lnTo>
                    <a:pt x="129032" y="0"/>
                  </a:lnTo>
                  <a:lnTo>
                    <a:pt x="5774944" y="0"/>
                  </a:lnTo>
                  <a:lnTo>
                    <a:pt x="5825162" y="10142"/>
                  </a:lnTo>
                  <a:lnTo>
                    <a:pt x="5866177" y="37798"/>
                  </a:lnTo>
                  <a:lnTo>
                    <a:pt x="5893833" y="78813"/>
                  </a:lnTo>
                  <a:lnTo>
                    <a:pt x="5903976" y="129031"/>
                  </a:lnTo>
                  <a:lnTo>
                    <a:pt x="5903976" y="660450"/>
                  </a:lnTo>
                  <a:lnTo>
                    <a:pt x="5893833" y="710656"/>
                  </a:lnTo>
                  <a:lnTo>
                    <a:pt x="5866177" y="751654"/>
                  </a:lnTo>
                  <a:lnTo>
                    <a:pt x="5825162" y="779296"/>
                  </a:lnTo>
                  <a:lnTo>
                    <a:pt x="5774944" y="789432"/>
                  </a:lnTo>
                  <a:lnTo>
                    <a:pt x="129032" y="789432"/>
                  </a:lnTo>
                  <a:lnTo>
                    <a:pt x="78813" y="779296"/>
                  </a:lnTo>
                  <a:lnTo>
                    <a:pt x="37798" y="751654"/>
                  </a:lnTo>
                  <a:lnTo>
                    <a:pt x="10142" y="710656"/>
                  </a:lnTo>
                  <a:lnTo>
                    <a:pt x="0" y="660450"/>
                  </a:lnTo>
                  <a:lnTo>
                    <a:pt x="0" y="129031"/>
                  </a:lnTo>
                  <a:close/>
                </a:path>
              </a:pathLst>
            </a:custGeom>
            <a:ln w="9144">
              <a:solidFill>
                <a:srgbClr val="520977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5" name="object 15"/>
            <p:cNvSpPr/>
            <p:nvPr/>
          </p:nvSpPr>
          <p:spPr>
            <a:xfrm>
              <a:off x="348995" y="1367027"/>
              <a:ext cx="5389245" cy="4834255"/>
            </a:xfrm>
            <a:custGeom>
              <a:avLst/>
              <a:gdLst/>
              <a:ahLst/>
              <a:cxnLst/>
              <a:rect l="l" t="t" r="r" b="b"/>
              <a:pathLst>
                <a:path w="5389245" h="4834255">
                  <a:moveTo>
                    <a:pt x="5247767" y="0"/>
                  </a:moveTo>
                  <a:lnTo>
                    <a:pt x="141109" y="0"/>
                  </a:lnTo>
                  <a:lnTo>
                    <a:pt x="96510" y="7188"/>
                  </a:lnTo>
                  <a:lnTo>
                    <a:pt x="57774" y="27208"/>
                  </a:lnTo>
                  <a:lnTo>
                    <a:pt x="27227" y="57744"/>
                  </a:lnTo>
                  <a:lnTo>
                    <a:pt x="7194" y="96479"/>
                  </a:lnTo>
                  <a:lnTo>
                    <a:pt x="0" y="141097"/>
                  </a:lnTo>
                  <a:lnTo>
                    <a:pt x="0" y="4693018"/>
                  </a:lnTo>
                  <a:lnTo>
                    <a:pt x="7194" y="4737617"/>
                  </a:lnTo>
                  <a:lnTo>
                    <a:pt x="27227" y="4776353"/>
                  </a:lnTo>
                  <a:lnTo>
                    <a:pt x="57774" y="4806900"/>
                  </a:lnTo>
                  <a:lnTo>
                    <a:pt x="96510" y="4826933"/>
                  </a:lnTo>
                  <a:lnTo>
                    <a:pt x="141109" y="4834128"/>
                  </a:lnTo>
                  <a:lnTo>
                    <a:pt x="5247767" y="4834128"/>
                  </a:lnTo>
                  <a:lnTo>
                    <a:pt x="5292384" y="4826933"/>
                  </a:lnTo>
                  <a:lnTo>
                    <a:pt x="5331119" y="4806900"/>
                  </a:lnTo>
                  <a:lnTo>
                    <a:pt x="5361655" y="4776353"/>
                  </a:lnTo>
                  <a:lnTo>
                    <a:pt x="5381675" y="4737617"/>
                  </a:lnTo>
                  <a:lnTo>
                    <a:pt x="5388864" y="4693018"/>
                  </a:lnTo>
                  <a:lnTo>
                    <a:pt x="5388864" y="141097"/>
                  </a:lnTo>
                  <a:lnTo>
                    <a:pt x="5381675" y="96479"/>
                  </a:lnTo>
                  <a:lnTo>
                    <a:pt x="5361655" y="57744"/>
                  </a:lnTo>
                  <a:lnTo>
                    <a:pt x="5331119" y="27208"/>
                  </a:lnTo>
                  <a:lnTo>
                    <a:pt x="5292384" y="7188"/>
                  </a:lnTo>
                  <a:lnTo>
                    <a:pt x="5247767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6" name="object 16"/>
            <p:cNvSpPr/>
            <p:nvPr/>
          </p:nvSpPr>
          <p:spPr>
            <a:xfrm>
              <a:off x="348995" y="1367027"/>
              <a:ext cx="5389245" cy="4834255"/>
            </a:xfrm>
            <a:custGeom>
              <a:avLst/>
              <a:gdLst/>
              <a:ahLst/>
              <a:cxnLst/>
              <a:rect l="l" t="t" r="r" b="b"/>
              <a:pathLst>
                <a:path w="5389245" h="4834255">
                  <a:moveTo>
                    <a:pt x="0" y="141097"/>
                  </a:moveTo>
                  <a:lnTo>
                    <a:pt x="7194" y="96479"/>
                  </a:lnTo>
                  <a:lnTo>
                    <a:pt x="27227" y="57744"/>
                  </a:lnTo>
                  <a:lnTo>
                    <a:pt x="57774" y="27208"/>
                  </a:lnTo>
                  <a:lnTo>
                    <a:pt x="96510" y="7188"/>
                  </a:lnTo>
                  <a:lnTo>
                    <a:pt x="141109" y="0"/>
                  </a:lnTo>
                  <a:lnTo>
                    <a:pt x="5247767" y="0"/>
                  </a:lnTo>
                  <a:lnTo>
                    <a:pt x="5292384" y="7188"/>
                  </a:lnTo>
                  <a:lnTo>
                    <a:pt x="5331119" y="27208"/>
                  </a:lnTo>
                  <a:lnTo>
                    <a:pt x="5361655" y="57744"/>
                  </a:lnTo>
                  <a:lnTo>
                    <a:pt x="5381675" y="96479"/>
                  </a:lnTo>
                  <a:lnTo>
                    <a:pt x="5388864" y="141097"/>
                  </a:lnTo>
                  <a:lnTo>
                    <a:pt x="5388864" y="4693018"/>
                  </a:lnTo>
                  <a:lnTo>
                    <a:pt x="5381675" y="4737617"/>
                  </a:lnTo>
                  <a:lnTo>
                    <a:pt x="5361655" y="4776353"/>
                  </a:lnTo>
                  <a:lnTo>
                    <a:pt x="5331119" y="4806900"/>
                  </a:lnTo>
                  <a:lnTo>
                    <a:pt x="5292384" y="4826933"/>
                  </a:lnTo>
                  <a:lnTo>
                    <a:pt x="5247767" y="4834128"/>
                  </a:lnTo>
                  <a:lnTo>
                    <a:pt x="141109" y="4834128"/>
                  </a:lnTo>
                  <a:lnTo>
                    <a:pt x="96510" y="4826933"/>
                  </a:lnTo>
                  <a:lnTo>
                    <a:pt x="57774" y="4806900"/>
                  </a:lnTo>
                  <a:lnTo>
                    <a:pt x="27227" y="4776353"/>
                  </a:lnTo>
                  <a:lnTo>
                    <a:pt x="7194" y="4737617"/>
                  </a:lnTo>
                  <a:lnTo>
                    <a:pt x="0" y="4693018"/>
                  </a:lnTo>
                  <a:lnTo>
                    <a:pt x="0" y="141097"/>
                  </a:lnTo>
                  <a:close/>
                </a:path>
              </a:pathLst>
            </a:custGeom>
            <a:ln w="9144">
              <a:solidFill>
                <a:srgbClr val="520977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7" name="object 17"/>
          <p:cNvSpPr txBox="1"/>
          <p:nvPr/>
        </p:nvSpPr>
        <p:spPr>
          <a:xfrm>
            <a:off x="11815953" y="6449170"/>
            <a:ext cx="196215" cy="196215"/>
          </a:xfrm>
          <a:prstGeom prst="rect">
            <a:avLst/>
          </a:prstGeom>
        </p:spPr>
        <p:txBody>
          <a:bodyPr wrap="square" lIns="0" tIns="0" rIns="0" bIns="0" rtlCol="0" vert="horz">
            <a:spAutoFit/>
          </a:bodyPr>
          <a:lstStyle/>
          <a:p>
            <a:pPr marL="12700">
              <a:lnSpc>
                <a:spcPts val="1425"/>
              </a:lnSpc>
            </a:pPr>
            <a:r>
              <a:rPr sz="1200">
                <a:solidFill>
                  <a:srgbClr val="520978"/>
                </a:solidFill>
                <a:latin typeface="Montserrat"/>
              </a:rPr>
              <a:t>9</a:t>
            </a:r>
            <a:endParaRPr sz="1200">
              <a:latin typeface="Microsoft Sans Serif"/>
              <a:cs typeface="Microsoft Sans Serif"/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347472" y="320040"/>
            <a:ext cx="4206240" cy="475488"/>
          </a:xfrm>
          <a:prstGeom prst="roundRect">
            <a:avLst>
              <a:gd name="adj" fmla="val 50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/>
            <a:r>
              <a:rPr sz="1300" b="1">
                <a:solidFill>
                  <a:srgbClr val="FFFFFF"/>
                </a:solidFill>
                <a:latin typeface="Montserrat"/>
              </a:rPr>
              <a:t>03 · Бизнес-составляющая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47472" y="1362456"/>
            <a:ext cx="5385816" cy="48371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3504" y="1627632"/>
            <a:ext cx="48463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500" b="1">
                <a:solidFill>
                  <a:srgbClr val="520978"/>
                </a:solidFill>
                <a:latin typeface="Montserrat"/>
              </a:rPr>
              <a:t>Эффект для ИТ Школы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200" b="0">
                <a:solidFill>
                  <a:srgbClr val="1C1D22"/>
                </a:solidFill>
                <a:latin typeface="Montserrat"/>
              </a:rPr>
              <a:t>•  Единый контур вместо таблиц и чатов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200" b="0">
                <a:solidFill>
                  <a:srgbClr val="1C1D22"/>
                </a:solidFill>
                <a:latin typeface="Montserrat"/>
              </a:rPr>
              <a:t>•  Прозрачные этапы и ответственные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200" b="0">
                <a:solidFill>
                  <a:srgbClr val="1C1D22"/>
                </a:solidFill>
                <a:latin typeface="Montserrat"/>
              </a:rPr>
              <a:t>•  Отчёт руководителю за секунды, а не за день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200" b="0">
                <a:solidFill>
                  <a:srgbClr val="1C1D22"/>
                </a:solidFill>
                <a:latin typeface="Montserrat"/>
              </a:rPr>
              <a:t>•  Сохранённая история взаимодействий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6B5B78"/>
                </a:solidFill>
                <a:latin typeface="Montserrat"/>
              </a:rPr>
              <a:t>•  Ограничение: не более 2 активных взаимодействий на вуз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52744" y="1362456"/>
            <a:ext cx="590702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300" b="1">
                <a:solidFill>
                  <a:srgbClr val="520978"/>
                </a:solidFill>
                <a:latin typeface="Montserrat"/>
              </a:rPr>
              <a:t>Показатели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52744" y="1847088"/>
            <a:ext cx="5907024" cy="749808"/>
          </a:xfrm>
          <a:prstGeom prst="roundRect">
            <a:avLst>
              <a:gd name="adj" fmla="val 6000"/>
            </a:avLst>
          </a:prstGeom>
          <a:solidFill>
            <a:srgbClr val="F7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72200" y="1965960"/>
            <a:ext cx="2377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500" b="1">
                <a:solidFill>
                  <a:srgbClr val="FF0053"/>
                </a:solidFill>
                <a:latin typeface="Montserrat"/>
              </a:rPr>
              <a:t>14 этапов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49640" y="2029968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6B5B78"/>
                </a:solidFill>
                <a:latin typeface="Montserrat"/>
              </a:rPr>
              <a:t>воронка B2B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952744" y="2816352"/>
            <a:ext cx="5907024" cy="749808"/>
          </a:xfrm>
          <a:prstGeom prst="roundRect">
            <a:avLst>
              <a:gd name="adj" fmla="val 6000"/>
            </a:avLst>
          </a:prstGeom>
          <a:solidFill>
            <a:srgbClr val="F7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172200" y="2935224"/>
            <a:ext cx="2377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500" b="1">
                <a:solidFill>
                  <a:srgbClr val="FF0053"/>
                </a:solidFill>
                <a:latin typeface="Montserrat"/>
              </a:rPr>
              <a:t>4 этапа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49640" y="2999232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6B5B78"/>
                </a:solidFill>
                <a:latin typeface="Montserrat"/>
              </a:rPr>
              <a:t>воронка B2C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952744" y="3785616"/>
            <a:ext cx="5907024" cy="749808"/>
          </a:xfrm>
          <a:prstGeom prst="roundRect">
            <a:avLst>
              <a:gd name="adj" fmla="val 6000"/>
            </a:avLst>
          </a:prstGeom>
          <a:solidFill>
            <a:srgbClr val="F7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72200" y="3904488"/>
            <a:ext cx="2377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500" b="1">
                <a:solidFill>
                  <a:srgbClr val="FF0053"/>
                </a:solidFill>
                <a:latin typeface="Montserrat"/>
              </a:rPr>
              <a:t>4 формата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49640" y="3968496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6B5B78"/>
                </a:solidFill>
                <a:latin typeface="Montserrat"/>
              </a:rPr>
              <a:t>XLSX · XLS · PDF · JSON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952744" y="4754880"/>
            <a:ext cx="5907024" cy="749808"/>
          </a:xfrm>
          <a:prstGeom prst="roundRect">
            <a:avLst>
              <a:gd name="adj" fmla="val 6000"/>
            </a:avLst>
          </a:prstGeom>
          <a:solidFill>
            <a:srgbClr val="F7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172200" y="4873752"/>
            <a:ext cx="2377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500" b="1">
                <a:solidFill>
                  <a:srgbClr val="FF0053"/>
                </a:solidFill>
                <a:latin typeface="Montserrat"/>
              </a:rPr>
              <a:t>2 роли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49640" y="493776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6B5B78"/>
                </a:solidFill>
                <a:latin typeface="Montserrat"/>
              </a:rPr>
              <a:t>менеджер и администратор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952744" y="5724144"/>
            <a:ext cx="5907024" cy="749808"/>
          </a:xfrm>
          <a:prstGeom prst="roundRect">
            <a:avLst>
              <a:gd name="adj" fmla="val 6000"/>
            </a:avLst>
          </a:prstGeom>
          <a:solidFill>
            <a:srgbClr val="F7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172200" y="5843016"/>
            <a:ext cx="2377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500" b="1">
                <a:solidFill>
                  <a:srgbClr val="FF0053"/>
                </a:solidFill>
                <a:latin typeface="Montserrat"/>
              </a:rPr>
              <a:t>0 ошибок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49640" y="5907024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0">
                <a:solidFill>
                  <a:srgbClr val="6B5B78"/>
                </a:solidFill>
                <a:latin typeface="Montserrat"/>
              </a:rPr>
              <a:t>на нагрузочном прогоне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0"/>
            <a:ext cx="11874500" cy="6858000"/>
            <a:chOff x="0" y="0"/>
            <a:chExt cx="11874500" cy="6858000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0"/>
              <a:ext cx="11874500" cy="6857999"/>
            </a:xfrm>
            <a:prstGeom prst="rect">
              <a:avLst/>
            </a:prstGeom>
          </p:spPr>
        </p:pic>
        <p:sp>
          <p:nvSpPr>
            <p:cNvPr id="4" name="object 4"/>
            <p:cNvSpPr/>
            <p:nvPr/>
          </p:nvSpPr>
          <p:spPr>
            <a:xfrm>
              <a:off x="347472" y="323088"/>
              <a:ext cx="3108960" cy="622300"/>
            </a:xfrm>
            <a:custGeom>
              <a:avLst/>
              <a:gdLst/>
              <a:ahLst/>
              <a:cxnLst/>
              <a:rect l="l" t="t" r="r" b="b"/>
              <a:pathLst>
                <a:path w="3108960" h="622300">
                  <a:moveTo>
                    <a:pt x="2992628" y="0"/>
                  </a:moveTo>
                  <a:lnTo>
                    <a:pt x="116319" y="0"/>
                  </a:lnTo>
                  <a:lnTo>
                    <a:pt x="71039" y="9140"/>
                  </a:lnTo>
                  <a:lnTo>
                    <a:pt x="34066" y="34067"/>
                  </a:lnTo>
                  <a:lnTo>
                    <a:pt x="9139" y="71044"/>
                  </a:lnTo>
                  <a:lnTo>
                    <a:pt x="0" y="116331"/>
                  </a:lnTo>
                  <a:lnTo>
                    <a:pt x="0" y="505459"/>
                  </a:lnTo>
                  <a:lnTo>
                    <a:pt x="9139" y="550747"/>
                  </a:lnTo>
                  <a:lnTo>
                    <a:pt x="34066" y="587724"/>
                  </a:lnTo>
                  <a:lnTo>
                    <a:pt x="71039" y="612651"/>
                  </a:lnTo>
                  <a:lnTo>
                    <a:pt x="116319" y="621791"/>
                  </a:lnTo>
                  <a:lnTo>
                    <a:pt x="2992628" y="621791"/>
                  </a:lnTo>
                  <a:lnTo>
                    <a:pt x="3037915" y="612651"/>
                  </a:lnTo>
                  <a:lnTo>
                    <a:pt x="3074892" y="587724"/>
                  </a:lnTo>
                  <a:lnTo>
                    <a:pt x="3099819" y="550747"/>
                  </a:lnTo>
                  <a:lnTo>
                    <a:pt x="3108960" y="505459"/>
                  </a:lnTo>
                  <a:lnTo>
                    <a:pt x="3108960" y="116331"/>
                  </a:lnTo>
                  <a:lnTo>
                    <a:pt x="3099819" y="71044"/>
                  </a:lnTo>
                  <a:lnTo>
                    <a:pt x="3074892" y="34067"/>
                  </a:lnTo>
                  <a:lnTo>
                    <a:pt x="3037915" y="9140"/>
                  </a:lnTo>
                  <a:lnTo>
                    <a:pt x="2992628" y="0"/>
                  </a:lnTo>
                  <a:close/>
                </a:path>
              </a:pathLst>
            </a:custGeom>
            <a:solidFill>
              <a:srgbClr val="520977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5" name="object 5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094232" y="1133855"/>
              <a:ext cx="4372229" cy="2924429"/>
            </a:xfrm>
            <a:prstGeom prst="rect">
              <a:avLst/>
            </a:prstGeom>
          </p:spPr>
        </p:pic>
        <p:sp>
          <p:nvSpPr>
            <p:cNvPr id="6" name="object 6"/>
            <p:cNvSpPr/>
            <p:nvPr/>
          </p:nvSpPr>
          <p:spPr>
            <a:xfrm>
              <a:off x="1149096" y="1149096"/>
              <a:ext cx="4267200" cy="2822575"/>
            </a:xfrm>
            <a:custGeom>
              <a:avLst/>
              <a:gdLst/>
              <a:ahLst/>
              <a:cxnLst/>
              <a:rect l="l" t="t" r="r" b="b"/>
              <a:pathLst>
                <a:path w="4267200" h="2822575">
                  <a:moveTo>
                    <a:pt x="4230751" y="0"/>
                  </a:moveTo>
                  <a:lnTo>
                    <a:pt x="36461" y="0"/>
                  </a:lnTo>
                  <a:lnTo>
                    <a:pt x="22272" y="2873"/>
                  </a:lnTo>
                  <a:lnTo>
                    <a:pt x="10682" y="10699"/>
                  </a:lnTo>
                  <a:lnTo>
                    <a:pt x="2866" y="22288"/>
                  </a:lnTo>
                  <a:lnTo>
                    <a:pt x="0" y="36449"/>
                  </a:lnTo>
                  <a:lnTo>
                    <a:pt x="0" y="2785998"/>
                  </a:lnTo>
                  <a:lnTo>
                    <a:pt x="2866" y="2800159"/>
                  </a:lnTo>
                  <a:lnTo>
                    <a:pt x="10682" y="2811748"/>
                  </a:lnTo>
                  <a:lnTo>
                    <a:pt x="22272" y="2819574"/>
                  </a:lnTo>
                  <a:lnTo>
                    <a:pt x="36461" y="2822447"/>
                  </a:lnTo>
                  <a:lnTo>
                    <a:pt x="4230751" y="2822447"/>
                  </a:lnTo>
                  <a:lnTo>
                    <a:pt x="4244911" y="2819574"/>
                  </a:lnTo>
                  <a:lnTo>
                    <a:pt x="4256500" y="2811748"/>
                  </a:lnTo>
                  <a:lnTo>
                    <a:pt x="4264326" y="2800159"/>
                  </a:lnTo>
                  <a:lnTo>
                    <a:pt x="4267200" y="2785998"/>
                  </a:lnTo>
                  <a:lnTo>
                    <a:pt x="4267200" y="36449"/>
                  </a:lnTo>
                  <a:lnTo>
                    <a:pt x="4264326" y="22288"/>
                  </a:lnTo>
                  <a:lnTo>
                    <a:pt x="4256500" y="10699"/>
                  </a:lnTo>
                  <a:lnTo>
                    <a:pt x="4244911" y="2873"/>
                  </a:lnTo>
                  <a:lnTo>
                    <a:pt x="4230751" y="0"/>
                  </a:lnTo>
                  <a:close/>
                </a:path>
              </a:pathLst>
            </a:custGeom>
            <a:solidFill>
              <a:srgbClr val="520977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7" name="object 7"/>
            <p:cNvSpPr/>
            <p:nvPr/>
          </p:nvSpPr>
          <p:spPr>
            <a:xfrm>
              <a:off x="1149096" y="1203959"/>
              <a:ext cx="4267200" cy="353695"/>
            </a:xfrm>
            <a:custGeom>
              <a:avLst/>
              <a:gdLst/>
              <a:ahLst/>
              <a:cxnLst/>
              <a:rect l="l" t="t" r="r" b="b"/>
              <a:pathLst>
                <a:path w="4267200" h="353694">
                  <a:moveTo>
                    <a:pt x="4267200" y="155448"/>
                  </a:moveTo>
                  <a:lnTo>
                    <a:pt x="2340864" y="155448"/>
                  </a:lnTo>
                  <a:lnTo>
                    <a:pt x="2340864" y="42418"/>
                  </a:lnTo>
                  <a:lnTo>
                    <a:pt x="2337536" y="25882"/>
                  </a:lnTo>
                  <a:lnTo>
                    <a:pt x="2328456" y="12407"/>
                  </a:lnTo>
                  <a:lnTo>
                    <a:pt x="2314981" y="3327"/>
                  </a:lnTo>
                  <a:lnTo>
                    <a:pt x="2298446" y="0"/>
                  </a:lnTo>
                  <a:lnTo>
                    <a:pt x="676402" y="0"/>
                  </a:lnTo>
                  <a:lnTo>
                    <a:pt x="659853" y="3327"/>
                  </a:lnTo>
                  <a:lnTo>
                    <a:pt x="646379" y="12407"/>
                  </a:lnTo>
                  <a:lnTo>
                    <a:pt x="637298" y="25882"/>
                  </a:lnTo>
                  <a:lnTo>
                    <a:pt x="633984" y="42418"/>
                  </a:lnTo>
                  <a:lnTo>
                    <a:pt x="633984" y="155448"/>
                  </a:lnTo>
                  <a:lnTo>
                    <a:pt x="0" y="155448"/>
                  </a:lnTo>
                  <a:lnTo>
                    <a:pt x="0" y="353568"/>
                  </a:lnTo>
                  <a:lnTo>
                    <a:pt x="676402" y="353568"/>
                  </a:lnTo>
                  <a:lnTo>
                    <a:pt x="2298446" y="353568"/>
                  </a:lnTo>
                  <a:lnTo>
                    <a:pt x="4267200" y="353568"/>
                  </a:lnTo>
                  <a:lnTo>
                    <a:pt x="4267200" y="155448"/>
                  </a:lnTo>
                  <a:close/>
                </a:path>
              </a:pathLst>
            </a:custGeom>
            <a:solidFill>
              <a:srgbClr val="160928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8" name="object 8"/>
            <p:cNvSpPr/>
            <p:nvPr/>
          </p:nvSpPr>
          <p:spPr>
            <a:xfrm>
              <a:off x="1219200" y="1225296"/>
              <a:ext cx="60960" cy="60960"/>
            </a:xfrm>
            <a:custGeom>
              <a:avLst/>
              <a:gdLst/>
              <a:ahLst/>
              <a:cxnLst/>
              <a:rect l="l" t="t" r="r" b="b"/>
              <a:pathLst>
                <a:path w="60959" h="60959">
                  <a:moveTo>
                    <a:pt x="30480" y="0"/>
                  </a:moveTo>
                  <a:lnTo>
                    <a:pt x="18618" y="2387"/>
                  </a:lnTo>
                  <a:lnTo>
                    <a:pt x="8929" y="8905"/>
                  </a:lnTo>
                  <a:lnTo>
                    <a:pt x="2396" y="18591"/>
                  </a:lnTo>
                  <a:lnTo>
                    <a:pt x="0" y="30479"/>
                  </a:lnTo>
                  <a:lnTo>
                    <a:pt x="2396" y="42368"/>
                  </a:lnTo>
                  <a:lnTo>
                    <a:pt x="8929" y="52054"/>
                  </a:lnTo>
                  <a:lnTo>
                    <a:pt x="18618" y="58572"/>
                  </a:lnTo>
                  <a:lnTo>
                    <a:pt x="30480" y="60959"/>
                  </a:lnTo>
                  <a:lnTo>
                    <a:pt x="42341" y="58572"/>
                  </a:lnTo>
                  <a:lnTo>
                    <a:pt x="52030" y="52054"/>
                  </a:lnTo>
                  <a:lnTo>
                    <a:pt x="58563" y="42368"/>
                  </a:lnTo>
                  <a:lnTo>
                    <a:pt x="60959" y="30479"/>
                  </a:lnTo>
                  <a:lnTo>
                    <a:pt x="58563" y="18591"/>
                  </a:lnTo>
                  <a:lnTo>
                    <a:pt x="52030" y="8905"/>
                  </a:lnTo>
                  <a:lnTo>
                    <a:pt x="42341" y="2387"/>
                  </a:lnTo>
                  <a:lnTo>
                    <a:pt x="30480" y="0"/>
                  </a:lnTo>
                  <a:close/>
                </a:path>
              </a:pathLst>
            </a:custGeom>
            <a:solidFill>
              <a:srgbClr val="FFD5E2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9" name="object 9"/>
            <p:cNvSpPr/>
            <p:nvPr/>
          </p:nvSpPr>
          <p:spPr>
            <a:xfrm>
              <a:off x="1325880" y="1225296"/>
              <a:ext cx="60960" cy="60960"/>
            </a:xfrm>
            <a:custGeom>
              <a:avLst/>
              <a:gdLst/>
              <a:ahLst/>
              <a:cxnLst/>
              <a:rect l="l" t="t" r="r" b="b"/>
              <a:pathLst>
                <a:path w="60959" h="60959">
                  <a:moveTo>
                    <a:pt x="30479" y="0"/>
                  </a:moveTo>
                  <a:lnTo>
                    <a:pt x="18591" y="2387"/>
                  </a:lnTo>
                  <a:lnTo>
                    <a:pt x="8905" y="8905"/>
                  </a:lnTo>
                  <a:lnTo>
                    <a:pt x="2387" y="18591"/>
                  </a:lnTo>
                  <a:lnTo>
                    <a:pt x="0" y="30479"/>
                  </a:lnTo>
                  <a:lnTo>
                    <a:pt x="2387" y="42368"/>
                  </a:lnTo>
                  <a:lnTo>
                    <a:pt x="8905" y="52054"/>
                  </a:lnTo>
                  <a:lnTo>
                    <a:pt x="18591" y="58572"/>
                  </a:lnTo>
                  <a:lnTo>
                    <a:pt x="30479" y="60959"/>
                  </a:lnTo>
                  <a:lnTo>
                    <a:pt x="42368" y="58572"/>
                  </a:lnTo>
                  <a:lnTo>
                    <a:pt x="52054" y="52054"/>
                  </a:lnTo>
                  <a:lnTo>
                    <a:pt x="58572" y="42368"/>
                  </a:lnTo>
                  <a:lnTo>
                    <a:pt x="60959" y="30479"/>
                  </a:lnTo>
                  <a:lnTo>
                    <a:pt x="58572" y="18591"/>
                  </a:lnTo>
                  <a:lnTo>
                    <a:pt x="52054" y="8905"/>
                  </a:lnTo>
                  <a:lnTo>
                    <a:pt x="42368" y="2387"/>
                  </a:lnTo>
                  <a:lnTo>
                    <a:pt x="30479" y="0"/>
                  </a:lnTo>
                  <a:close/>
                </a:path>
              </a:pathLst>
            </a:custGeom>
            <a:solidFill>
              <a:srgbClr val="FB3777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0" name="object 10"/>
            <p:cNvSpPr/>
            <p:nvPr/>
          </p:nvSpPr>
          <p:spPr>
            <a:xfrm>
              <a:off x="1432560" y="1225296"/>
              <a:ext cx="60960" cy="60960"/>
            </a:xfrm>
            <a:custGeom>
              <a:avLst/>
              <a:gdLst/>
              <a:ahLst/>
              <a:cxnLst/>
              <a:rect l="l" t="t" r="r" b="b"/>
              <a:pathLst>
                <a:path w="60959" h="60959">
                  <a:moveTo>
                    <a:pt x="30480" y="0"/>
                  </a:moveTo>
                  <a:lnTo>
                    <a:pt x="18591" y="2387"/>
                  </a:lnTo>
                  <a:lnTo>
                    <a:pt x="8905" y="8905"/>
                  </a:lnTo>
                  <a:lnTo>
                    <a:pt x="2387" y="18591"/>
                  </a:lnTo>
                  <a:lnTo>
                    <a:pt x="0" y="30479"/>
                  </a:lnTo>
                  <a:lnTo>
                    <a:pt x="2387" y="42368"/>
                  </a:lnTo>
                  <a:lnTo>
                    <a:pt x="8905" y="52054"/>
                  </a:lnTo>
                  <a:lnTo>
                    <a:pt x="18591" y="58572"/>
                  </a:lnTo>
                  <a:lnTo>
                    <a:pt x="30480" y="60959"/>
                  </a:lnTo>
                  <a:lnTo>
                    <a:pt x="42368" y="58572"/>
                  </a:lnTo>
                  <a:lnTo>
                    <a:pt x="52054" y="52054"/>
                  </a:lnTo>
                  <a:lnTo>
                    <a:pt x="58572" y="42368"/>
                  </a:lnTo>
                  <a:lnTo>
                    <a:pt x="60959" y="30479"/>
                  </a:lnTo>
                  <a:lnTo>
                    <a:pt x="58572" y="18591"/>
                  </a:lnTo>
                  <a:lnTo>
                    <a:pt x="52054" y="8905"/>
                  </a:lnTo>
                  <a:lnTo>
                    <a:pt x="42368" y="2387"/>
                  </a:lnTo>
                  <a:lnTo>
                    <a:pt x="30480" y="0"/>
                  </a:lnTo>
                  <a:close/>
                </a:path>
              </a:pathLst>
            </a:custGeom>
            <a:solidFill>
              <a:srgbClr val="8983D1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1" name="object 11"/>
            <p:cNvSpPr/>
            <p:nvPr/>
          </p:nvSpPr>
          <p:spPr>
            <a:xfrm>
              <a:off x="1889760" y="1395983"/>
              <a:ext cx="3203575" cy="128270"/>
            </a:xfrm>
            <a:custGeom>
              <a:avLst/>
              <a:gdLst/>
              <a:ahLst/>
              <a:cxnLst/>
              <a:rect l="l" t="t" r="r" b="b"/>
              <a:pathLst>
                <a:path w="3203575" h="128269">
                  <a:moveTo>
                    <a:pt x="3203448" y="0"/>
                  </a:moveTo>
                  <a:lnTo>
                    <a:pt x="0" y="0"/>
                  </a:lnTo>
                  <a:lnTo>
                    <a:pt x="0" y="128015"/>
                  </a:lnTo>
                  <a:lnTo>
                    <a:pt x="3203448" y="128015"/>
                  </a:lnTo>
                  <a:lnTo>
                    <a:pt x="3203448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2" name="object 12"/>
            <p:cNvSpPr/>
            <p:nvPr/>
          </p:nvSpPr>
          <p:spPr>
            <a:xfrm>
              <a:off x="5209032" y="1203959"/>
              <a:ext cx="97790" cy="97790"/>
            </a:xfrm>
            <a:custGeom>
              <a:avLst/>
              <a:gdLst/>
              <a:ahLst/>
              <a:cxnLst/>
              <a:rect l="l" t="t" r="r" b="b"/>
              <a:pathLst>
                <a:path w="97789" h="97790">
                  <a:moveTo>
                    <a:pt x="24384" y="74549"/>
                  </a:moveTo>
                  <a:lnTo>
                    <a:pt x="22987" y="73152"/>
                  </a:lnTo>
                  <a:lnTo>
                    <a:pt x="21209" y="73152"/>
                  </a:lnTo>
                  <a:lnTo>
                    <a:pt x="1397" y="73152"/>
                  </a:lnTo>
                  <a:lnTo>
                    <a:pt x="0" y="74549"/>
                  </a:lnTo>
                  <a:lnTo>
                    <a:pt x="0" y="96139"/>
                  </a:lnTo>
                  <a:lnTo>
                    <a:pt x="1397" y="97536"/>
                  </a:lnTo>
                  <a:lnTo>
                    <a:pt x="22987" y="97536"/>
                  </a:lnTo>
                  <a:lnTo>
                    <a:pt x="24384" y="96139"/>
                  </a:lnTo>
                  <a:lnTo>
                    <a:pt x="24384" y="74549"/>
                  </a:lnTo>
                  <a:close/>
                </a:path>
                <a:path w="97789" h="97790">
                  <a:moveTo>
                    <a:pt x="24384" y="37973"/>
                  </a:moveTo>
                  <a:lnTo>
                    <a:pt x="22987" y="36576"/>
                  </a:lnTo>
                  <a:lnTo>
                    <a:pt x="21209" y="36576"/>
                  </a:lnTo>
                  <a:lnTo>
                    <a:pt x="1397" y="36576"/>
                  </a:lnTo>
                  <a:lnTo>
                    <a:pt x="0" y="37973"/>
                  </a:lnTo>
                  <a:lnTo>
                    <a:pt x="0" y="59563"/>
                  </a:lnTo>
                  <a:lnTo>
                    <a:pt x="1397" y="60960"/>
                  </a:lnTo>
                  <a:lnTo>
                    <a:pt x="22987" y="60960"/>
                  </a:lnTo>
                  <a:lnTo>
                    <a:pt x="24384" y="59563"/>
                  </a:lnTo>
                  <a:lnTo>
                    <a:pt x="24384" y="37973"/>
                  </a:lnTo>
                  <a:close/>
                </a:path>
                <a:path w="97789" h="97790">
                  <a:moveTo>
                    <a:pt x="24384" y="1397"/>
                  </a:moveTo>
                  <a:lnTo>
                    <a:pt x="22987" y="0"/>
                  </a:lnTo>
                  <a:lnTo>
                    <a:pt x="21209" y="0"/>
                  </a:lnTo>
                  <a:lnTo>
                    <a:pt x="1397" y="0"/>
                  </a:lnTo>
                  <a:lnTo>
                    <a:pt x="0" y="1397"/>
                  </a:lnTo>
                  <a:lnTo>
                    <a:pt x="0" y="23114"/>
                  </a:lnTo>
                  <a:lnTo>
                    <a:pt x="1397" y="24384"/>
                  </a:lnTo>
                  <a:lnTo>
                    <a:pt x="22987" y="24384"/>
                  </a:lnTo>
                  <a:lnTo>
                    <a:pt x="24384" y="23114"/>
                  </a:lnTo>
                  <a:lnTo>
                    <a:pt x="24384" y="1397"/>
                  </a:lnTo>
                  <a:close/>
                </a:path>
                <a:path w="97789" h="97790">
                  <a:moveTo>
                    <a:pt x="60960" y="74549"/>
                  </a:moveTo>
                  <a:lnTo>
                    <a:pt x="59563" y="73152"/>
                  </a:lnTo>
                  <a:lnTo>
                    <a:pt x="57912" y="73152"/>
                  </a:lnTo>
                  <a:lnTo>
                    <a:pt x="37973" y="73152"/>
                  </a:lnTo>
                  <a:lnTo>
                    <a:pt x="36576" y="74549"/>
                  </a:lnTo>
                  <a:lnTo>
                    <a:pt x="36576" y="96139"/>
                  </a:lnTo>
                  <a:lnTo>
                    <a:pt x="37973" y="97536"/>
                  </a:lnTo>
                  <a:lnTo>
                    <a:pt x="59563" y="97536"/>
                  </a:lnTo>
                  <a:lnTo>
                    <a:pt x="60960" y="96139"/>
                  </a:lnTo>
                  <a:lnTo>
                    <a:pt x="60960" y="74549"/>
                  </a:lnTo>
                  <a:close/>
                </a:path>
                <a:path w="97789" h="97790">
                  <a:moveTo>
                    <a:pt x="60960" y="37973"/>
                  </a:moveTo>
                  <a:lnTo>
                    <a:pt x="59563" y="36576"/>
                  </a:lnTo>
                  <a:lnTo>
                    <a:pt x="57912" y="36576"/>
                  </a:lnTo>
                  <a:lnTo>
                    <a:pt x="37973" y="36576"/>
                  </a:lnTo>
                  <a:lnTo>
                    <a:pt x="36576" y="37973"/>
                  </a:lnTo>
                  <a:lnTo>
                    <a:pt x="36576" y="59563"/>
                  </a:lnTo>
                  <a:lnTo>
                    <a:pt x="37973" y="60960"/>
                  </a:lnTo>
                  <a:lnTo>
                    <a:pt x="59563" y="60960"/>
                  </a:lnTo>
                  <a:lnTo>
                    <a:pt x="60960" y="59563"/>
                  </a:lnTo>
                  <a:lnTo>
                    <a:pt x="60960" y="37973"/>
                  </a:lnTo>
                  <a:close/>
                </a:path>
                <a:path w="97789" h="97790">
                  <a:moveTo>
                    <a:pt x="60960" y="1397"/>
                  </a:moveTo>
                  <a:lnTo>
                    <a:pt x="59563" y="0"/>
                  </a:lnTo>
                  <a:lnTo>
                    <a:pt x="57912" y="0"/>
                  </a:lnTo>
                  <a:lnTo>
                    <a:pt x="37973" y="0"/>
                  </a:lnTo>
                  <a:lnTo>
                    <a:pt x="36576" y="1397"/>
                  </a:lnTo>
                  <a:lnTo>
                    <a:pt x="36576" y="23114"/>
                  </a:lnTo>
                  <a:lnTo>
                    <a:pt x="37973" y="24384"/>
                  </a:lnTo>
                  <a:lnTo>
                    <a:pt x="59563" y="24384"/>
                  </a:lnTo>
                  <a:lnTo>
                    <a:pt x="60960" y="23114"/>
                  </a:lnTo>
                  <a:lnTo>
                    <a:pt x="60960" y="1397"/>
                  </a:lnTo>
                  <a:close/>
                </a:path>
                <a:path w="97789" h="97790">
                  <a:moveTo>
                    <a:pt x="97536" y="74549"/>
                  </a:moveTo>
                  <a:lnTo>
                    <a:pt x="96139" y="73152"/>
                  </a:lnTo>
                  <a:lnTo>
                    <a:pt x="94488" y="73152"/>
                  </a:lnTo>
                  <a:lnTo>
                    <a:pt x="74422" y="73152"/>
                  </a:lnTo>
                  <a:lnTo>
                    <a:pt x="73152" y="74549"/>
                  </a:lnTo>
                  <a:lnTo>
                    <a:pt x="73152" y="96139"/>
                  </a:lnTo>
                  <a:lnTo>
                    <a:pt x="74422" y="97536"/>
                  </a:lnTo>
                  <a:lnTo>
                    <a:pt x="96139" y="97536"/>
                  </a:lnTo>
                  <a:lnTo>
                    <a:pt x="97536" y="96139"/>
                  </a:lnTo>
                  <a:lnTo>
                    <a:pt x="97536" y="74549"/>
                  </a:lnTo>
                  <a:close/>
                </a:path>
                <a:path w="97789" h="97790">
                  <a:moveTo>
                    <a:pt x="97536" y="37973"/>
                  </a:moveTo>
                  <a:lnTo>
                    <a:pt x="96139" y="36576"/>
                  </a:lnTo>
                  <a:lnTo>
                    <a:pt x="94488" y="36576"/>
                  </a:lnTo>
                  <a:lnTo>
                    <a:pt x="74422" y="36576"/>
                  </a:lnTo>
                  <a:lnTo>
                    <a:pt x="73152" y="37973"/>
                  </a:lnTo>
                  <a:lnTo>
                    <a:pt x="73152" y="59563"/>
                  </a:lnTo>
                  <a:lnTo>
                    <a:pt x="74422" y="60960"/>
                  </a:lnTo>
                  <a:lnTo>
                    <a:pt x="96139" y="60960"/>
                  </a:lnTo>
                  <a:lnTo>
                    <a:pt x="97536" y="59563"/>
                  </a:lnTo>
                  <a:lnTo>
                    <a:pt x="97536" y="37973"/>
                  </a:lnTo>
                  <a:close/>
                </a:path>
                <a:path w="97789" h="97790">
                  <a:moveTo>
                    <a:pt x="97536" y="1397"/>
                  </a:moveTo>
                  <a:lnTo>
                    <a:pt x="96139" y="0"/>
                  </a:lnTo>
                  <a:lnTo>
                    <a:pt x="94488" y="0"/>
                  </a:lnTo>
                  <a:lnTo>
                    <a:pt x="74422" y="0"/>
                  </a:lnTo>
                  <a:lnTo>
                    <a:pt x="73152" y="1397"/>
                  </a:lnTo>
                  <a:lnTo>
                    <a:pt x="73152" y="23114"/>
                  </a:lnTo>
                  <a:lnTo>
                    <a:pt x="74422" y="24384"/>
                  </a:lnTo>
                  <a:lnTo>
                    <a:pt x="96139" y="24384"/>
                  </a:lnTo>
                  <a:lnTo>
                    <a:pt x="97536" y="23114"/>
                  </a:lnTo>
                  <a:lnTo>
                    <a:pt x="97536" y="1397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13" name="object 13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5218176" y="1411224"/>
              <a:ext cx="79248" cy="91439"/>
            </a:xfrm>
            <a:prstGeom prst="rect">
              <a:avLst/>
            </a:prstGeom>
          </p:spPr>
        </p:pic>
        <p:sp>
          <p:nvSpPr>
            <p:cNvPr id="14" name="object 14"/>
            <p:cNvSpPr/>
            <p:nvPr/>
          </p:nvSpPr>
          <p:spPr>
            <a:xfrm>
              <a:off x="1542288" y="1225296"/>
              <a:ext cx="60960" cy="60960"/>
            </a:xfrm>
            <a:custGeom>
              <a:avLst/>
              <a:gdLst/>
              <a:ahLst/>
              <a:cxnLst/>
              <a:rect l="l" t="t" r="r" b="b"/>
              <a:pathLst>
                <a:path w="60959" h="60959">
                  <a:moveTo>
                    <a:pt x="30480" y="0"/>
                  </a:moveTo>
                  <a:lnTo>
                    <a:pt x="18591" y="2387"/>
                  </a:lnTo>
                  <a:lnTo>
                    <a:pt x="8905" y="8905"/>
                  </a:lnTo>
                  <a:lnTo>
                    <a:pt x="2387" y="18591"/>
                  </a:lnTo>
                  <a:lnTo>
                    <a:pt x="0" y="30479"/>
                  </a:lnTo>
                  <a:lnTo>
                    <a:pt x="2387" y="42368"/>
                  </a:lnTo>
                  <a:lnTo>
                    <a:pt x="8905" y="52054"/>
                  </a:lnTo>
                  <a:lnTo>
                    <a:pt x="18591" y="58572"/>
                  </a:lnTo>
                  <a:lnTo>
                    <a:pt x="30480" y="60959"/>
                  </a:lnTo>
                  <a:lnTo>
                    <a:pt x="42368" y="58572"/>
                  </a:lnTo>
                  <a:lnTo>
                    <a:pt x="52054" y="52054"/>
                  </a:lnTo>
                  <a:lnTo>
                    <a:pt x="58572" y="42368"/>
                  </a:lnTo>
                  <a:lnTo>
                    <a:pt x="60959" y="30479"/>
                  </a:lnTo>
                  <a:lnTo>
                    <a:pt x="58572" y="18591"/>
                  </a:lnTo>
                  <a:lnTo>
                    <a:pt x="52054" y="8905"/>
                  </a:lnTo>
                  <a:lnTo>
                    <a:pt x="42368" y="2387"/>
                  </a:lnTo>
                  <a:lnTo>
                    <a:pt x="30480" y="0"/>
                  </a:lnTo>
                  <a:close/>
                </a:path>
              </a:pathLst>
            </a:custGeom>
            <a:solidFill>
              <a:srgbClr val="520977"/>
            </a:solidFill>
          </p:spPr>
          <p:txBody>
            <a:bodyPr wrap="square" lIns="0" tIns="0" rIns="0" bIns="0" rtlCol="0"/>
            <a:lstStyle/>
            <a:p/>
          </p:txBody>
        </p:sp>
      </p:grpSp>
      <p:grpSp>
        <p:nvGrpSpPr>
          <p:cNvPr id="16" name="object 16"/>
          <p:cNvGrpSpPr/>
          <p:nvPr/>
        </p:nvGrpSpPr>
        <p:grpSpPr>
          <a:xfrm>
            <a:off x="1929383" y="1133855"/>
            <a:ext cx="9182100" cy="2924810"/>
            <a:chOff x="1929383" y="1133855"/>
            <a:chExt cx="9182100" cy="2924810"/>
          </a:xfrm>
        </p:grpSpPr>
        <p:pic>
          <p:nvPicPr>
            <p:cNvPr id="17" name="object 17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1929383" y="1426463"/>
              <a:ext cx="73152" cy="73151"/>
            </a:xfrm>
            <a:prstGeom prst="rect">
              <a:avLst/>
            </a:prstGeom>
          </p:spPr>
        </p:pic>
        <p:pic>
          <p:nvPicPr>
            <p:cNvPr id="18" name="object 18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6739127" y="1133855"/>
              <a:ext cx="4372229" cy="2924429"/>
            </a:xfrm>
            <a:prstGeom prst="rect">
              <a:avLst/>
            </a:prstGeom>
          </p:spPr>
        </p:pic>
        <p:sp>
          <p:nvSpPr>
            <p:cNvPr id="19" name="object 19"/>
            <p:cNvSpPr/>
            <p:nvPr/>
          </p:nvSpPr>
          <p:spPr>
            <a:xfrm>
              <a:off x="6793992" y="1149095"/>
              <a:ext cx="4267200" cy="2822575"/>
            </a:xfrm>
            <a:custGeom>
              <a:avLst/>
              <a:gdLst/>
              <a:ahLst/>
              <a:cxnLst/>
              <a:rect l="l" t="t" r="r" b="b"/>
              <a:pathLst>
                <a:path w="4267200" h="2822575">
                  <a:moveTo>
                    <a:pt x="4230751" y="0"/>
                  </a:moveTo>
                  <a:lnTo>
                    <a:pt x="36449" y="0"/>
                  </a:lnTo>
                  <a:lnTo>
                    <a:pt x="22288" y="2873"/>
                  </a:lnTo>
                  <a:lnTo>
                    <a:pt x="10699" y="10699"/>
                  </a:lnTo>
                  <a:lnTo>
                    <a:pt x="2873" y="22288"/>
                  </a:lnTo>
                  <a:lnTo>
                    <a:pt x="0" y="36449"/>
                  </a:lnTo>
                  <a:lnTo>
                    <a:pt x="0" y="2785998"/>
                  </a:lnTo>
                  <a:lnTo>
                    <a:pt x="2873" y="2800159"/>
                  </a:lnTo>
                  <a:lnTo>
                    <a:pt x="10699" y="2811748"/>
                  </a:lnTo>
                  <a:lnTo>
                    <a:pt x="22288" y="2819574"/>
                  </a:lnTo>
                  <a:lnTo>
                    <a:pt x="36449" y="2822447"/>
                  </a:lnTo>
                  <a:lnTo>
                    <a:pt x="4230751" y="2822447"/>
                  </a:lnTo>
                  <a:lnTo>
                    <a:pt x="4244911" y="2819574"/>
                  </a:lnTo>
                  <a:lnTo>
                    <a:pt x="4256500" y="2811748"/>
                  </a:lnTo>
                  <a:lnTo>
                    <a:pt x="4264326" y="2800159"/>
                  </a:lnTo>
                  <a:lnTo>
                    <a:pt x="4267200" y="2785998"/>
                  </a:lnTo>
                  <a:lnTo>
                    <a:pt x="4267200" y="36449"/>
                  </a:lnTo>
                  <a:lnTo>
                    <a:pt x="4264326" y="22288"/>
                  </a:lnTo>
                  <a:lnTo>
                    <a:pt x="4256500" y="10699"/>
                  </a:lnTo>
                  <a:lnTo>
                    <a:pt x="4244911" y="2873"/>
                  </a:lnTo>
                  <a:lnTo>
                    <a:pt x="4230751" y="0"/>
                  </a:lnTo>
                  <a:close/>
                </a:path>
              </a:pathLst>
            </a:custGeom>
            <a:solidFill>
              <a:srgbClr val="520977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20" name="object 20"/>
            <p:cNvSpPr/>
            <p:nvPr/>
          </p:nvSpPr>
          <p:spPr>
            <a:xfrm>
              <a:off x="6793992" y="1203959"/>
              <a:ext cx="4267200" cy="353695"/>
            </a:xfrm>
            <a:custGeom>
              <a:avLst/>
              <a:gdLst/>
              <a:ahLst/>
              <a:cxnLst/>
              <a:rect l="l" t="t" r="r" b="b"/>
              <a:pathLst>
                <a:path w="4267200" h="353694">
                  <a:moveTo>
                    <a:pt x="4267200" y="155448"/>
                  </a:moveTo>
                  <a:lnTo>
                    <a:pt x="2340864" y="155448"/>
                  </a:lnTo>
                  <a:lnTo>
                    <a:pt x="2340864" y="42418"/>
                  </a:lnTo>
                  <a:lnTo>
                    <a:pt x="2337536" y="25882"/>
                  </a:lnTo>
                  <a:lnTo>
                    <a:pt x="2328456" y="12407"/>
                  </a:lnTo>
                  <a:lnTo>
                    <a:pt x="2314981" y="3327"/>
                  </a:lnTo>
                  <a:lnTo>
                    <a:pt x="2298446" y="0"/>
                  </a:lnTo>
                  <a:lnTo>
                    <a:pt x="676402" y="0"/>
                  </a:lnTo>
                  <a:lnTo>
                    <a:pt x="659853" y="3327"/>
                  </a:lnTo>
                  <a:lnTo>
                    <a:pt x="646379" y="12407"/>
                  </a:lnTo>
                  <a:lnTo>
                    <a:pt x="637298" y="25882"/>
                  </a:lnTo>
                  <a:lnTo>
                    <a:pt x="633984" y="42418"/>
                  </a:lnTo>
                  <a:lnTo>
                    <a:pt x="633984" y="155448"/>
                  </a:lnTo>
                  <a:lnTo>
                    <a:pt x="0" y="155448"/>
                  </a:lnTo>
                  <a:lnTo>
                    <a:pt x="0" y="353568"/>
                  </a:lnTo>
                  <a:lnTo>
                    <a:pt x="676402" y="353568"/>
                  </a:lnTo>
                  <a:lnTo>
                    <a:pt x="2298446" y="353568"/>
                  </a:lnTo>
                  <a:lnTo>
                    <a:pt x="4267200" y="353568"/>
                  </a:lnTo>
                  <a:lnTo>
                    <a:pt x="4267200" y="155448"/>
                  </a:lnTo>
                  <a:close/>
                </a:path>
              </a:pathLst>
            </a:custGeom>
            <a:solidFill>
              <a:srgbClr val="160928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21" name="object 21"/>
            <p:cNvSpPr/>
            <p:nvPr/>
          </p:nvSpPr>
          <p:spPr>
            <a:xfrm>
              <a:off x="6864095" y="1225295"/>
              <a:ext cx="60960" cy="60960"/>
            </a:xfrm>
            <a:custGeom>
              <a:avLst/>
              <a:gdLst/>
              <a:ahLst/>
              <a:cxnLst/>
              <a:rect l="l" t="t" r="r" b="b"/>
              <a:pathLst>
                <a:path w="60959" h="60959">
                  <a:moveTo>
                    <a:pt x="30479" y="0"/>
                  </a:moveTo>
                  <a:lnTo>
                    <a:pt x="18591" y="2387"/>
                  </a:lnTo>
                  <a:lnTo>
                    <a:pt x="8905" y="8905"/>
                  </a:lnTo>
                  <a:lnTo>
                    <a:pt x="2387" y="18591"/>
                  </a:lnTo>
                  <a:lnTo>
                    <a:pt x="0" y="30479"/>
                  </a:lnTo>
                  <a:lnTo>
                    <a:pt x="2387" y="42368"/>
                  </a:lnTo>
                  <a:lnTo>
                    <a:pt x="8905" y="52054"/>
                  </a:lnTo>
                  <a:lnTo>
                    <a:pt x="18591" y="58572"/>
                  </a:lnTo>
                  <a:lnTo>
                    <a:pt x="30479" y="60959"/>
                  </a:lnTo>
                  <a:lnTo>
                    <a:pt x="42368" y="58572"/>
                  </a:lnTo>
                  <a:lnTo>
                    <a:pt x="52054" y="52054"/>
                  </a:lnTo>
                  <a:lnTo>
                    <a:pt x="58572" y="42368"/>
                  </a:lnTo>
                  <a:lnTo>
                    <a:pt x="60959" y="30479"/>
                  </a:lnTo>
                  <a:lnTo>
                    <a:pt x="58572" y="18591"/>
                  </a:lnTo>
                  <a:lnTo>
                    <a:pt x="52054" y="8905"/>
                  </a:lnTo>
                  <a:lnTo>
                    <a:pt x="42368" y="2387"/>
                  </a:lnTo>
                  <a:lnTo>
                    <a:pt x="30479" y="0"/>
                  </a:lnTo>
                  <a:close/>
                </a:path>
              </a:pathLst>
            </a:custGeom>
            <a:solidFill>
              <a:srgbClr val="FFD5E2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22" name="object 22"/>
            <p:cNvSpPr/>
            <p:nvPr/>
          </p:nvSpPr>
          <p:spPr>
            <a:xfrm>
              <a:off x="6970775" y="1225295"/>
              <a:ext cx="60960" cy="60960"/>
            </a:xfrm>
            <a:custGeom>
              <a:avLst/>
              <a:gdLst/>
              <a:ahLst/>
              <a:cxnLst/>
              <a:rect l="l" t="t" r="r" b="b"/>
              <a:pathLst>
                <a:path w="60959" h="60959">
                  <a:moveTo>
                    <a:pt x="30479" y="0"/>
                  </a:moveTo>
                  <a:lnTo>
                    <a:pt x="18591" y="2387"/>
                  </a:lnTo>
                  <a:lnTo>
                    <a:pt x="8905" y="8905"/>
                  </a:lnTo>
                  <a:lnTo>
                    <a:pt x="2387" y="18591"/>
                  </a:lnTo>
                  <a:lnTo>
                    <a:pt x="0" y="30479"/>
                  </a:lnTo>
                  <a:lnTo>
                    <a:pt x="2387" y="42368"/>
                  </a:lnTo>
                  <a:lnTo>
                    <a:pt x="8905" y="52054"/>
                  </a:lnTo>
                  <a:lnTo>
                    <a:pt x="18591" y="58572"/>
                  </a:lnTo>
                  <a:lnTo>
                    <a:pt x="30479" y="60959"/>
                  </a:lnTo>
                  <a:lnTo>
                    <a:pt x="42368" y="58572"/>
                  </a:lnTo>
                  <a:lnTo>
                    <a:pt x="52054" y="52054"/>
                  </a:lnTo>
                  <a:lnTo>
                    <a:pt x="58572" y="42368"/>
                  </a:lnTo>
                  <a:lnTo>
                    <a:pt x="60959" y="30479"/>
                  </a:lnTo>
                  <a:lnTo>
                    <a:pt x="58572" y="18591"/>
                  </a:lnTo>
                  <a:lnTo>
                    <a:pt x="52054" y="8905"/>
                  </a:lnTo>
                  <a:lnTo>
                    <a:pt x="42368" y="2387"/>
                  </a:lnTo>
                  <a:lnTo>
                    <a:pt x="30479" y="0"/>
                  </a:lnTo>
                  <a:close/>
                </a:path>
              </a:pathLst>
            </a:custGeom>
            <a:solidFill>
              <a:srgbClr val="FB3777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23" name="object 23"/>
            <p:cNvSpPr/>
            <p:nvPr/>
          </p:nvSpPr>
          <p:spPr>
            <a:xfrm>
              <a:off x="7077455" y="1225295"/>
              <a:ext cx="60960" cy="60960"/>
            </a:xfrm>
            <a:custGeom>
              <a:avLst/>
              <a:gdLst/>
              <a:ahLst/>
              <a:cxnLst/>
              <a:rect l="l" t="t" r="r" b="b"/>
              <a:pathLst>
                <a:path w="60959" h="60959">
                  <a:moveTo>
                    <a:pt x="30479" y="0"/>
                  </a:moveTo>
                  <a:lnTo>
                    <a:pt x="18591" y="2387"/>
                  </a:lnTo>
                  <a:lnTo>
                    <a:pt x="8905" y="8905"/>
                  </a:lnTo>
                  <a:lnTo>
                    <a:pt x="2387" y="18591"/>
                  </a:lnTo>
                  <a:lnTo>
                    <a:pt x="0" y="30479"/>
                  </a:lnTo>
                  <a:lnTo>
                    <a:pt x="2387" y="42368"/>
                  </a:lnTo>
                  <a:lnTo>
                    <a:pt x="8905" y="52054"/>
                  </a:lnTo>
                  <a:lnTo>
                    <a:pt x="18591" y="58572"/>
                  </a:lnTo>
                  <a:lnTo>
                    <a:pt x="30479" y="60959"/>
                  </a:lnTo>
                  <a:lnTo>
                    <a:pt x="42368" y="58572"/>
                  </a:lnTo>
                  <a:lnTo>
                    <a:pt x="52054" y="52054"/>
                  </a:lnTo>
                  <a:lnTo>
                    <a:pt x="58572" y="42368"/>
                  </a:lnTo>
                  <a:lnTo>
                    <a:pt x="60960" y="30479"/>
                  </a:lnTo>
                  <a:lnTo>
                    <a:pt x="58572" y="18591"/>
                  </a:lnTo>
                  <a:lnTo>
                    <a:pt x="52054" y="8905"/>
                  </a:lnTo>
                  <a:lnTo>
                    <a:pt x="42368" y="2387"/>
                  </a:lnTo>
                  <a:lnTo>
                    <a:pt x="30479" y="0"/>
                  </a:lnTo>
                  <a:close/>
                </a:path>
              </a:pathLst>
            </a:custGeom>
            <a:solidFill>
              <a:srgbClr val="8983D1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24" name="object 24"/>
            <p:cNvSpPr/>
            <p:nvPr/>
          </p:nvSpPr>
          <p:spPr>
            <a:xfrm>
              <a:off x="7534655" y="1395983"/>
              <a:ext cx="3203575" cy="128270"/>
            </a:xfrm>
            <a:custGeom>
              <a:avLst/>
              <a:gdLst/>
              <a:ahLst/>
              <a:cxnLst/>
              <a:rect l="l" t="t" r="r" b="b"/>
              <a:pathLst>
                <a:path w="3203575" h="128269">
                  <a:moveTo>
                    <a:pt x="3203448" y="0"/>
                  </a:moveTo>
                  <a:lnTo>
                    <a:pt x="0" y="0"/>
                  </a:lnTo>
                  <a:lnTo>
                    <a:pt x="0" y="128015"/>
                  </a:lnTo>
                  <a:lnTo>
                    <a:pt x="3203448" y="128015"/>
                  </a:lnTo>
                  <a:lnTo>
                    <a:pt x="3203448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25" name="object 25"/>
            <p:cNvSpPr/>
            <p:nvPr/>
          </p:nvSpPr>
          <p:spPr>
            <a:xfrm>
              <a:off x="10853928" y="1203959"/>
              <a:ext cx="97790" cy="97790"/>
            </a:xfrm>
            <a:custGeom>
              <a:avLst/>
              <a:gdLst/>
              <a:ahLst/>
              <a:cxnLst/>
              <a:rect l="l" t="t" r="r" b="b"/>
              <a:pathLst>
                <a:path w="97790" h="97790">
                  <a:moveTo>
                    <a:pt x="24384" y="74549"/>
                  </a:moveTo>
                  <a:lnTo>
                    <a:pt x="22987" y="73152"/>
                  </a:lnTo>
                  <a:lnTo>
                    <a:pt x="21209" y="73152"/>
                  </a:lnTo>
                  <a:lnTo>
                    <a:pt x="1397" y="73152"/>
                  </a:lnTo>
                  <a:lnTo>
                    <a:pt x="0" y="74549"/>
                  </a:lnTo>
                  <a:lnTo>
                    <a:pt x="0" y="96139"/>
                  </a:lnTo>
                  <a:lnTo>
                    <a:pt x="1397" y="97536"/>
                  </a:lnTo>
                  <a:lnTo>
                    <a:pt x="22987" y="97536"/>
                  </a:lnTo>
                  <a:lnTo>
                    <a:pt x="24384" y="96139"/>
                  </a:lnTo>
                  <a:lnTo>
                    <a:pt x="24384" y="74549"/>
                  </a:lnTo>
                  <a:close/>
                </a:path>
                <a:path w="97790" h="97790">
                  <a:moveTo>
                    <a:pt x="24384" y="37973"/>
                  </a:moveTo>
                  <a:lnTo>
                    <a:pt x="22987" y="36576"/>
                  </a:lnTo>
                  <a:lnTo>
                    <a:pt x="21209" y="36576"/>
                  </a:lnTo>
                  <a:lnTo>
                    <a:pt x="1397" y="36576"/>
                  </a:lnTo>
                  <a:lnTo>
                    <a:pt x="0" y="37973"/>
                  </a:lnTo>
                  <a:lnTo>
                    <a:pt x="0" y="59563"/>
                  </a:lnTo>
                  <a:lnTo>
                    <a:pt x="1397" y="60960"/>
                  </a:lnTo>
                  <a:lnTo>
                    <a:pt x="22987" y="60960"/>
                  </a:lnTo>
                  <a:lnTo>
                    <a:pt x="24384" y="59563"/>
                  </a:lnTo>
                  <a:lnTo>
                    <a:pt x="24384" y="37973"/>
                  </a:lnTo>
                  <a:close/>
                </a:path>
                <a:path w="97790" h="97790">
                  <a:moveTo>
                    <a:pt x="24384" y="1397"/>
                  </a:moveTo>
                  <a:lnTo>
                    <a:pt x="22987" y="0"/>
                  </a:lnTo>
                  <a:lnTo>
                    <a:pt x="21209" y="0"/>
                  </a:lnTo>
                  <a:lnTo>
                    <a:pt x="1397" y="0"/>
                  </a:lnTo>
                  <a:lnTo>
                    <a:pt x="0" y="1397"/>
                  </a:lnTo>
                  <a:lnTo>
                    <a:pt x="0" y="23114"/>
                  </a:lnTo>
                  <a:lnTo>
                    <a:pt x="1397" y="24384"/>
                  </a:lnTo>
                  <a:lnTo>
                    <a:pt x="22987" y="24384"/>
                  </a:lnTo>
                  <a:lnTo>
                    <a:pt x="24384" y="23114"/>
                  </a:lnTo>
                  <a:lnTo>
                    <a:pt x="24384" y="1397"/>
                  </a:lnTo>
                  <a:close/>
                </a:path>
                <a:path w="97790" h="97790">
                  <a:moveTo>
                    <a:pt x="60960" y="74549"/>
                  </a:moveTo>
                  <a:lnTo>
                    <a:pt x="59563" y="73152"/>
                  </a:lnTo>
                  <a:lnTo>
                    <a:pt x="57912" y="73152"/>
                  </a:lnTo>
                  <a:lnTo>
                    <a:pt x="37973" y="73152"/>
                  </a:lnTo>
                  <a:lnTo>
                    <a:pt x="36576" y="74549"/>
                  </a:lnTo>
                  <a:lnTo>
                    <a:pt x="36576" y="96139"/>
                  </a:lnTo>
                  <a:lnTo>
                    <a:pt x="37973" y="97536"/>
                  </a:lnTo>
                  <a:lnTo>
                    <a:pt x="59563" y="97536"/>
                  </a:lnTo>
                  <a:lnTo>
                    <a:pt x="60960" y="96139"/>
                  </a:lnTo>
                  <a:lnTo>
                    <a:pt x="60960" y="74549"/>
                  </a:lnTo>
                  <a:close/>
                </a:path>
                <a:path w="97790" h="97790">
                  <a:moveTo>
                    <a:pt x="60960" y="37973"/>
                  </a:moveTo>
                  <a:lnTo>
                    <a:pt x="59563" y="36576"/>
                  </a:lnTo>
                  <a:lnTo>
                    <a:pt x="57912" y="36576"/>
                  </a:lnTo>
                  <a:lnTo>
                    <a:pt x="37973" y="36576"/>
                  </a:lnTo>
                  <a:lnTo>
                    <a:pt x="36576" y="37973"/>
                  </a:lnTo>
                  <a:lnTo>
                    <a:pt x="36576" y="59563"/>
                  </a:lnTo>
                  <a:lnTo>
                    <a:pt x="37973" y="60960"/>
                  </a:lnTo>
                  <a:lnTo>
                    <a:pt x="59563" y="60960"/>
                  </a:lnTo>
                  <a:lnTo>
                    <a:pt x="60960" y="59563"/>
                  </a:lnTo>
                  <a:lnTo>
                    <a:pt x="60960" y="37973"/>
                  </a:lnTo>
                  <a:close/>
                </a:path>
                <a:path w="97790" h="97790">
                  <a:moveTo>
                    <a:pt x="60960" y="1397"/>
                  </a:moveTo>
                  <a:lnTo>
                    <a:pt x="59563" y="0"/>
                  </a:lnTo>
                  <a:lnTo>
                    <a:pt x="57912" y="0"/>
                  </a:lnTo>
                  <a:lnTo>
                    <a:pt x="37973" y="0"/>
                  </a:lnTo>
                  <a:lnTo>
                    <a:pt x="36576" y="1397"/>
                  </a:lnTo>
                  <a:lnTo>
                    <a:pt x="36576" y="23114"/>
                  </a:lnTo>
                  <a:lnTo>
                    <a:pt x="37973" y="24384"/>
                  </a:lnTo>
                  <a:lnTo>
                    <a:pt x="59563" y="24384"/>
                  </a:lnTo>
                  <a:lnTo>
                    <a:pt x="60960" y="23114"/>
                  </a:lnTo>
                  <a:lnTo>
                    <a:pt x="60960" y="1397"/>
                  </a:lnTo>
                  <a:close/>
                </a:path>
                <a:path w="97790" h="97790">
                  <a:moveTo>
                    <a:pt x="97536" y="74549"/>
                  </a:moveTo>
                  <a:lnTo>
                    <a:pt x="96139" y="73152"/>
                  </a:lnTo>
                  <a:lnTo>
                    <a:pt x="94488" y="73152"/>
                  </a:lnTo>
                  <a:lnTo>
                    <a:pt x="74422" y="73152"/>
                  </a:lnTo>
                  <a:lnTo>
                    <a:pt x="73152" y="74549"/>
                  </a:lnTo>
                  <a:lnTo>
                    <a:pt x="73152" y="96139"/>
                  </a:lnTo>
                  <a:lnTo>
                    <a:pt x="74422" y="97536"/>
                  </a:lnTo>
                  <a:lnTo>
                    <a:pt x="96139" y="97536"/>
                  </a:lnTo>
                  <a:lnTo>
                    <a:pt x="97536" y="96139"/>
                  </a:lnTo>
                  <a:lnTo>
                    <a:pt x="97536" y="74549"/>
                  </a:lnTo>
                  <a:close/>
                </a:path>
                <a:path w="97790" h="97790">
                  <a:moveTo>
                    <a:pt x="97536" y="37973"/>
                  </a:moveTo>
                  <a:lnTo>
                    <a:pt x="96139" y="36576"/>
                  </a:lnTo>
                  <a:lnTo>
                    <a:pt x="94488" y="36576"/>
                  </a:lnTo>
                  <a:lnTo>
                    <a:pt x="74422" y="36576"/>
                  </a:lnTo>
                  <a:lnTo>
                    <a:pt x="73152" y="37973"/>
                  </a:lnTo>
                  <a:lnTo>
                    <a:pt x="73152" y="59563"/>
                  </a:lnTo>
                  <a:lnTo>
                    <a:pt x="74422" y="60960"/>
                  </a:lnTo>
                  <a:lnTo>
                    <a:pt x="96139" y="60960"/>
                  </a:lnTo>
                  <a:lnTo>
                    <a:pt x="97536" y="59563"/>
                  </a:lnTo>
                  <a:lnTo>
                    <a:pt x="97536" y="37973"/>
                  </a:lnTo>
                  <a:close/>
                </a:path>
                <a:path w="97790" h="97790">
                  <a:moveTo>
                    <a:pt x="97536" y="1397"/>
                  </a:moveTo>
                  <a:lnTo>
                    <a:pt x="96139" y="0"/>
                  </a:lnTo>
                  <a:lnTo>
                    <a:pt x="94488" y="0"/>
                  </a:lnTo>
                  <a:lnTo>
                    <a:pt x="74422" y="0"/>
                  </a:lnTo>
                  <a:lnTo>
                    <a:pt x="73152" y="1397"/>
                  </a:lnTo>
                  <a:lnTo>
                    <a:pt x="73152" y="23114"/>
                  </a:lnTo>
                  <a:lnTo>
                    <a:pt x="74422" y="24384"/>
                  </a:lnTo>
                  <a:lnTo>
                    <a:pt x="96139" y="24384"/>
                  </a:lnTo>
                  <a:lnTo>
                    <a:pt x="97536" y="23114"/>
                  </a:lnTo>
                  <a:lnTo>
                    <a:pt x="97536" y="1397"/>
                  </a:lnTo>
                  <a:close/>
                </a:path>
              </a:pathLst>
            </a:custGeom>
            <a:solidFill>
              <a:srgbClr val="7E7E7E"/>
            </a:solidFill>
          </p:spPr>
          <p:txBody>
            <a:bodyPr wrap="square" lIns="0" tIns="0" rIns="0" bIns="0" rtlCol="0"/>
            <a:lstStyle/>
            <a:p/>
          </p:txBody>
        </p:sp>
        <p:pic>
          <p:nvPicPr>
            <p:cNvPr id="26" name="object 26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10863072" y="1411223"/>
              <a:ext cx="79248" cy="91439"/>
            </a:xfrm>
            <a:prstGeom prst="rect">
              <a:avLst/>
            </a:prstGeom>
          </p:spPr>
        </p:pic>
        <p:sp>
          <p:nvSpPr>
            <p:cNvPr id="27" name="object 27"/>
            <p:cNvSpPr/>
            <p:nvPr/>
          </p:nvSpPr>
          <p:spPr>
            <a:xfrm>
              <a:off x="7187183" y="1225295"/>
              <a:ext cx="60960" cy="60960"/>
            </a:xfrm>
            <a:custGeom>
              <a:avLst/>
              <a:gdLst/>
              <a:ahLst/>
              <a:cxnLst/>
              <a:rect l="l" t="t" r="r" b="b"/>
              <a:pathLst>
                <a:path w="60959" h="60959">
                  <a:moveTo>
                    <a:pt x="30480" y="0"/>
                  </a:moveTo>
                  <a:lnTo>
                    <a:pt x="18591" y="2387"/>
                  </a:lnTo>
                  <a:lnTo>
                    <a:pt x="8905" y="8905"/>
                  </a:lnTo>
                  <a:lnTo>
                    <a:pt x="2387" y="18591"/>
                  </a:lnTo>
                  <a:lnTo>
                    <a:pt x="0" y="30479"/>
                  </a:lnTo>
                  <a:lnTo>
                    <a:pt x="2387" y="42368"/>
                  </a:lnTo>
                  <a:lnTo>
                    <a:pt x="8905" y="52054"/>
                  </a:lnTo>
                  <a:lnTo>
                    <a:pt x="18591" y="58572"/>
                  </a:lnTo>
                  <a:lnTo>
                    <a:pt x="30480" y="60959"/>
                  </a:lnTo>
                  <a:lnTo>
                    <a:pt x="42368" y="58572"/>
                  </a:lnTo>
                  <a:lnTo>
                    <a:pt x="52054" y="52054"/>
                  </a:lnTo>
                  <a:lnTo>
                    <a:pt x="58572" y="42368"/>
                  </a:lnTo>
                  <a:lnTo>
                    <a:pt x="60960" y="30479"/>
                  </a:lnTo>
                  <a:lnTo>
                    <a:pt x="58572" y="18591"/>
                  </a:lnTo>
                  <a:lnTo>
                    <a:pt x="52054" y="8905"/>
                  </a:lnTo>
                  <a:lnTo>
                    <a:pt x="42368" y="2387"/>
                  </a:lnTo>
                  <a:lnTo>
                    <a:pt x="30480" y="0"/>
                  </a:lnTo>
                  <a:close/>
                </a:path>
              </a:pathLst>
            </a:custGeom>
            <a:solidFill>
              <a:srgbClr val="520977"/>
            </a:solidFill>
          </p:spPr>
          <p:txBody>
            <a:bodyPr wrap="square" lIns="0" tIns="0" rIns="0" bIns="0" rtlCol="0"/>
            <a:lstStyle/>
            <a:p/>
          </p:txBody>
        </p:sp>
      </p:grpSp>
      <p:pic>
        <p:nvPicPr>
          <p:cNvPr id="29" name="object 29"/>
          <p:cNvPicPr/>
          <p:nvPr/>
        </p:nvPicPr>
        <p:blipFill>
          <a:blip r:embed="rId8" cstate="print"/>
          <a:stretch>
            <a:fillRect/>
          </a:stretch>
        </p:blipFill>
        <p:spPr>
          <a:xfrm>
            <a:off x="7574280" y="1426463"/>
            <a:ext cx="73151" cy="73151"/>
          </a:xfrm>
          <a:prstGeom prst="rect">
            <a:avLst/>
          </a:prstGeom>
        </p:spPr>
      </p:pic>
      <p:sp>
        <p:nvSpPr>
          <p:cNvPr id="30" name="object 30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45415" rIns="0" bIns="0" rtlCol="0" vert="horz">
            <a:spAutoFit/>
          </a:bodyPr>
          <a:lstStyle/>
          <a:p>
            <a:pPr marL="63500">
              <a:lnSpc>
                <a:spcPts val="1425"/>
              </a:lnSpc>
            </a:pPr>
            <a:r>
              <a:rPr sz="1200">
                <a:solidFill>
                  <a:srgbClr val="520978"/>
                </a:solidFill>
                <a:latin typeface="Montserrat"/>
              </a:rPr>
              <a:t>11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47472" y="320040"/>
            <a:ext cx="4937760" cy="475488"/>
          </a:xfrm>
          <a:prstGeom prst="roundRect">
            <a:avLst>
              <a:gd name="adj" fmla="val 50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/>
            <a:r>
              <a:rPr sz="1300" b="1">
                <a:solidFill>
                  <a:srgbClr val="FFFFFF"/>
                </a:solidFill>
                <a:latin typeface="Montserrat"/>
              </a:rPr>
              <a:t>Демонстрация и результаты</a:t>
            </a:r>
          </a:p>
        </p:txBody>
      </p:sp>
      <p:pic>
        <p:nvPicPr>
          <p:cNvPr id="32" name="Picture 31" descr="02-kanban-boar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524304" y="1481328"/>
            <a:ext cx="3525926" cy="2203704"/>
          </a:xfrm>
          <a:prstGeom prst="rect">
            <a:avLst/>
          </a:prstGeom>
        </p:spPr>
      </p:pic>
      <p:pic>
        <p:nvPicPr>
          <p:cNvPr id="33" name="Picture 32" descr="11-integration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166152" y="1481328"/>
            <a:ext cx="3525926" cy="2203704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1188720" y="3803904"/>
            <a:ext cx="43891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00" b="1">
                <a:solidFill>
                  <a:srgbClr val="520978"/>
                </a:solidFill>
                <a:latin typeface="Montserrat"/>
              </a:rPr>
              <a:t>Kanban-доска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Портфель взаимодействий с фильтрами по вузу и продукту, переключением B2B/B2C и перемещением карточек по этапам.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FF0053"/>
                </a:solidFill>
                <a:latin typeface="Montserrat"/>
              </a:rPr>
              <a:t>Демо: Yandex Cloud (ВМ с nginx)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30568" y="3803904"/>
            <a:ext cx="43891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00" b="1">
                <a:solidFill>
                  <a:srgbClr val="520978"/>
                </a:solidFill>
                <a:latin typeface="Montserrat"/>
              </a:rPr>
              <a:t>Интеграция с LMS и CMS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Контракт обмена, предпросмотр пакета без записи (dry-run) и идемпотентный импорт по номеру договора. Отчёты выгружаются в XLSX, XLS, PDF и JSON.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FF0053"/>
                </a:solidFill>
                <a:latin typeface="Montserrat"/>
              </a:rPr>
              <a:t>API: https://&lt;домен&gt;/api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47472" y="5230368"/>
            <a:ext cx="9052560" cy="1143000"/>
          </a:xfrm>
          <a:prstGeom prst="roundRect">
            <a:avLst>
              <a:gd name="adj" fmla="val 6000"/>
            </a:avLst>
          </a:prstGeom>
          <a:solidFill>
            <a:srgbClr val="F7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66928" y="5367528"/>
            <a:ext cx="8595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00" b="1">
                <a:solidFill>
                  <a:srgbClr val="520978"/>
                </a:solidFill>
                <a:latin typeface="Montserrat"/>
              </a:rPr>
              <a:t>Нагрузочный прогон (локально)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0">
                <a:solidFill>
                  <a:srgbClr val="6B5B78"/>
                </a:solidFill>
                <a:latin typeface="Montserrat"/>
              </a:rPr>
              <a:t>50 пользователей / 60 с: 1613 запросов, 0 ошибок, p95 — 93 мс. Смешанный read/write: 4673 запроса, 0 ошибок; экспорт PDF — 210 мс. Не является SLA production.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555480" y="5138928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520978"/>
                </a:solidFill>
                <a:latin typeface="Montserrat"/>
              </a:rPr>
              <a:t>Репозиторий</a:t>
            </a:r>
          </a:p>
        </p:txBody>
      </p:sp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985248" y="5413248"/>
            <a:ext cx="1325880" cy="1325880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347472" y="6446520"/>
            <a:ext cx="9052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6B5B78"/>
                </a:solidFill>
                <a:latin typeface="Montserrat"/>
              </a:rPr>
              <a:t>Москва · sabadaspaha@gmail.com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Microsoft Office PowerPoint</Application>
  <PresentationFormat>On-screen Show (4:3)</PresentationFormat>
  <ScaleCrop>false</ScaleCrop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2026-09-24T18:56:55Z</dcterms:created>
  <dcterms:modified xsi:type="dcterms:W3CDTF">2026-09-24T18:56:55Z</dcterms:modified>
  <dc:creator>Сабадаш Павел</dc:creator>
  <cp:lastModifiedBy>Сабадаш Павел</cp:lastModifiedBy>
  <dc:title>RTK CRM — ЛЦТ 2026, кейс №6</dc:title>
  <dc:subject>Система контроля взаимодействия ИТ Школы Ростелекома с вузами</dc:subject>
  <dc:description/>
  <cp:category/>
  <cp:keywords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verter">
    <vt:lpwstr>SolidFramework v10.0.20290.1</vt:lpwstr>
  </property>
  <property fmtid="{D5CDD505-2E9C-101B-9397-08002B2CF9AE}" pid="3" name="Created">
    <vt:filetime>2026-09-24T00:00:00Z</vt:filetime>
  </property>
  <property fmtid="{D5CDD505-2E9C-101B-9397-08002B2CF9AE}" pid="4" name="Creator">
    <vt:lpwstr>Microsoft® PowerPoint® 2016</vt:lpwstr>
  </property>
  <property fmtid="{D5CDD505-2E9C-101B-9397-08002B2CF9AE}" pid="5" name="LastSaved">
    <vt:filetime>2026-09-24T00:00:00Z</vt:filetime>
  </property>
  <property fmtid="{D5CDD505-2E9C-101B-9397-08002B2CF9AE}" pid="6" name="Producer">
    <vt:lpwstr>www.ilovepdf.com</vt:lpwstr>
  </property>
</Properties>
</file>