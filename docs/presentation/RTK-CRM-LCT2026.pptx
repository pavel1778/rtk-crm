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FD6E4"/>
                </a:solidFill>
                <a:latin typeface="Montserrat"/>
              </a:rPr>
              <a:t>ЛЦТ 2026 · Кейс №6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64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0">
                <a:solidFill>
                  <a:srgbClr val="FFD6E4"/>
                </a:solidFill>
                <a:latin typeface="Montserrat"/>
              </a:rPr>
              <a:t>CRM для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8A83D1"/>
                </a:solidFill>
                <a:latin typeface="Montserrat"/>
              </a:rPr>
              <a:t>От первого контакта до контроля результата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892040"/>
            <a:ext cx="2926080" cy="54864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ontserrat"/>
              </a:rPr>
              <a:t>Команда RTK CRM · город и регион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1371600"/>
            <a:ext cx="2743200" cy="1005840"/>
          </a:xfrm>
          <a:prstGeom prst="rect">
            <a:avLst/>
          </a:prstGeom>
          <a:solidFill>
            <a:srgbClr val="3D1B63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8A83D1"/>
                </a:solidFill>
                <a:latin typeface="Montserrat"/>
              </a:rPr>
              <a:t>Место для логотипов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8A83D1"/>
                </a:solidFill>
                <a:latin typeface="Montserrat"/>
              </a:rPr>
              <a:t>постановщика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28016" cy="38404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310F53"/>
                </a:solidFill>
                <a:latin typeface="Montserrat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Данные распределены по таблицам и чатам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Статус взаимодействия зависит от ручных обновлений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Руководителю сложно видеть узкие места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Отчёты собираются долго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Риск потери истории и контрольных сроков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325880"/>
            <a:ext cx="4572000" cy="448056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6002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Суть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05740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Проблема не в отсутствии данных, а в отсутствии единого рабочего контекста и понятного следующего действия.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КАМ ведёт портфель вузов в разных источниках, поэтому результат коммуникации теряется, а руководитель видит картину с задержкой.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28016" cy="38404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310F53"/>
                </a:solidFill>
                <a:latin typeface="Montserrat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Kanban по 14 этапам workflow и отдельная воронка B2C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Карточка взаимодействия: вуз + продукт + договор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Задачи, комментарии, файлы и история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Отчёты и экспорт XLSX / XLS / PDF / JSON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RBAC для КАМ, руководителей и администраторов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325880"/>
            <a:ext cx="4572000" cy="448056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6002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Уникальность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05740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Видит состояние портфеля на одном экране и сразу обновляет этап или фиксирует результат коммуникации.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Одна модель данных покрывает и B2B-взаимодействия с вузами, и клиентскую воронку B2C — с раздельными наборами этапов и без дублирования справочников.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28016" cy="38404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310F53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0">
                <a:solidFill>
                  <a:srgbClr val="1C1D22"/>
                </a:solidFill>
                <a:latin typeface="Montserrat"/>
              </a:rPr>
              <a:t>Вход и дашборд с KPI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0">
                <a:solidFill>
                  <a:srgbClr val="1C1D22"/>
                </a:solidFill>
                <a:latin typeface="Montserrat"/>
              </a:rPr>
              <a:t>Перемещение карточки между этапами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0">
                <a:solidFill>
                  <a:srgbClr val="1C1D22"/>
                </a:solidFill>
                <a:latin typeface="Montserrat"/>
              </a:rPr>
              <a:t>Добавление задачи и комментария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0">
                <a:solidFill>
                  <a:srgbClr val="1C1D22"/>
                </a:solidFill>
                <a:latin typeface="Montserrat"/>
              </a:rPr>
              <a:t>Настройка этапа администратором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0">
                <a:solidFill>
                  <a:srgbClr val="1C1D22"/>
                </a:solidFill>
                <a:latin typeface="Montserrat"/>
              </a:rPr>
              <a:t>Графики и скачивание отчёта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0">
                <a:solidFill>
                  <a:srgbClr val="1C1D22"/>
                </a:solidFill>
                <a:latin typeface="Montserrat"/>
              </a:rPr>
              <a:t>Импорт справочников из XLSX</a:t>
            </a:r>
          </a:p>
        </p:txBody>
      </p:sp>
      <p:pic>
        <p:nvPicPr>
          <p:cNvPr id="6" name="Picture 5" descr="02-kanban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2788920" cy="1743075"/>
          </a:xfrm>
          <a:prstGeom prst="rect">
            <a:avLst/>
          </a:prstGeom>
        </p:spPr>
      </p:pic>
      <p:pic>
        <p:nvPicPr>
          <p:cNvPr id="7" name="Picture 6" descr="03-interaction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234440"/>
            <a:ext cx="2788920" cy="1743075"/>
          </a:xfrm>
          <a:prstGeom prst="rect">
            <a:avLst/>
          </a:prstGeom>
        </p:spPr>
      </p:pic>
      <p:pic>
        <p:nvPicPr>
          <p:cNvPr id="8" name="Picture 7" descr="07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611880"/>
            <a:ext cx="2788920" cy="1743075"/>
          </a:xfrm>
          <a:prstGeom prst="rect">
            <a:avLst/>
          </a:prstGeom>
        </p:spPr>
      </p:pic>
      <p:pic>
        <p:nvPicPr>
          <p:cNvPr id="9" name="Picture 8" descr="08-workflow-construc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3611880"/>
            <a:ext cx="2788920" cy="17430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28016" cy="38404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310F53"/>
                </a:solidFill>
                <a:latin typeface="Montserrat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607040" cy="960120"/>
          </a:xfrm>
          <a:prstGeom prst="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4813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5179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React · Vite · Ant Design · Recharts · dnd-kit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10607040" cy="960120"/>
          </a:xfrm>
          <a:prstGeom prst="rect">
            <a:avLst/>
          </a:prstGeom>
          <a:solidFill>
            <a:srgbClr val="EDE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243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310F53"/>
                </a:solidFill>
                <a:latin typeface="Montserrat"/>
              </a:rPr>
              <a:t>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6609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FastAPI · Pydantic v2 · SQLAlchemy Async · JWT, RBAC, audit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57600"/>
            <a:ext cx="10607040" cy="960120"/>
          </a:xfrm>
          <a:prstGeom prst="rect">
            <a:avLst/>
          </a:prstGeom>
          <a:solidFill>
            <a:srgbClr val="E3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0B6B3A"/>
                </a:solidFill>
                <a:latin typeface="Montserrat"/>
              </a:rPr>
              <a:t>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8039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PostgreSQL в Supabase · Alembic · Redis-кэш отчётов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800600"/>
            <a:ext cx="10607040" cy="960120"/>
          </a:xfrm>
          <a:prstGeom prst="rect">
            <a:avLst/>
          </a:prstGeom>
          <a:solidFill>
            <a:srgbClr val="E7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9103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Montserrat"/>
              </a:rPr>
              <a:t>Контур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9469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Render (backend) · Vercel (frontend) · Docker Compose + Nginx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28016" cy="38404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310F53"/>
                </a:solidFill>
                <a:latin typeface="Montserrat"/>
              </a:rPr>
              <a:t>Технологии и 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2606040" cy="420624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2606040" cy="9144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1691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Единый конфиг колонок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514600"/>
            <a:ext cx="2194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Отчёты, таблицы UI и выгрузки XLSX/XLS/PDF собираются из одного JSON-описания.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371600"/>
            <a:ext cx="2606040" cy="420624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1371600"/>
            <a:ext cx="2606040" cy="9144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1691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Коды ошибок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514600"/>
            <a:ext cx="2194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Стабильные коды НФТ-3: фронтенд показывает понятное сообщение по коду.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2606040" cy="420624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2606040" cy="9144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1691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Заголовки безопасности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514600"/>
            <a:ext cx="2194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CSP, X-Frame-Options, X-Content-Type-Options, Referrer-Policy, Permissions-Policy и HSTS.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371600"/>
            <a:ext cx="2606040" cy="420624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6840" y="1371600"/>
            <a:ext cx="2606040" cy="9144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691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10F53"/>
                </a:solidFill>
                <a:latin typeface="Montserrat"/>
              </a:rPr>
              <a:t>Кэш отчётов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8008" y="2514600"/>
            <a:ext cx="2194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Сводка кэшируется по полному набору фильтров, включая воронку B2B/B2C.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28016" cy="38404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310F53"/>
                </a:solidFill>
                <a:latin typeface="Montserrat"/>
              </a:rPr>
              <a:t>152-ФЗ и 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HTTPS и credentialed CORS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JWT и ролевой контроль доступа (RBAC)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Audit log для изменяющих операций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Cookie consent и privacy policy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Секреты только через переменные окружения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700" b="0">
                <a:solidFill>
                  <a:srgbClr val="1C1D22"/>
                </a:solidFill>
                <a:latin typeface="Montserrat"/>
              </a:rPr>
              <a:t>Подготовлена миграция БД в Yandex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1325880"/>
            <a:ext cx="4480560" cy="283464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5544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Нагрузка (Locust)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96596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Цель: 50 пользователей, 60 секунд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Целевой p95 — менее 1000 мс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Локальный прогон: 1460 запросов, 0 % ошибок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Точка оптимизации — login под нагрузкой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4343400"/>
            <a:ext cx="4480560" cy="1554480"/>
          </a:xfrm>
          <a:prstGeom prst="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45720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20978"/>
                </a:solidFill>
                <a:latin typeface="Montserrat"/>
              </a:rPr>
              <a:t>Контролы отражены в коде, документации и инфраструктурном плане, а не только декларируются.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28016" cy="38404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310F53"/>
                </a:solidFill>
                <a:latin typeface="Montserrat"/>
              </a:rPr>
              <a:t>Планы по развитию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71600"/>
            <a:ext cx="10607040" cy="91440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728" cy="91440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10F53"/>
                </a:solidFill>
                <a:latin typeface="Montserrat"/>
              </a:rPr>
              <a:t>Сейчас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4592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Production-контур работает: B2B/B2C, отчёты, RBAC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468880"/>
            <a:ext cx="10607040" cy="91440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468880"/>
            <a:ext cx="109728" cy="91440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724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10F53"/>
                </a:solidFill>
                <a:latin typeface="Montserrat"/>
              </a:rPr>
              <a:t>Далее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Browser smoke test и нагрузочное измерение на стенде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566160"/>
            <a:ext cx="10607040" cy="91440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566160"/>
            <a:ext cx="109728" cy="91440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8221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10F53"/>
                </a:solidFill>
                <a:latin typeface="Montserrat"/>
              </a:rPr>
              <a:t>Дальше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048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Резервное восстановление в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63440"/>
            <a:ext cx="10607040" cy="91440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663440"/>
            <a:ext cx="109728" cy="91440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194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10F53"/>
                </a:solidFill>
                <a:latin typeface="Montserrat"/>
              </a:rPr>
              <a:t>Перспектива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93776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Подтверждение контура хранения в РФ и перенос production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128016" cy="38404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310F53"/>
                </a:solidFill>
                <a:latin typeface="Montserra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6B6B72"/>
                </a:solidFill>
                <a:latin typeface="Montserrat"/>
              </a:rPr>
              <a:t>RTK CRM · город и регион · состав заполняется перед защитой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00200"/>
            <a:ext cx="2084831" cy="393192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3895" y="1828800"/>
            <a:ext cx="731520" cy="73152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520978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697480"/>
            <a:ext cx="1792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ФИО капитана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15468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Капитан, backend и инфраструктура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53895" y="3977639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83D1"/>
                </a:solidFill>
                <a:latin typeface="Montserrat"/>
              </a:rPr>
              <a:t>QR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00600"/>
            <a:ext cx="1901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ник в Telegram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1600200"/>
            <a:ext cx="2084831" cy="393192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48456" y="1828800"/>
            <a:ext cx="731520" cy="73152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697480"/>
            <a:ext cx="1792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ФИО участника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315468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Frontend и дизайн-система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8456" y="3977639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83D1"/>
                </a:solidFill>
                <a:latin typeface="Montserrat"/>
              </a:rPr>
              <a:t>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4800600"/>
            <a:ext cx="1901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ник в Telegram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66360" y="1600200"/>
            <a:ext cx="2084831" cy="393192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1828800"/>
            <a:ext cx="731520" cy="73152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2664" y="2697480"/>
            <a:ext cx="1792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ФИО участника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2664" y="315468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Backend, API и интеграции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3016" y="3977639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83D1"/>
                </a:solidFill>
                <a:latin typeface="Montserrat"/>
              </a:rPr>
              <a:t>QR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4800600"/>
            <a:ext cx="1901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ник в Telegram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600200"/>
            <a:ext cx="2084831" cy="393192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37576" y="1828800"/>
            <a:ext cx="731520" cy="73152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520978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7224" y="2697480"/>
            <a:ext cx="1792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ФИО участника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7224" y="315468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Продукт и бизнес-аналитика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7576" y="3977639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83D1"/>
                </a:solidFill>
                <a:latin typeface="Montserrat"/>
              </a:rPr>
              <a:t>QR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4800600"/>
            <a:ext cx="1901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ник в Telegram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55480" y="1600200"/>
            <a:ext cx="2084831" cy="3931920"/>
          </a:xfrm>
          <a:prstGeom prst="rect">
            <a:avLst/>
          </a:prstGeom>
          <a:solidFill>
            <a:srgbClr val="F7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32136" y="1828800"/>
            <a:ext cx="731520" cy="73152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697480"/>
            <a:ext cx="1792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ФИО участника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01784" y="315468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QA, тестирование и безопасность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32136" y="3977639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83D1"/>
                </a:solidFill>
                <a:latin typeface="Montserrat"/>
              </a:rPr>
              <a:t>QR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4800600"/>
            <a:ext cx="1901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ник в Telegram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ontserrat"/>
              </a:rP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>
                <a:solidFill>
                  <a:srgbClr val="FFD6E4"/>
                </a:solidFill>
                <a:latin typeface="Montserrat"/>
              </a:rPr>
              <a:t>RTK CRM — ИТ Школа Ростелекома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>
                <a:solidFill>
                  <a:srgbClr val="FFD6E4"/>
                </a:solidFill>
                <a:latin typeface="Montserrat"/>
              </a:rPr>
              <a:t>ЛЦТ 2026, кейс №6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>
                <a:solidFill>
                  <a:srgbClr val="FFD6E4"/>
                </a:solidFill>
                <a:latin typeface="Montserrat"/>
              </a:rPr>
              <a:t>Репозиторий: github.com/Pavel1778/rtk-crm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>
                <a:solidFill>
                  <a:srgbClr val="FFD6E4"/>
                </a:solidFill>
                <a:latin typeface="Montserrat"/>
              </a:rPr>
              <a:t>Демо: rtk-crm-nx4r.vercel.app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>
                <a:solidFill>
                  <a:srgbClr val="FFD6E4"/>
                </a:solidFill>
                <a:latin typeface="Montserrat"/>
              </a:rPr>
              <a:t>API: rtk-crm-backend.onrender.com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700" b="0">
                <a:solidFill>
                  <a:srgbClr val="FFD6E4"/>
                </a:solidFill>
                <a:latin typeface="Montserrat"/>
              </a:rPr>
              <a:t>Контакт команды: team@rtk-crm.ru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8A83D1"/>
                </a:solidFill>
                <a:latin typeface="Montserrat"/>
              </a:rPr>
              <a:t>Готовы показать путь от карточки взаимодействия до управленческого отчёта.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550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6B72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