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3.jpg" ContentType="image/jpg"/>
  <Override PartName="/ppt/media/image30.jpg" ContentType="image/jpg"/>
  <Override PartName="/ppt/media/image31.jpg" ContentType="image/jpg"/>
  <Override PartName="/ppt/media/image4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8" r:id="rId18"/>
    <p:sldId id="272" r:id="rId22"/>
    <p:sldId id="274" r:id="rId24"/>
    <p:sldId id="275" r:id="rId25"/>
    <p:sldId id="271" r:id="rId21"/>
    <p:sldId id="282" r:id="rId32"/>
    <p:sldId id="262" r:id="rId12"/>
    <p:sldId id="263" r:id="rId13"/>
    <p:sldId id="264" r:id="rId14"/>
    <p:sldId id="265" r:id="rId15"/>
    <p:sldId id="266" r:id="rId16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8" Type="http://schemas.openxmlformats.org/officeDocument/2006/relationships/slide" Target="slides/slide13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32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47472" y="323088"/>
            <a:ext cx="3749040" cy="622300"/>
          </a:xfrm>
          <a:custGeom>
            <a:avLst/>
            <a:gdLst/>
            <a:ahLst/>
            <a:cxnLst/>
            <a:rect l="l" t="t" r="r" b="b"/>
            <a:pathLst>
              <a:path w="3749040" h="622300">
                <a:moveTo>
                  <a:pt x="3632707" y="0"/>
                </a:moveTo>
                <a:lnTo>
                  <a:pt x="116306" y="0"/>
                </a:lnTo>
                <a:lnTo>
                  <a:pt x="71033" y="9140"/>
                </a:lnTo>
                <a:lnTo>
                  <a:pt x="34064" y="34067"/>
                </a:lnTo>
                <a:lnTo>
                  <a:pt x="9139" y="71044"/>
                </a:lnTo>
                <a:lnTo>
                  <a:pt x="0" y="116331"/>
                </a:lnTo>
                <a:lnTo>
                  <a:pt x="0" y="505459"/>
                </a:lnTo>
                <a:lnTo>
                  <a:pt x="9139" y="550747"/>
                </a:lnTo>
                <a:lnTo>
                  <a:pt x="34064" y="587724"/>
                </a:lnTo>
                <a:lnTo>
                  <a:pt x="71033" y="612651"/>
                </a:lnTo>
                <a:lnTo>
                  <a:pt x="116306" y="621791"/>
                </a:lnTo>
                <a:lnTo>
                  <a:pt x="3632707" y="621791"/>
                </a:lnTo>
                <a:lnTo>
                  <a:pt x="3677995" y="612651"/>
                </a:lnTo>
                <a:lnTo>
                  <a:pt x="3714972" y="587724"/>
                </a:lnTo>
                <a:lnTo>
                  <a:pt x="3739899" y="550747"/>
                </a:lnTo>
                <a:lnTo>
                  <a:pt x="3749040" y="505459"/>
                </a:lnTo>
                <a:lnTo>
                  <a:pt x="3749040" y="116331"/>
                </a:lnTo>
                <a:lnTo>
                  <a:pt x="3739899" y="71044"/>
                </a:lnTo>
                <a:lnTo>
                  <a:pt x="3714972" y="34067"/>
                </a:lnTo>
                <a:lnTo>
                  <a:pt x="3677995" y="9140"/>
                </a:lnTo>
                <a:lnTo>
                  <a:pt x="3632707" y="0"/>
                </a:lnTo>
                <a:close/>
              </a:path>
            </a:pathLst>
          </a:custGeom>
          <a:solidFill>
            <a:srgbClr val="FF005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347472" y="1210055"/>
            <a:ext cx="11323320" cy="4989830"/>
          </a:xfrm>
          <a:custGeom>
            <a:avLst/>
            <a:gdLst/>
            <a:ahLst/>
            <a:cxnLst/>
            <a:rect l="l" t="t" r="r" b="b"/>
            <a:pathLst>
              <a:path w="11323320" h="4989830">
                <a:moveTo>
                  <a:pt x="5437632" y="170053"/>
                </a:moveTo>
                <a:lnTo>
                  <a:pt x="5431561" y="124828"/>
                </a:lnTo>
                <a:lnTo>
                  <a:pt x="5414416" y="84201"/>
                </a:lnTo>
                <a:lnTo>
                  <a:pt x="5387835" y="49784"/>
                </a:lnTo>
                <a:lnTo>
                  <a:pt x="5353431" y="23215"/>
                </a:lnTo>
                <a:lnTo>
                  <a:pt x="5312803" y="6070"/>
                </a:lnTo>
                <a:lnTo>
                  <a:pt x="5267579" y="0"/>
                </a:lnTo>
                <a:lnTo>
                  <a:pt x="170002" y="0"/>
                </a:lnTo>
                <a:lnTo>
                  <a:pt x="124802" y="6070"/>
                </a:lnTo>
                <a:lnTo>
                  <a:pt x="84188" y="23215"/>
                </a:lnTo>
                <a:lnTo>
                  <a:pt x="49784" y="49784"/>
                </a:lnTo>
                <a:lnTo>
                  <a:pt x="23202" y="84201"/>
                </a:lnTo>
                <a:lnTo>
                  <a:pt x="6070" y="124828"/>
                </a:lnTo>
                <a:lnTo>
                  <a:pt x="0" y="170053"/>
                </a:lnTo>
                <a:lnTo>
                  <a:pt x="0" y="4819574"/>
                </a:lnTo>
                <a:lnTo>
                  <a:pt x="6070" y="4864773"/>
                </a:lnTo>
                <a:lnTo>
                  <a:pt x="23202" y="4905387"/>
                </a:lnTo>
                <a:lnTo>
                  <a:pt x="49784" y="4939792"/>
                </a:lnTo>
                <a:lnTo>
                  <a:pt x="84188" y="4966373"/>
                </a:lnTo>
                <a:lnTo>
                  <a:pt x="124802" y="4983505"/>
                </a:lnTo>
                <a:lnTo>
                  <a:pt x="170002" y="4989576"/>
                </a:lnTo>
                <a:lnTo>
                  <a:pt x="5267579" y="4989576"/>
                </a:lnTo>
                <a:lnTo>
                  <a:pt x="5312803" y="4983505"/>
                </a:lnTo>
                <a:lnTo>
                  <a:pt x="5353431" y="4966373"/>
                </a:lnTo>
                <a:lnTo>
                  <a:pt x="5387835" y="4939792"/>
                </a:lnTo>
                <a:lnTo>
                  <a:pt x="5414416" y="4905387"/>
                </a:lnTo>
                <a:lnTo>
                  <a:pt x="5431561" y="4864773"/>
                </a:lnTo>
                <a:lnTo>
                  <a:pt x="5437632" y="4819574"/>
                </a:lnTo>
                <a:lnTo>
                  <a:pt x="5437632" y="170053"/>
                </a:lnTo>
                <a:close/>
              </a:path>
              <a:path w="11323320" h="4989830">
                <a:moveTo>
                  <a:pt x="11323320" y="192786"/>
                </a:moveTo>
                <a:lnTo>
                  <a:pt x="11318215" y="148602"/>
                </a:lnTo>
                <a:lnTo>
                  <a:pt x="11303711" y="108026"/>
                </a:lnTo>
                <a:lnTo>
                  <a:pt x="11280940" y="72237"/>
                </a:lnTo>
                <a:lnTo>
                  <a:pt x="11251082" y="42379"/>
                </a:lnTo>
                <a:lnTo>
                  <a:pt x="11215294" y="19608"/>
                </a:lnTo>
                <a:lnTo>
                  <a:pt x="11174717" y="5105"/>
                </a:lnTo>
                <a:lnTo>
                  <a:pt x="11130534" y="0"/>
                </a:lnTo>
                <a:lnTo>
                  <a:pt x="6075426" y="0"/>
                </a:lnTo>
                <a:lnTo>
                  <a:pt x="6031230" y="5105"/>
                </a:lnTo>
                <a:lnTo>
                  <a:pt x="5990653" y="19608"/>
                </a:lnTo>
                <a:lnTo>
                  <a:pt x="5954865" y="42379"/>
                </a:lnTo>
                <a:lnTo>
                  <a:pt x="5925007" y="72237"/>
                </a:lnTo>
                <a:lnTo>
                  <a:pt x="5902236" y="108026"/>
                </a:lnTo>
                <a:lnTo>
                  <a:pt x="5887732" y="148602"/>
                </a:lnTo>
                <a:lnTo>
                  <a:pt x="5882640" y="192786"/>
                </a:lnTo>
                <a:lnTo>
                  <a:pt x="5882640" y="4796726"/>
                </a:lnTo>
                <a:lnTo>
                  <a:pt x="5887732" y="4840948"/>
                </a:lnTo>
                <a:lnTo>
                  <a:pt x="5902236" y="4881550"/>
                </a:lnTo>
                <a:lnTo>
                  <a:pt x="5925007" y="4917351"/>
                </a:lnTo>
                <a:lnTo>
                  <a:pt x="5954865" y="4947221"/>
                </a:lnTo>
                <a:lnTo>
                  <a:pt x="5990653" y="4969980"/>
                </a:lnTo>
                <a:lnTo>
                  <a:pt x="6031230" y="4984483"/>
                </a:lnTo>
                <a:lnTo>
                  <a:pt x="6075426" y="4989576"/>
                </a:lnTo>
                <a:lnTo>
                  <a:pt x="11130534" y="4989576"/>
                </a:lnTo>
                <a:lnTo>
                  <a:pt x="11174717" y="4984483"/>
                </a:lnTo>
                <a:lnTo>
                  <a:pt x="11215294" y="4969980"/>
                </a:lnTo>
                <a:lnTo>
                  <a:pt x="11251082" y="4947221"/>
                </a:lnTo>
                <a:lnTo>
                  <a:pt x="11280940" y="4917351"/>
                </a:lnTo>
                <a:lnTo>
                  <a:pt x="11303711" y="4881550"/>
                </a:lnTo>
                <a:lnTo>
                  <a:pt x="11318215" y="4840948"/>
                </a:lnTo>
                <a:lnTo>
                  <a:pt x="11323320" y="4796726"/>
                </a:lnTo>
                <a:lnTo>
                  <a:pt x="11323320" y="19278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2691" y="403098"/>
            <a:ext cx="6607860" cy="4626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36142" y="2000834"/>
            <a:ext cx="7013575" cy="3044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1544807" y="6403755"/>
            <a:ext cx="396875" cy="2416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hyperlink" Target="http://www.lider.com/" TargetMode="External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2.png"/><Relationship Id="rId10" Type="http://schemas.openxmlformats.org/officeDocument/2006/relationships/image" Target="../media/image5.png"/><Relationship Id="rId11" Type="http://schemas.openxmlformats.org/officeDocument/2006/relationships/image" Target="../media/image6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4572" y="-4572"/>
            <a:ext cx="12197080" cy="6863080"/>
            <a:chOff x="-4572" y="-4572"/>
            <a:chExt cx="12197080" cy="68630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0"/>
              <a:ext cx="5829300" cy="1973580"/>
            </a:xfrm>
            <a:custGeom>
              <a:avLst/>
              <a:gdLst/>
              <a:ahLst/>
              <a:cxnLst/>
              <a:rect l="l" t="t" r="r" b="b"/>
              <a:pathLst>
                <a:path w="5829300" h="1973580">
                  <a:moveTo>
                    <a:pt x="5829299" y="0"/>
                  </a:moveTo>
                  <a:lnTo>
                    <a:pt x="5829299" y="1749044"/>
                  </a:lnTo>
                  <a:lnTo>
                    <a:pt x="5824741" y="1794316"/>
                  </a:lnTo>
                  <a:lnTo>
                    <a:pt x="5811664" y="1836473"/>
                  </a:lnTo>
                  <a:lnTo>
                    <a:pt x="5790971" y="1874615"/>
                  </a:lnTo>
                  <a:lnTo>
                    <a:pt x="5763561" y="1907841"/>
                  </a:lnTo>
                  <a:lnTo>
                    <a:pt x="5730335" y="1935251"/>
                  </a:lnTo>
                  <a:lnTo>
                    <a:pt x="5692193" y="1955944"/>
                  </a:lnTo>
                  <a:lnTo>
                    <a:pt x="5650036" y="1969021"/>
                  </a:lnTo>
                  <a:lnTo>
                    <a:pt x="5604763" y="1973579"/>
                  </a:lnTo>
                  <a:lnTo>
                    <a:pt x="0" y="1973579"/>
                  </a:lnTo>
                </a:path>
              </a:pathLst>
            </a:custGeom>
            <a:ln w="9144">
              <a:solidFill>
                <a:srgbClr val="FFD5E2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TextBox 4"/>
          <p:cNvSpPr txBox="1"/>
          <p:nvPr/>
        </p:nvSpPr>
        <p:spPr>
          <a:xfrm>
            <a:off x="758952" y="141732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600" b="1">
                <a:solidFill>
                  <a:srgbClr val="FFFFFF"/>
                </a:solidFill>
                <a:latin typeface="Montserrat"/>
              </a:rPr>
              <a:t>RTK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ontserrat"/>
              </a:rPr>
              <a:t>Система контроля взаимодействия ИТ Школы Ростелекома с вузами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>
                <a:solidFill>
                  <a:srgbClr val="F3C9E4"/>
                </a:solidFill>
                <a:latin typeface="Montserrat"/>
              </a:rPr>
              <a:t>Лидеры цифровой трансформации 2026 · кейс №6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4528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>
                <a:solidFill>
                  <a:srgbClr val="E6D2EF"/>
                </a:solidFill>
                <a:latin typeface="Montserrat"/>
              </a:rPr>
              <a:t>Команда из 5 человек · Москва · github.com/Pavel1778/rtk-crm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2971799"/>
              <a:ext cx="6456045" cy="3886200"/>
            </a:xfrm>
            <a:custGeom>
              <a:avLst/>
              <a:gdLst/>
              <a:ahLst/>
              <a:cxnLst/>
              <a:rect l="l" t="t" r="r" b="b"/>
              <a:pathLst>
                <a:path w="6456045" h="3886200">
                  <a:moveTo>
                    <a:pt x="6455664" y="0"/>
                  </a:moveTo>
                  <a:lnTo>
                    <a:pt x="0" y="0"/>
                  </a:lnTo>
                  <a:lnTo>
                    <a:pt x="0" y="3886200"/>
                  </a:lnTo>
                  <a:lnTo>
                    <a:pt x="6455664" y="3886200"/>
                  </a:lnTo>
                  <a:lnTo>
                    <a:pt x="6455664" y="0"/>
                  </a:lnTo>
                  <a:close/>
                </a:path>
              </a:pathLst>
            </a:custGeom>
            <a:solidFill>
              <a:srgbClr val="DCCEE3">
                <a:alpha val="49803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413715" y="3513582"/>
            <a:ext cx="3133725" cy="193802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05"/>
              </a:spcBef>
              <a:spcAft>
                <a:spcPts val="8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О команде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Капитан: Сабадаш Павел, backend и инфраструктура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Кол-во участников: 5 человек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Город и регион: Москва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Собрались на ЛЦТ 2026 вокруг задачи ИТ Школы.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396240" y="2234183"/>
            <a:ext cx="11386185" cy="2209800"/>
            <a:chOff x="396240" y="2234183"/>
            <a:chExt cx="11386185" cy="2209800"/>
          </a:xfrm>
        </p:grpSpPr>
        <p:sp>
          <p:nvSpPr>
            <p:cNvPr id="7" name="object 7"/>
            <p:cNvSpPr/>
            <p:nvPr/>
          </p:nvSpPr>
          <p:spPr>
            <a:xfrm>
              <a:off x="6879336" y="2240279"/>
              <a:ext cx="4903470" cy="2197735"/>
            </a:xfrm>
            <a:custGeom>
              <a:avLst/>
              <a:gdLst/>
              <a:ahLst/>
              <a:cxnLst/>
              <a:rect l="l" t="t" r="r" b="b"/>
              <a:pathLst>
                <a:path w="4903470" h="2197735">
                  <a:moveTo>
                    <a:pt x="0" y="0"/>
                  </a:moveTo>
                  <a:lnTo>
                    <a:pt x="4884801" y="0"/>
                  </a:lnTo>
                </a:path>
                <a:path w="4903470" h="2197735">
                  <a:moveTo>
                    <a:pt x="18288" y="2197608"/>
                  </a:moveTo>
                  <a:lnTo>
                    <a:pt x="4903089" y="2197608"/>
                  </a:lnTo>
                </a:path>
              </a:pathLst>
            </a:custGeom>
            <a:ln w="12192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96240" y="3447287"/>
              <a:ext cx="5700395" cy="0"/>
            </a:xfrm>
            <a:custGeom>
              <a:avLst/>
              <a:gdLst/>
              <a:ahLst/>
              <a:cxnLst/>
              <a:rect l="l" t="t" r="r" b="b"/>
              <a:pathLst>
                <a:path w="5700395" h="0">
                  <a:moveTo>
                    <a:pt x="0" y="0"/>
                  </a:moveTo>
                  <a:lnTo>
                    <a:pt x="5700141" y="0"/>
                  </a:lnTo>
                </a:path>
              </a:pathLst>
            </a:custGeom>
            <a:ln w="6096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888606" y="2244596"/>
            <a:ext cx="2854960" cy="644525"/>
          </a:xfrm>
          <a:prstGeom prst="rect">
            <a:avLst/>
          </a:prstGeom>
        </p:spPr>
        <p:txBody>
          <a:bodyPr wrap="square" lIns="0" tIns="100330" rIns="0" bIns="0" rtlCol="0" vert="horz">
            <a:spAutoFit/>
          </a:bodyPr>
          <a:lstStyle/>
          <a:p>
            <a:pPr marL="24130" algn="l">
              <a:lnSpc>
                <a:spcPct val="112000"/>
              </a:lnSpc>
              <a:spcBef>
                <a:spcPts val="790"/>
              </a:spcBef>
              <a:spcAft>
                <a:spcPts val="8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Краткое описание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CRM ведёт взаимодействие с вузом от первого контакта до результата: Kanban, карточка, задачи, комментарии, файлы, отчёты.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6900418" y="4464677"/>
            <a:ext cx="3645535" cy="895350"/>
          </a:xfrm>
          <a:prstGeom prst="rect">
            <a:avLst/>
          </a:prstGeom>
        </p:spPr>
        <p:txBody>
          <a:bodyPr wrap="square" lIns="0" tIns="12001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45"/>
              </a:spcBef>
              <a:spcAft>
                <a:spcPts val="8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Уникальность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Настраиваемый workflow без доработки кода. Воронки B2B (14 этапов) и B2C (4 этапа) не смешиваются в UI, API и отчётах.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651760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64" y="0"/>
                  </a:lnTo>
                  <a:lnTo>
                    <a:pt x="165911" y="5686"/>
                  </a:lnTo>
                  <a:lnTo>
                    <a:pt x="120603" y="21882"/>
                  </a:lnTo>
                  <a:lnTo>
                    <a:pt x="80634" y="47296"/>
                  </a:lnTo>
                  <a:lnTo>
                    <a:pt x="47296" y="80634"/>
                  </a:lnTo>
                  <a:lnTo>
                    <a:pt x="21882" y="120603"/>
                  </a:lnTo>
                  <a:lnTo>
                    <a:pt x="5686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6" y="4668252"/>
                  </a:lnTo>
                  <a:lnTo>
                    <a:pt x="21882" y="4713554"/>
                  </a:lnTo>
                  <a:lnTo>
                    <a:pt x="47296" y="4753516"/>
                  </a:lnTo>
                  <a:lnTo>
                    <a:pt x="80634" y="4786846"/>
                  </a:lnTo>
                  <a:lnTo>
                    <a:pt x="120603" y="4812253"/>
                  </a:lnTo>
                  <a:lnTo>
                    <a:pt x="165911" y="4828443"/>
                  </a:lnTo>
                  <a:lnTo>
                    <a:pt x="215264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2902966" y="3626053"/>
            <a:ext cx="1439545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Тимофей Кобзев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02966" y="4263339"/>
            <a:ext cx="1655445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655" indent="-147955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655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Frontend и дизайн-система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@T1mka_Z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347472" y="323088"/>
            <a:ext cx="3950335" cy="6032500"/>
            <a:chOff x="347472" y="323088"/>
            <a:chExt cx="3950335" cy="6032500"/>
          </a:xfrm>
        </p:grpSpPr>
        <p:sp>
          <p:nvSpPr>
            <p:cNvPr id="17" name="object 17"/>
            <p:cNvSpPr/>
            <p:nvPr/>
          </p:nvSpPr>
          <p:spPr>
            <a:xfrm>
              <a:off x="347472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26" y="0"/>
                  </a:lnTo>
                  <a:lnTo>
                    <a:pt x="165875" y="5686"/>
                  </a:lnTo>
                  <a:lnTo>
                    <a:pt x="120573" y="21882"/>
                  </a:lnTo>
                  <a:lnTo>
                    <a:pt x="80611" y="47296"/>
                  </a:lnTo>
                  <a:lnTo>
                    <a:pt x="47281" y="80634"/>
                  </a:lnTo>
                  <a:lnTo>
                    <a:pt x="21874" y="120603"/>
                  </a:lnTo>
                  <a:lnTo>
                    <a:pt x="5684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4" y="4668252"/>
                  </a:lnTo>
                  <a:lnTo>
                    <a:pt x="21874" y="4713554"/>
                  </a:lnTo>
                  <a:lnTo>
                    <a:pt x="47281" y="4753516"/>
                  </a:lnTo>
                  <a:lnTo>
                    <a:pt x="80611" y="4786846"/>
                  </a:lnTo>
                  <a:lnTo>
                    <a:pt x="120573" y="4812253"/>
                  </a:lnTo>
                  <a:lnTo>
                    <a:pt x="165875" y="4828443"/>
                  </a:lnTo>
                  <a:lnTo>
                    <a:pt x="215226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597204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Сабадаш Павел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956047" y="1520952"/>
            <a:ext cx="2194560" cy="4834255"/>
          </a:xfrm>
          <a:custGeom>
            <a:avLst/>
            <a:gdLst/>
            <a:ahLst/>
            <a:cxnLst/>
            <a:rect l="l" t="t" r="r" b="b"/>
            <a:pathLst>
              <a:path w="2194559" h="4834255">
                <a:moveTo>
                  <a:pt x="1979041" y="0"/>
                </a:moveTo>
                <a:lnTo>
                  <a:pt x="215518" y="0"/>
                </a:lnTo>
                <a:lnTo>
                  <a:pt x="166111" y="5693"/>
                </a:lnTo>
                <a:lnTo>
                  <a:pt x="120751" y="21910"/>
                </a:lnTo>
                <a:lnTo>
                  <a:pt x="80734" y="47356"/>
                </a:lnTo>
                <a:lnTo>
                  <a:pt x="47356" y="80734"/>
                </a:lnTo>
                <a:lnTo>
                  <a:pt x="21910" y="120751"/>
                </a:lnTo>
                <a:lnTo>
                  <a:pt x="5693" y="166111"/>
                </a:lnTo>
                <a:lnTo>
                  <a:pt x="0" y="215519"/>
                </a:lnTo>
                <a:lnTo>
                  <a:pt x="0" y="4618596"/>
                </a:lnTo>
                <a:lnTo>
                  <a:pt x="5693" y="4668016"/>
                </a:lnTo>
                <a:lnTo>
                  <a:pt x="21910" y="4713382"/>
                </a:lnTo>
                <a:lnTo>
                  <a:pt x="47356" y="4753401"/>
                </a:lnTo>
                <a:lnTo>
                  <a:pt x="80734" y="4786778"/>
                </a:lnTo>
                <a:lnTo>
                  <a:pt x="120751" y="4812221"/>
                </a:lnTo>
                <a:lnTo>
                  <a:pt x="166111" y="4828435"/>
                </a:lnTo>
                <a:lnTo>
                  <a:pt x="215518" y="4834128"/>
                </a:lnTo>
                <a:lnTo>
                  <a:pt x="1979041" y="4834128"/>
                </a:lnTo>
                <a:lnTo>
                  <a:pt x="2028448" y="4828435"/>
                </a:lnTo>
                <a:lnTo>
                  <a:pt x="2073808" y="4812221"/>
                </a:lnTo>
                <a:lnTo>
                  <a:pt x="2113825" y="4786778"/>
                </a:lnTo>
                <a:lnTo>
                  <a:pt x="2147203" y="4753401"/>
                </a:lnTo>
                <a:lnTo>
                  <a:pt x="2172649" y="4713382"/>
                </a:lnTo>
                <a:lnTo>
                  <a:pt x="2188866" y="4668016"/>
                </a:lnTo>
                <a:lnTo>
                  <a:pt x="2194559" y="4618596"/>
                </a:lnTo>
                <a:lnTo>
                  <a:pt x="2194559" y="215519"/>
                </a:lnTo>
                <a:lnTo>
                  <a:pt x="2188866" y="166111"/>
                </a:lnTo>
                <a:lnTo>
                  <a:pt x="2172649" y="120751"/>
                </a:lnTo>
                <a:lnTo>
                  <a:pt x="2147203" y="80734"/>
                </a:lnTo>
                <a:lnTo>
                  <a:pt x="2113825" y="47356"/>
                </a:lnTo>
                <a:lnTo>
                  <a:pt x="2073808" y="21910"/>
                </a:lnTo>
                <a:lnTo>
                  <a:pt x="2028448" y="5693"/>
                </a:lnTo>
                <a:lnTo>
                  <a:pt x="197904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5209159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Сазонов Александр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209159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Backend, API и интеграции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@saneik_me</a:t>
            </a:r>
          </a:p>
        </p:txBody>
      </p:sp>
      <p:sp>
        <p:nvSpPr>
          <p:cNvPr id="10" name="object 10"/>
          <p:cNvSpPr/>
          <p:nvPr/>
        </p:nvSpPr>
        <p:spPr>
          <a:xfrm>
            <a:off x="7263383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5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5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2" y="4618901"/>
                </a:lnTo>
                <a:lnTo>
                  <a:pt x="2191512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7514970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Иван Мельников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14970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Данные, отчёты и экспорт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@GooolZZ</a:t>
            </a:r>
          </a:p>
        </p:txBody>
      </p:sp>
      <p:sp>
        <p:nvSpPr>
          <p:cNvPr id="13" name="object 13"/>
          <p:cNvSpPr/>
          <p:nvPr/>
        </p:nvSpPr>
        <p:spPr>
          <a:xfrm>
            <a:off x="9567671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4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4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1" y="4618901"/>
                </a:lnTo>
                <a:lnTo>
                  <a:pt x="2191511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9820782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Никита Предков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97204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Капитан, backend и инфраструктура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@Pasha1778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9820782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QA, документация и питч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@pretuan</a:t>
            </a:r>
          </a:p>
        </p:txBody>
      </p:sp>
      <p:sp>
        <p:nvSpPr>
          <p:cNvPr id="21" name="object 2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612444" y="1199693"/>
            <a:ext cx="3925570" cy="1097915"/>
          </a:xfrm>
          <a:prstGeom prst="rect">
            <a:avLst/>
          </a:prstGeom>
        </p:spPr>
        <p:txBody>
          <a:bodyPr wrap="square" lIns="0" tIns="12192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60"/>
              </a:spcBef>
              <a:spcAft>
                <a:spcPts val="5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Краткая история команды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Команда сложилась на хакатоне ЛЦТ 2026: backend, frontend, аналитика, отчёты и QA. Роли распределили по сильным сторонам.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612444" y="2931109"/>
            <a:ext cx="3971925" cy="98107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5"/>
              </a:spcBef>
              <a:spcAft>
                <a:spcPts val="5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Почему выбрали эту задачу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Задача ИТ Школы про реальный процесс, а не учебный кейс: взаимодействие с вузами живёт в таблицах и чатах. Собрали это в один прозрачный контур.</a:t>
            </a:r>
          </a:p>
        </p:txBody>
      </p:sp>
      <p:sp>
        <p:nvSpPr>
          <p:cNvPr id="8" name="object 8"/>
          <p:cNvSpPr/>
          <p:nvPr/>
        </p:nvSpPr>
        <p:spPr>
          <a:xfrm>
            <a:off x="624840" y="1109472"/>
            <a:ext cx="11233150" cy="3298190"/>
          </a:xfrm>
          <a:custGeom>
            <a:avLst/>
            <a:gdLst/>
            <a:ahLst/>
            <a:cxnLst/>
            <a:rect l="l" t="t" r="r" b="b"/>
            <a:pathLst>
              <a:path w="11233150" h="3298190">
                <a:moveTo>
                  <a:pt x="0" y="1636776"/>
                </a:moveTo>
                <a:lnTo>
                  <a:pt x="11233150" y="1636776"/>
                </a:lnTo>
              </a:path>
              <a:path w="11233150" h="3298190">
                <a:moveTo>
                  <a:pt x="0" y="3297935"/>
                </a:moveTo>
                <a:lnTo>
                  <a:pt x="11233150" y="3297935"/>
                </a:lnTo>
              </a:path>
              <a:path w="11233150" h="3298190">
                <a:moveTo>
                  <a:pt x="0" y="0"/>
                </a:moveTo>
                <a:lnTo>
                  <a:pt x="11233150" y="0"/>
                </a:lnTo>
              </a:path>
            </a:pathLst>
          </a:custGeom>
          <a:ln w="6096">
            <a:solidFill>
              <a:srgbClr val="FF005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11676633" y="1289050"/>
            <a:ext cx="220979" cy="23812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01</a:t>
            </a:r>
            <a:endParaRPr sz="14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649202" y="2931109"/>
            <a:ext cx="220979" cy="23812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02</a:t>
            </a:r>
            <a:endParaRPr sz="1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2444" y="4584243"/>
            <a:ext cx="7117080" cy="15417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2652395" algn="l">
              <a:lnSpc>
                <a:spcPct val="112000"/>
              </a:lnSpc>
              <a:spcBef>
                <a:spcPts val="100"/>
              </a:spcBef>
              <a:spcAft>
                <a:spcPts val="5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Сложности и вызовы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Свести две воронки — B2B (14 этапов) и B2C (4 этапа) — так, чтобы фильтры, создание заявок и отчёты не путали их между собой. Отдельно занимались вёрсткой PDF-отчётов и контрастом тёмной темы.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1649202" y="4603750"/>
            <a:ext cx="220979" cy="23812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03</a:t>
            </a:r>
            <a:endParaRPr sz="140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72974" rIns="0" bIns="0" rtlCol="0" vert="horz">
            <a:spAutoFit/>
          </a:bodyPr>
          <a:lstStyle/>
          <a:p>
            <a:pPr marL="14604">
              <a:lnSpc>
                <a:spcPct val="100000"/>
              </a:lnSpc>
              <a:spcBef>
                <a:spcPts val="95"/>
              </a:spcBef>
            </a:pPr>
            <a:r>
              <a:rPr dirty="0">
                <a:latin typeface="Montserrat"/>
              </a:rPr>
              <a:t>КОРОТКО</a:t>
            </a:r>
            <a:r>
              <a:rPr dirty="0" spc="-65">
                <a:latin typeface="Montserrat"/>
              </a:rPr>
              <a:t> </a:t>
            </a:r>
            <a:r>
              <a:rPr dirty="0">
                <a:latin typeface="Montserrat"/>
              </a:rPr>
              <a:t>О</a:t>
            </a:r>
            <a:r>
              <a:rPr dirty="0" spc="-20">
                <a:latin typeface="Montserrat"/>
              </a:rPr>
              <a:t> </a:t>
            </a:r>
            <a:r>
              <a:rPr dirty="0" spc="-10">
                <a:latin typeface="Montserrat"/>
              </a:rPr>
              <a:t>РЕШЕНИИ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6945" y="1329316"/>
            <a:ext cx="4420870" cy="103124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Техническая суть решения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React 18 + TypeScript + Ant Design; FastAPI, SQLAlchemy 2 (async), PostgreSQL. Вход через Keycloak (Code Flow + PKCE) или локальный JWT, ролевой доступ и audit log.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593840" y="1329316"/>
            <a:ext cx="4436110" cy="122301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Маркетинговая суть решения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Закрывает потребность ИТ Школы в управляемом взаимодействии с вузами и переносится на подразделения с похожим процессом: продажи, партнёрства, работа с филиалами.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26136" y="1304544"/>
              <a:ext cx="11539855" cy="5050790"/>
            </a:xfrm>
            <a:custGeom>
              <a:avLst/>
              <a:gdLst/>
              <a:ahLst/>
              <a:cxnLst/>
              <a:rect l="l" t="t" r="r" b="b"/>
              <a:pathLst>
                <a:path w="11539855" h="5050790">
                  <a:moveTo>
                    <a:pt x="11189970" y="0"/>
                  </a:moveTo>
                  <a:lnTo>
                    <a:pt x="349796" y="0"/>
                  </a:lnTo>
                  <a:lnTo>
                    <a:pt x="302332" y="3192"/>
                  </a:lnTo>
                  <a:lnTo>
                    <a:pt x="256808" y="12493"/>
                  </a:lnTo>
                  <a:lnTo>
                    <a:pt x="213642" y="27485"/>
                  </a:lnTo>
                  <a:lnTo>
                    <a:pt x="173250" y="47751"/>
                  </a:lnTo>
                  <a:lnTo>
                    <a:pt x="136049" y="72876"/>
                  </a:lnTo>
                  <a:lnTo>
                    <a:pt x="102455" y="102441"/>
                  </a:lnTo>
                  <a:lnTo>
                    <a:pt x="72886" y="136030"/>
                  </a:lnTo>
                  <a:lnTo>
                    <a:pt x="47759" y="173228"/>
                  </a:lnTo>
                  <a:lnTo>
                    <a:pt x="27489" y="213615"/>
                  </a:lnTo>
                  <a:lnTo>
                    <a:pt x="12495" y="256778"/>
                  </a:lnTo>
                  <a:lnTo>
                    <a:pt x="3193" y="302297"/>
                  </a:lnTo>
                  <a:lnTo>
                    <a:pt x="0" y="349757"/>
                  </a:lnTo>
                  <a:lnTo>
                    <a:pt x="0" y="4700739"/>
                  </a:lnTo>
                  <a:lnTo>
                    <a:pt x="3193" y="4748203"/>
                  </a:lnTo>
                  <a:lnTo>
                    <a:pt x="12495" y="4793727"/>
                  </a:lnTo>
                  <a:lnTo>
                    <a:pt x="27489" y="4836893"/>
                  </a:lnTo>
                  <a:lnTo>
                    <a:pt x="47759" y="4877285"/>
                  </a:lnTo>
                  <a:lnTo>
                    <a:pt x="72886" y="4914486"/>
                  </a:lnTo>
                  <a:lnTo>
                    <a:pt x="102455" y="4948080"/>
                  </a:lnTo>
                  <a:lnTo>
                    <a:pt x="136049" y="4977649"/>
                  </a:lnTo>
                  <a:lnTo>
                    <a:pt x="173250" y="5002776"/>
                  </a:lnTo>
                  <a:lnTo>
                    <a:pt x="213642" y="5023046"/>
                  </a:lnTo>
                  <a:lnTo>
                    <a:pt x="256808" y="5038040"/>
                  </a:lnTo>
                  <a:lnTo>
                    <a:pt x="302332" y="5047342"/>
                  </a:lnTo>
                  <a:lnTo>
                    <a:pt x="349796" y="5050535"/>
                  </a:lnTo>
                  <a:lnTo>
                    <a:pt x="11189970" y="5050535"/>
                  </a:lnTo>
                  <a:lnTo>
                    <a:pt x="11237430" y="5047342"/>
                  </a:lnTo>
                  <a:lnTo>
                    <a:pt x="11282949" y="5038040"/>
                  </a:lnTo>
                  <a:lnTo>
                    <a:pt x="11326112" y="5023046"/>
                  </a:lnTo>
                  <a:lnTo>
                    <a:pt x="11366500" y="5002776"/>
                  </a:lnTo>
                  <a:lnTo>
                    <a:pt x="11403697" y="4977649"/>
                  </a:lnTo>
                  <a:lnTo>
                    <a:pt x="11437286" y="4948080"/>
                  </a:lnTo>
                  <a:lnTo>
                    <a:pt x="11466851" y="4914486"/>
                  </a:lnTo>
                  <a:lnTo>
                    <a:pt x="11491976" y="4877285"/>
                  </a:lnTo>
                  <a:lnTo>
                    <a:pt x="11512242" y="4836893"/>
                  </a:lnTo>
                  <a:lnTo>
                    <a:pt x="11527234" y="4793727"/>
                  </a:lnTo>
                  <a:lnTo>
                    <a:pt x="11536535" y="4748203"/>
                  </a:lnTo>
                  <a:lnTo>
                    <a:pt x="11539728" y="4700739"/>
                  </a:lnTo>
                  <a:lnTo>
                    <a:pt x="11539728" y="349757"/>
                  </a:lnTo>
                  <a:lnTo>
                    <a:pt x="11536535" y="302297"/>
                  </a:lnTo>
                  <a:lnTo>
                    <a:pt x="11527234" y="256778"/>
                  </a:lnTo>
                  <a:lnTo>
                    <a:pt x="11512242" y="213615"/>
                  </a:lnTo>
                  <a:lnTo>
                    <a:pt x="11491976" y="173227"/>
                  </a:lnTo>
                  <a:lnTo>
                    <a:pt x="11466851" y="136030"/>
                  </a:lnTo>
                  <a:lnTo>
                    <a:pt x="11437286" y="102441"/>
                  </a:lnTo>
                  <a:lnTo>
                    <a:pt x="11403697" y="72876"/>
                  </a:lnTo>
                  <a:lnTo>
                    <a:pt x="11366500" y="47751"/>
                  </a:lnTo>
                  <a:lnTo>
                    <a:pt x="11326112" y="27485"/>
                  </a:lnTo>
                  <a:lnTo>
                    <a:pt x="11282949" y="12493"/>
                  </a:lnTo>
                  <a:lnTo>
                    <a:pt x="11237430" y="3192"/>
                  </a:lnTo>
                  <a:lnTo>
                    <a:pt x="111899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" y="1307592"/>
            <a:ext cx="11539728" cy="5047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402336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01 · Подробное описание решения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Kanban-доска взаимодействий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Перемещение карточек между этапами (drag-and-drop)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Поиск по вузу и фильтр по ИТ-продукту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Отдельный выбор этапа на мобильной версии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Карточка взаимодействия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Вуз, продукт, направление и договор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Задачи со сроками и ответственными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Комментарии, файлы и история изменений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91271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0727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Управляемость и отчётность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727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Настройка этапов workflow администратором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Интеграция с LMS и CMS: dry-run и импорт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Экспорт отчётов в XLSX, XLS, PDF и 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47472" y="1520951"/>
              <a:ext cx="11497310" cy="4678680"/>
            </a:xfrm>
            <a:custGeom>
              <a:avLst/>
              <a:gdLst/>
              <a:ahLst/>
              <a:cxnLst/>
              <a:rect l="l" t="t" r="r" b="b"/>
              <a:pathLst>
                <a:path w="11497310" h="4678680">
                  <a:moveTo>
                    <a:pt x="2670048" y="262255"/>
                  </a:moveTo>
                  <a:lnTo>
                    <a:pt x="2665819" y="215099"/>
                  </a:lnTo>
                  <a:lnTo>
                    <a:pt x="2653639" y="170726"/>
                  </a:lnTo>
                  <a:lnTo>
                    <a:pt x="2634246" y="129870"/>
                  </a:lnTo>
                  <a:lnTo>
                    <a:pt x="2608389" y="93268"/>
                  </a:lnTo>
                  <a:lnTo>
                    <a:pt x="2576779" y="61658"/>
                  </a:lnTo>
                  <a:lnTo>
                    <a:pt x="2540177" y="35801"/>
                  </a:lnTo>
                  <a:lnTo>
                    <a:pt x="2499322" y="16408"/>
                  </a:lnTo>
                  <a:lnTo>
                    <a:pt x="2454948" y="4229"/>
                  </a:lnTo>
                  <a:lnTo>
                    <a:pt x="2407793" y="0"/>
                  </a:lnTo>
                  <a:lnTo>
                    <a:pt x="262229" y="0"/>
                  </a:lnTo>
                  <a:lnTo>
                    <a:pt x="215087" y="4229"/>
                  </a:lnTo>
                  <a:lnTo>
                    <a:pt x="170726" y="16408"/>
                  </a:lnTo>
                  <a:lnTo>
                    <a:pt x="129870" y="35801"/>
                  </a:lnTo>
                  <a:lnTo>
                    <a:pt x="93268" y="61658"/>
                  </a:lnTo>
                  <a:lnTo>
                    <a:pt x="61671" y="93268"/>
                  </a:lnTo>
                  <a:lnTo>
                    <a:pt x="35788" y="129870"/>
                  </a:lnTo>
                  <a:lnTo>
                    <a:pt x="16395" y="170726"/>
                  </a:lnTo>
                  <a:lnTo>
                    <a:pt x="4216" y="215099"/>
                  </a:lnTo>
                  <a:lnTo>
                    <a:pt x="0" y="262255"/>
                  </a:lnTo>
                  <a:lnTo>
                    <a:pt x="0" y="4416450"/>
                  </a:lnTo>
                  <a:lnTo>
                    <a:pt x="4216" y="4463593"/>
                  </a:lnTo>
                  <a:lnTo>
                    <a:pt x="16395" y="4507954"/>
                  </a:lnTo>
                  <a:lnTo>
                    <a:pt x="35788" y="4548810"/>
                  </a:lnTo>
                  <a:lnTo>
                    <a:pt x="61671" y="4585411"/>
                  </a:lnTo>
                  <a:lnTo>
                    <a:pt x="93268" y="4617009"/>
                  </a:lnTo>
                  <a:lnTo>
                    <a:pt x="129870" y="4642891"/>
                  </a:lnTo>
                  <a:lnTo>
                    <a:pt x="170726" y="4662284"/>
                  </a:lnTo>
                  <a:lnTo>
                    <a:pt x="215087" y="4674463"/>
                  </a:lnTo>
                  <a:lnTo>
                    <a:pt x="262229" y="4678680"/>
                  </a:lnTo>
                  <a:lnTo>
                    <a:pt x="2407793" y="4678680"/>
                  </a:lnTo>
                  <a:lnTo>
                    <a:pt x="2454948" y="4674463"/>
                  </a:lnTo>
                  <a:lnTo>
                    <a:pt x="2499322" y="4662284"/>
                  </a:lnTo>
                  <a:lnTo>
                    <a:pt x="2540177" y="4642891"/>
                  </a:lnTo>
                  <a:lnTo>
                    <a:pt x="2576779" y="4617009"/>
                  </a:lnTo>
                  <a:lnTo>
                    <a:pt x="2608389" y="4585411"/>
                  </a:lnTo>
                  <a:lnTo>
                    <a:pt x="2634246" y="4548810"/>
                  </a:lnTo>
                  <a:lnTo>
                    <a:pt x="2653639" y="4507954"/>
                  </a:lnTo>
                  <a:lnTo>
                    <a:pt x="2665819" y="4463593"/>
                  </a:lnTo>
                  <a:lnTo>
                    <a:pt x="2670048" y="4416450"/>
                  </a:lnTo>
                  <a:lnTo>
                    <a:pt x="2670048" y="262255"/>
                  </a:lnTo>
                  <a:close/>
                </a:path>
                <a:path w="11497310" h="4678680">
                  <a:moveTo>
                    <a:pt x="5614416" y="262509"/>
                  </a:moveTo>
                  <a:lnTo>
                    <a:pt x="5610187" y="215315"/>
                  </a:lnTo>
                  <a:lnTo>
                    <a:pt x="5597995" y="170891"/>
                  </a:lnTo>
                  <a:lnTo>
                    <a:pt x="5578576" y="129997"/>
                  </a:lnTo>
                  <a:lnTo>
                    <a:pt x="5552694" y="93357"/>
                  </a:lnTo>
                  <a:lnTo>
                    <a:pt x="5521058" y="61722"/>
                  </a:lnTo>
                  <a:lnTo>
                    <a:pt x="5484419" y="35839"/>
                  </a:lnTo>
                  <a:lnTo>
                    <a:pt x="5443525" y="16421"/>
                  </a:lnTo>
                  <a:lnTo>
                    <a:pt x="5399100" y="4229"/>
                  </a:lnTo>
                  <a:lnTo>
                    <a:pt x="5351907" y="0"/>
                  </a:lnTo>
                  <a:lnTo>
                    <a:pt x="3203829" y="0"/>
                  </a:lnTo>
                  <a:lnTo>
                    <a:pt x="3156623" y="4229"/>
                  </a:lnTo>
                  <a:lnTo>
                    <a:pt x="3112198" y="16421"/>
                  </a:lnTo>
                  <a:lnTo>
                    <a:pt x="3071304" y="35839"/>
                  </a:lnTo>
                  <a:lnTo>
                    <a:pt x="3034665" y="61722"/>
                  </a:lnTo>
                  <a:lnTo>
                    <a:pt x="3003029" y="93357"/>
                  </a:lnTo>
                  <a:lnTo>
                    <a:pt x="2977146" y="129997"/>
                  </a:lnTo>
                  <a:lnTo>
                    <a:pt x="2957728" y="170891"/>
                  </a:lnTo>
                  <a:lnTo>
                    <a:pt x="2945536" y="215315"/>
                  </a:lnTo>
                  <a:lnTo>
                    <a:pt x="2941307" y="262509"/>
                  </a:lnTo>
                  <a:lnTo>
                    <a:pt x="2941307" y="4416158"/>
                  </a:lnTo>
                  <a:lnTo>
                    <a:pt x="2945536" y="4463351"/>
                  </a:lnTo>
                  <a:lnTo>
                    <a:pt x="2957728" y="4507763"/>
                  </a:lnTo>
                  <a:lnTo>
                    <a:pt x="2977146" y="4548657"/>
                  </a:lnTo>
                  <a:lnTo>
                    <a:pt x="3003029" y="4585297"/>
                  </a:lnTo>
                  <a:lnTo>
                    <a:pt x="3034665" y="4616945"/>
                  </a:lnTo>
                  <a:lnTo>
                    <a:pt x="3071304" y="4642840"/>
                  </a:lnTo>
                  <a:lnTo>
                    <a:pt x="3112198" y="4662259"/>
                  </a:lnTo>
                  <a:lnTo>
                    <a:pt x="3156623" y="4674451"/>
                  </a:lnTo>
                  <a:lnTo>
                    <a:pt x="3203829" y="4678680"/>
                  </a:lnTo>
                  <a:lnTo>
                    <a:pt x="5351907" y="4678680"/>
                  </a:lnTo>
                  <a:lnTo>
                    <a:pt x="5399100" y="4674451"/>
                  </a:lnTo>
                  <a:lnTo>
                    <a:pt x="5443525" y="4662259"/>
                  </a:lnTo>
                  <a:lnTo>
                    <a:pt x="5484419" y="4642840"/>
                  </a:lnTo>
                  <a:lnTo>
                    <a:pt x="5521058" y="4616945"/>
                  </a:lnTo>
                  <a:lnTo>
                    <a:pt x="5552694" y="4585297"/>
                  </a:lnTo>
                  <a:lnTo>
                    <a:pt x="5578576" y="4548657"/>
                  </a:lnTo>
                  <a:lnTo>
                    <a:pt x="5597995" y="4507763"/>
                  </a:lnTo>
                  <a:lnTo>
                    <a:pt x="5610187" y="4463351"/>
                  </a:lnTo>
                  <a:lnTo>
                    <a:pt x="5614416" y="4416158"/>
                  </a:lnTo>
                  <a:lnTo>
                    <a:pt x="5614416" y="262509"/>
                  </a:lnTo>
                  <a:close/>
                </a:path>
                <a:path w="11497310" h="4678680">
                  <a:moveTo>
                    <a:pt x="8555736" y="262509"/>
                  </a:moveTo>
                  <a:lnTo>
                    <a:pt x="8551507" y="215315"/>
                  </a:lnTo>
                  <a:lnTo>
                    <a:pt x="8539315" y="170891"/>
                  </a:lnTo>
                  <a:lnTo>
                    <a:pt x="8519897" y="129997"/>
                  </a:lnTo>
                  <a:lnTo>
                    <a:pt x="8494014" y="93357"/>
                  </a:lnTo>
                  <a:lnTo>
                    <a:pt x="8462378" y="61722"/>
                  </a:lnTo>
                  <a:lnTo>
                    <a:pt x="8425739" y="35839"/>
                  </a:lnTo>
                  <a:lnTo>
                    <a:pt x="8384845" y="16421"/>
                  </a:lnTo>
                  <a:lnTo>
                    <a:pt x="8340420" y="4229"/>
                  </a:lnTo>
                  <a:lnTo>
                    <a:pt x="8293227" y="0"/>
                  </a:lnTo>
                  <a:lnTo>
                    <a:pt x="6145149" y="0"/>
                  </a:lnTo>
                  <a:lnTo>
                    <a:pt x="6097943" y="4229"/>
                  </a:lnTo>
                  <a:lnTo>
                    <a:pt x="6053518" y="16421"/>
                  </a:lnTo>
                  <a:lnTo>
                    <a:pt x="6012624" y="35839"/>
                  </a:lnTo>
                  <a:lnTo>
                    <a:pt x="5975985" y="61722"/>
                  </a:lnTo>
                  <a:lnTo>
                    <a:pt x="5944349" y="93357"/>
                  </a:lnTo>
                  <a:lnTo>
                    <a:pt x="5918466" y="129997"/>
                  </a:lnTo>
                  <a:lnTo>
                    <a:pt x="5899048" y="170891"/>
                  </a:lnTo>
                  <a:lnTo>
                    <a:pt x="5886856" y="215315"/>
                  </a:lnTo>
                  <a:lnTo>
                    <a:pt x="5882640" y="262509"/>
                  </a:lnTo>
                  <a:lnTo>
                    <a:pt x="5882640" y="4416158"/>
                  </a:lnTo>
                  <a:lnTo>
                    <a:pt x="5886856" y="4463351"/>
                  </a:lnTo>
                  <a:lnTo>
                    <a:pt x="5899048" y="4507763"/>
                  </a:lnTo>
                  <a:lnTo>
                    <a:pt x="5918466" y="4548657"/>
                  </a:lnTo>
                  <a:lnTo>
                    <a:pt x="5944349" y="4585297"/>
                  </a:lnTo>
                  <a:lnTo>
                    <a:pt x="5975985" y="4616945"/>
                  </a:lnTo>
                  <a:lnTo>
                    <a:pt x="6012624" y="4642840"/>
                  </a:lnTo>
                  <a:lnTo>
                    <a:pt x="6053518" y="4662259"/>
                  </a:lnTo>
                  <a:lnTo>
                    <a:pt x="6097943" y="4674451"/>
                  </a:lnTo>
                  <a:lnTo>
                    <a:pt x="6145149" y="4678680"/>
                  </a:lnTo>
                  <a:lnTo>
                    <a:pt x="8293227" y="4678680"/>
                  </a:lnTo>
                  <a:lnTo>
                    <a:pt x="8340420" y="4674451"/>
                  </a:lnTo>
                  <a:lnTo>
                    <a:pt x="8384845" y="4662259"/>
                  </a:lnTo>
                  <a:lnTo>
                    <a:pt x="8425739" y="4642840"/>
                  </a:lnTo>
                  <a:lnTo>
                    <a:pt x="8462378" y="4616945"/>
                  </a:lnTo>
                  <a:lnTo>
                    <a:pt x="8494014" y="4585297"/>
                  </a:lnTo>
                  <a:lnTo>
                    <a:pt x="8519897" y="4548657"/>
                  </a:lnTo>
                  <a:lnTo>
                    <a:pt x="8539315" y="4507763"/>
                  </a:lnTo>
                  <a:lnTo>
                    <a:pt x="8551507" y="4463351"/>
                  </a:lnTo>
                  <a:lnTo>
                    <a:pt x="8555736" y="4416158"/>
                  </a:lnTo>
                  <a:lnTo>
                    <a:pt x="8555736" y="262509"/>
                  </a:lnTo>
                  <a:close/>
                </a:path>
                <a:path w="11497310" h="4678680">
                  <a:moveTo>
                    <a:pt x="11497056" y="262255"/>
                  </a:moveTo>
                  <a:lnTo>
                    <a:pt x="11492827" y="215099"/>
                  </a:lnTo>
                  <a:lnTo>
                    <a:pt x="11480648" y="170726"/>
                  </a:lnTo>
                  <a:lnTo>
                    <a:pt x="11461255" y="129870"/>
                  </a:lnTo>
                  <a:lnTo>
                    <a:pt x="11435398" y="93268"/>
                  </a:lnTo>
                  <a:lnTo>
                    <a:pt x="11403787" y="61658"/>
                  </a:lnTo>
                  <a:lnTo>
                    <a:pt x="11367186" y="35801"/>
                  </a:lnTo>
                  <a:lnTo>
                    <a:pt x="11326330" y="16408"/>
                  </a:lnTo>
                  <a:lnTo>
                    <a:pt x="11281956" y="4229"/>
                  </a:lnTo>
                  <a:lnTo>
                    <a:pt x="11234801" y="0"/>
                  </a:lnTo>
                  <a:lnTo>
                    <a:pt x="9089263" y="0"/>
                  </a:lnTo>
                  <a:lnTo>
                    <a:pt x="9042095" y="4229"/>
                  </a:lnTo>
                  <a:lnTo>
                    <a:pt x="8997721" y="16408"/>
                  </a:lnTo>
                  <a:lnTo>
                    <a:pt x="8956865" y="35801"/>
                  </a:lnTo>
                  <a:lnTo>
                    <a:pt x="8920264" y="61658"/>
                  </a:lnTo>
                  <a:lnTo>
                    <a:pt x="8888654" y="93268"/>
                  </a:lnTo>
                  <a:lnTo>
                    <a:pt x="8862797" y="129870"/>
                  </a:lnTo>
                  <a:lnTo>
                    <a:pt x="8843404" y="170726"/>
                  </a:lnTo>
                  <a:lnTo>
                    <a:pt x="8831224" y="215099"/>
                  </a:lnTo>
                  <a:lnTo>
                    <a:pt x="8827008" y="262255"/>
                  </a:lnTo>
                  <a:lnTo>
                    <a:pt x="8827008" y="4416450"/>
                  </a:lnTo>
                  <a:lnTo>
                    <a:pt x="8831224" y="4463593"/>
                  </a:lnTo>
                  <a:lnTo>
                    <a:pt x="8843404" y="4507954"/>
                  </a:lnTo>
                  <a:lnTo>
                    <a:pt x="8862797" y="4548810"/>
                  </a:lnTo>
                  <a:lnTo>
                    <a:pt x="8888654" y="4585411"/>
                  </a:lnTo>
                  <a:lnTo>
                    <a:pt x="8920264" y="4617009"/>
                  </a:lnTo>
                  <a:lnTo>
                    <a:pt x="8956865" y="4642891"/>
                  </a:lnTo>
                  <a:lnTo>
                    <a:pt x="8997721" y="4662284"/>
                  </a:lnTo>
                  <a:lnTo>
                    <a:pt x="9042095" y="4674463"/>
                  </a:lnTo>
                  <a:lnTo>
                    <a:pt x="9089263" y="4678680"/>
                  </a:lnTo>
                  <a:lnTo>
                    <a:pt x="11234801" y="4678680"/>
                  </a:lnTo>
                  <a:lnTo>
                    <a:pt x="11281956" y="4674463"/>
                  </a:lnTo>
                  <a:lnTo>
                    <a:pt x="11326330" y="4662284"/>
                  </a:lnTo>
                  <a:lnTo>
                    <a:pt x="11367186" y="4642891"/>
                  </a:lnTo>
                  <a:lnTo>
                    <a:pt x="11403787" y="4617009"/>
                  </a:lnTo>
                  <a:lnTo>
                    <a:pt x="11435398" y="4585411"/>
                  </a:lnTo>
                  <a:lnTo>
                    <a:pt x="11461255" y="4548810"/>
                  </a:lnTo>
                  <a:lnTo>
                    <a:pt x="11480648" y="4507954"/>
                  </a:lnTo>
                  <a:lnTo>
                    <a:pt x="11492827" y="4463593"/>
                  </a:lnTo>
                  <a:lnTo>
                    <a:pt x="11497056" y="4416450"/>
                  </a:lnTo>
                  <a:lnTo>
                    <a:pt x="11497056" y="2622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320040"/>
            <a:ext cx="365760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05 · Уникальность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Настраиваемый workflow без доработки кода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Администратор сам добавляет и переименовывает этапы, задаёт цвет колонки, порядок и включение — процесс меняется вместе с бизнесом, а не вслед за релизом.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Две воронки в одном продукте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B2B строится на 14 этапах, B2C — на 4. Фильтры доски, создание заявок и отчёты учитывают scope, поэтому воронки не смешиваются ни в UI, ни в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623560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74243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Планы по развитию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B5B78"/>
                </a:solidFill>
                <a:latin typeface="Montserrat"/>
              </a:rPr>
              <a:t>Браузерный smoke-тест сценариев · нагрузка Locust на стенде · резервное восстановление в CI · подтверждение контура хранения данных в РФ · перенос production после согласования.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421123" y="1522475"/>
              <a:ext cx="3398520" cy="4678680"/>
            </a:xfrm>
            <a:custGeom>
              <a:avLst/>
              <a:gdLst/>
              <a:ahLst/>
              <a:cxnLst/>
              <a:rect l="l" t="t" r="r" b="b"/>
              <a:pathLst>
                <a:path w="3398520" h="4678680">
                  <a:moveTo>
                    <a:pt x="3064764" y="0"/>
                  </a:moveTo>
                  <a:lnTo>
                    <a:pt x="333755" y="0"/>
                  </a:lnTo>
                  <a:lnTo>
                    <a:pt x="284447" y="3619"/>
                  </a:lnTo>
                  <a:lnTo>
                    <a:pt x="237381" y="14135"/>
                  </a:lnTo>
                  <a:lnTo>
                    <a:pt x="193075" y="31028"/>
                  </a:lnTo>
                  <a:lnTo>
                    <a:pt x="152045" y="53783"/>
                  </a:lnTo>
                  <a:lnTo>
                    <a:pt x="114808" y="81882"/>
                  </a:lnTo>
                  <a:lnTo>
                    <a:pt x="81882" y="114808"/>
                  </a:lnTo>
                  <a:lnTo>
                    <a:pt x="53783" y="152045"/>
                  </a:lnTo>
                  <a:lnTo>
                    <a:pt x="31028" y="193075"/>
                  </a:lnTo>
                  <a:lnTo>
                    <a:pt x="14135" y="237381"/>
                  </a:lnTo>
                  <a:lnTo>
                    <a:pt x="3619" y="284447"/>
                  </a:lnTo>
                  <a:lnTo>
                    <a:pt x="0" y="333756"/>
                  </a:lnTo>
                  <a:lnTo>
                    <a:pt x="0" y="4344911"/>
                  </a:lnTo>
                  <a:lnTo>
                    <a:pt x="3619" y="4394234"/>
                  </a:lnTo>
                  <a:lnTo>
                    <a:pt x="14135" y="4441309"/>
                  </a:lnTo>
                  <a:lnTo>
                    <a:pt x="31028" y="4485621"/>
                  </a:lnTo>
                  <a:lnTo>
                    <a:pt x="53783" y="4526654"/>
                  </a:lnTo>
                  <a:lnTo>
                    <a:pt x="81882" y="4563890"/>
                  </a:lnTo>
                  <a:lnTo>
                    <a:pt x="114808" y="4596813"/>
                  </a:lnTo>
                  <a:lnTo>
                    <a:pt x="152045" y="4624909"/>
                  </a:lnTo>
                  <a:lnTo>
                    <a:pt x="193075" y="4647659"/>
                  </a:lnTo>
                  <a:lnTo>
                    <a:pt x="237381" y="4664548"/>
                  </a:lnTo>
                  <a:lnTo>
                    <a:pt x="284447" y="4675061"/>
                  </a:lnTo>
                  <a:lnTo>
                    <a:pt x="333755" y="4678680"/>
                  </a:lnTo>
                  <a:lnTo>
                    <a:pt x="3064764" y="4678680"/>
                  </a:lnTo>
                  <a:lnTo>
                    <a:pt x="3114072" y="4675061"/>
                  </a:lnTo>
                  <a:lnTo>
                    <a:pt x="3161138" y="4664548"/>
                  </a:lnTo>
                  <a:lnTo>
                    <a:pt x="3205444" y="4647659"/>
                  </a:lnTo>
                  <a:lnTo>
                    <a:pt x="3246474" y="4624909"/>
                  </a:lnTo>
                  <a:lnTo>
                    <a:pt x="3283711" y="4596813"/>
                  </a:lnTo>
                  <a:lnTo>
                    <a:pt x="3316637" y="4563890"/>
                  </a:lnTo>
                  <a:lnTo>
                    <a:pt x="3344736" y="4526654"/>
                  </a:lnTo>
                  <a:lnTo>
                    <a:pt x="3367491" y="4485621"/>
                  </a:lnTo>
                  <a:lnTo>
                    <a:pt x="3384384" y="4441309"/>
                  </a:lnTo>
                  <a:lnTo>
                    <a:pt x="3394900" y="4394234"/>
                  </a:lnTo>
                  <a:lnTo>
                    <a:pt x="3398520" y="4344911"/>
                  </a:lnTo>
                  <a:lnTo>
                    <a:pt x="3398520" y="333756"/>
                  </a:lnTo>
                  <a:lnTo>
                    <a:pt x="3394900" y="284447"/>
                  </a:lnTo>
                  <a:lnTo>
                    <a:pt x="3384384" y="237381"/>
                  </a:lnTo>
                  <a:lnTo>
                    <a:pt x="3367491" y="193075"/>
                  </a:lnTo>
                  <a:lnTo>
                    <a:pt x="3344736" y="152045"/>
                  </a:lnTo>
                  <a:lnTo>
                    <a:pt x="3316637" y="114808"/>
                  </a:lnTo>
                  <a:lnTo>
                    <a:pt x="3283711" y="81882"/>
                  </a:lnTo>
                  <a:lnTo>
                    <a:pt x="3246474" y="53783"/>
                  </a:lnTo>
                  <a:lnTo>
                    <a:pt x="3205444" y="31028"/>
                  </a:lnTo>
                  <a:lnTo>
                    <a:pt x="3161138" y="14135"/>
                  </a:lnTo>
                  <a:lnTo>
                    <a:pt x="3114072" y="3619"/>
                  </a:lnTo>
                  <a:lnTo>
                    <a:pt x="306476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4421123" y="1522475"/>
              <a:ext cx="3398520" cy="4678680"/>
            </a:xfrm>
            <a:custGeom>
              <a:avLst/>
              <a:gdLst/>
              <a:ahLst/>
              <a:cxnLst/>
              <a:rect l="l" t="t" r="r" b="b"/>
              <a:pathLst>
                <a:path w="3398520" h="4678680">
                  <a:moveTo>
                    <a:pt x="0" y="333756"/>
                  </a:moveTo>
                  <a:lnTo>
                    <a:pt x="3619" y="284447"/>
                  </a:lnTo>
                  <a:lnTo>
                    <a:pt x="14135" y="237381"/>
                  </a:lnTo>
                  <a:lnTo>
                    <a:pt x="31028" y="193075"/>
                  </a:lnTo>
                  <a:lnTo>
                    <a:pt x="53783" y="152045"/>
                  </a:lnTo>
                  <a:lnTo>
                    <a:pt x="81882" y="114808"/>
                  </a:lnTo>
                  <a:lnTo>
                    <a:pt x="114808" y="81882"/>
                  </a:lnTo>
                  <a:lnTo>
                    <a:pt x="152045" y="53783"/>
                  </a:lnTo>
                  <a:lnTo>
                    <a:pt x="193075" y="31028"/>
                  </a:lnTo>
                  <a:lnTo>
                    <a:pt x="237381" y="14135"/>
                  </a:lnTo>
                  <a:lnTo>
                    <a:pt x="284447" y="3619"/>
                  </a:lnTo>
                  <a:lnTo>
                    <a:pt x="333755" y="0"/>
                  </a:lnTo>
                  <a:lnTo>
                    <a:pt x="3064764" y="0"/>
                  </a:lnTo>
                  <a:lnTo>
                    <a:pt x="3114072" y="3619"/>
                  </a:lnTo>
                  <a:lnTo>
                    <a:pt x="3161138" y="14135"/>
                  </a:lnTo>
                  <a:lnTo>
                    <a:pt x="3205444" y="31028"/>
                  </a:lnTo>
                  <a:lnTo>
                    <a:pt x="3246474" y="53783"/>
                  </a:lnTo>
                  <a:lnTo>
                    <a:pt x="3283711" y="81882"/>
                  </a:lnTo>
                  <a:lnTo>
                    <a:pt x="3316637" y="114808"/>
                  </a:lnTo>
                  <a:lnTo>
                    <a:pt x="3344736" y="152045"/>
                  </a:lnTo>
                  <a:lnTo>
                    <a:pt x="3367491" y="193075"/>
                  </a:lnTo>
                  <a:lnTo>
                    <a:pt x="3384384" y="237381"/>
                  </a:lnTo>
                  <a:lnTo>
                    <a:pt x="3394900" y="284447"/>
                  </a:lnTo>
                  <a:lnTo>
                    <a:pt x="3398520" y="333756"/>
                  </a:lnTo>
                  <a:lnTo>
                    <a:pt x="3398520" y="4344911"/>
                  </a:lnTo>
                  <a:lnTo>
                    <a:pt x="3394900" y="4394234"/>
                  </a:lnTo>
                  <a:lnTo>
                    <a:pt x="3384384" y="4441309"/>
                  </a:lnTo>
                  <a:lnTo>
                    <a:pt x="3367491" y="4485621"/>
                  </a:lnTo>
                  <a:lnTo>
                    <a:pt x="3344736" y="4526654"/>
                  </a:lnTo>
                  <a:lnTo>
                    <a:pt x="3316637" y="4563890"/>
                  </a:lnTo>
                  <a:lnTo>
                    <a:pt x="3283711" y="4596813"/>
                  </a:lnTo>
                  <a:lnTo>
                    <a:pt x="3246474" y="4624909"/>
                  </a:lnTo>
                  <a:lnTo>
                    <a:pt x="3205444" y="4647659"/>
                  </a:lnTo>
                  <a:lnTo>
                    <a:pt x="3161138" y="4664548"/>
                  </a:lnTo>
                  <a:lnTo>
                    <a:pt x="3114072" y="4675061"/>
                  </a:lnTo>
                  <a:lnTo>
                    <a:pt x="3064764" y="4678680"/>
                  </a:lnTo>
                  <a:lnTo>
                    <a:pt x="333755" y="4678680"/>
                  </a:lnTo>
                  <a:lnTo>
                    <a:pt x="284447" y="4675061"/>
                  </a:lnTo>
                  <a:lnTo>
                    <a:pt x="237381" y="4664548"/>
                  </a:lnTo>
                  <a:lnTo>
                    <a:pt x="193075" y="4647659"/>
                  </a:lnTo>
                  <a:lnTo>
                    <a:pt x="152045" y="4624909"/>
                  </a:lnTo>
                  <a:lnTo>
                    <a:pt x="114808" y="4596813"/>
                  </a:lnTo>
                  <a:lnTo>
                    <a:pt x="81882" y="4563890"/>
                  </a:lnTo>
                  <a:lnTo>
                    <a:pt x="53783" y="4526654"/>
                  </a:lnTo>
                  <a:lnTo>
                    <a:pt x="31028" y="4485621"/>
                  </a:lnTo>
                  <a:lnTo>
                    <a:pt x="14135" y="4441309"/>
                  </a:lnTo>
                  <a:lnTo>
                    <a:pt x="3619" y="4394234"/>
                  </a:lnTo>
                  <a:lnTo>
                    <a:pt x="0" y="4344911"/>
                  </a:lnTo>
                  <a:lnTo>
                    <a:pt x="0" y="333756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8368283" y="1522475"/>
              <a:ext cx="3249295" cy="4678680"/>
            </a:xfrm>
            <a:custGeom>
              <a:avLst/>
              <a:gdLst/>
              <a:ahLst/>
              <a:cxnLst/>
              <a:rect l="l" t="t" r="r" b="b"/>
              <a:pathLst>
                <a:path w="3249295" h="4678680">
                  <a:moveTo>
                    <a:pt x="2930017" y="0"/>
                  </a:moveTo>
                  <a:lnTo>
                    <a:pt x="319150" y="0"/>
                  </a:lnTo>
                  <a:lnTo>
                    <a:pt x="271986" y="3460"/>
                  </a:lnTo>
                  <a:lnTo>
                    <a:pt x="226970" y="13511"/>
                  </a:lnTo>
                  <a:lnTo>
                    <a:pt x="184599" y="29660"/>
                  </a:lnTo>
                  <a:lnTo>
                    <a:pt x="145363" y="51413"/>
                  </a:lnTo>
                  <a:lnTo>
                    <a:pt x="109758" y="78277"/>
                  </a:lnTo>
                  <a:lnTo>
                    <a:pt x="78277" y="109758"/>
                  </a:lnTo>
                  <a:lnTo>
                    <a:pt x="51413" y="145363"/>
                  </a:lnTo>
                  <a:lnTo>
                    <a:pt x="29660" y="184599"/>
                  </a:lnTo>
                  <a:lnTo>
                    <a:pt x="13511" y="226970"/>
                  </a:lnTo>
                  <a:lnTo>
                    <a:pt x="3460" y="271986"/>
                  </a:lnTo>
                  <a:lnTo>
                    <a:pt x="0" y="319150"/>
                  </a:lnTo>
                  <a:lnTo>
                    <a:pt x="0" y="4359579"/>
                  </a:lnTo>
                  <a:lnTo>
                    <a:pt x="3460" y="4406734"/>
                  </a:lnTo>
                  <a:lnTo>
                    <a:pt x="13511" y="4451741"/>
                  </a:lnTo>
                  <a:lnTo>
                    <a:pt x="29660" y="4494106"/>
                  </a:lnTo>
                  <a:lnTo>
                    <a:pt x="51413" y="4533334"/>
                  </a:lnTo>
                  <a:lnTo>
                    <a:pt x="78277" y="4568934"/>
                  </a:lnTo>
                  <a:lnTo>
                    <a:pt x="109758" y="4600411"/>
                  </a:lnTo>
                  <a:lnTo>
                    <a:pt x="145363" y="4627271"/>
                  </a:lnTo>
                  <a:lnTo>
                    <a:pt x="184599" y="4649022"/>
                  </a:lnTo>
                  <a:lnTo>
                    <a:pt x="226970" y="4665169"/>
                  </a:lnTo>
                  <a:lnTo>
                    <a:pt x="271986" y="4675220"/>
                  </a:lnTo>
                  <a:lnTo>
                    <a:pt x="319150" y="4678680"/>
                  </a:lnTo>
                  <a:lnTo>
                    <a:pt x="2930017" y="4678680"/>
                  </a:lnTo>
                  <a:lnTo>
                    <a:pt x="2977181" y="4675220"/>
                  </a:lnTo>
                  <a:lnTo>
                    <a:pt x="3022197" y="4665169"/>
                  </a:lnTo>
                  <a:lnTo>
                    <a:pt x="3064568" y="4649022"/>
                  </a:lnTo>
                  <a:lnTo>
                    <a:pt x="3103804" y="4627271"/>
                  </a:lnTo>
                  <a:lnTo>
                    <a:pt x="3139409" y="4600411"/>
                  </a:lnTo>
                  <a:lnTo>
                    <a:pt x="3170890" y="4568934"/>
                  </a:lnTo>
                  <a:lnTo>
                    <a:pt x="3197754" y="4533334"/>
                  </a:lnTo>
                  <a:lnTo>
                    <a:pt x="3219507" y="4494106"/>
                  </a:lnTo>
                  <a:lnTo>
                    <a:pt x="3235656" y="4451741"/>
                  </a:lnTo>
                  <a:lnTo>
                    <a:pt x="3245707" y="4406734"/>
                  </a:lnTo>
                  <a:lnTo>
                    <a:pt x="3249168" y="4359579"/>
                  </a:lnTo>
                  <a:lnTo>
                    <a:pt x="3249168" y="319150"/>
                  </a:lnTo>
                  <a:lnTo>
                    <a:pt x="3245707" y="271986"/>
                  </a:lnTo>
                  <a:lnTo>
                    <a:pt x="3235656" y="226970"/>
                  </a:lnTo>
                  <a:lnTo>
                    <a:pt x="3219507" y="184599"/>
                  </a:lnTo>
                  <a:lnTo>
                    <a:pt x="3197754" y="145363"/>
                  </a:lnTo>
                  <a:lnTo>
                    <a:pt x="3170890" y="109758"/>
                  </a:lnTo>
                  <a:lnTo>
                    <a:pt x="3139409" y="78277"/>
                  </a:lnTo>
                  <a:lnTo>
                    <a:pt x="3103804" y="51413"/>
                  </a:lnTo>
                  <a:lnTo>
                    <a:pt x="3064568" y="29660"/>
                  </a:lnTo>
                  <a:lnTo>
                    <a:pt x="3022197" y="13511"/>
                  </a:lnTo>
                  <a:lnTo>
                    <a:pt x="2977181" y="3460"/>
                  </a:lnTo>
                  <a:lnTo>
                    <a:pt x="293001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368283" y="1522475"/>
              <a:ext cx="3249295" cy="4678680"/>
            </a:xfrm>
            <a:custGeom>
              <a:avLst/>
              <a:gdLst/>
              <a:ahLst/>
              <a:cxnLst/>
              <a:rect l="l" t="t" r="r" b="b"/>
              <a:pathLst>
                <a:path w="3249295" h="4678680">
                  <a:moveTo>
                    <a:pt x="0" y="319150"/>
                  </a:moveTo>
                  <a:lnTo>
                    <a:pt x="3460" y="271986"/>
                  </a:lnTo>
                  <a:lnTo>
                    <a:pt x="13511" y="226970"/>
                  </a:lnTo>
                  <a:lnTo>
                    <a:pt x="29660" y="184599"/>
                  </a:lnTo>
                  <a:lnTo>
                    <a:pt x="51413" y="145363"/>
                  </a:lnTo>
                  <a:lnTo>
                    <a:pt x="78277" y="109758"/>
                  </a:lnTo>
                  <a:lnTo>
                    <a:pt x="109758" y="78277"/>
                  </a:lnTo>
                  <a:lnTo>
                    <a:pt x="145363" y="51413"/>
                  </a:lnTo>
                  <a:lnTo>
                    <a:pt x="184599" y="29660"/>
                  </a:lnTo>
                  <a:lnTo>
                    <a:pt x="226970" y="13511"/>
                  </a:lnTo>
                  <a:lnTo>
                    <a:pt x="271986" y="3460"/>
                  </a:lnTo>
                  <a:lnTo>
                    <a:pt x="319150" y="0"/>
                  </a:lnTo>
                  <a:lnTo>
                    <a:pt x="2930017" y="0"/>
                  </a:lnTo>
                  <a:lnTo>
                    <a:pt x="2977181" y="3460"/>
                  </a:lnTo>
                  <a:lnTo>
                    <a:pt x="3022197" y="13511"/>
                  </a:lnTo>
                  <a:lnTo>
                    <a:pt x="3064568" y="29660"/>
                  </a:lnTo>
                  <a:lnTo>
                    <a:pt x="3103804" y="51413"/>
                  </a:lnTo>
                  <a:lnTo>
                    <a:pt x="3139409" y="78277"/>
                  </a:lnTo>
                  <a:lnTo>
                    <a:pt x="3170890" y="109758"/>
                  </a:lnTo>
                  <a:lnTo>
                    <a:pt x="3197754" y="145363"/>
                  </a:lnTo>
                  <a:lnTo>
                    <a:pt x="3219507" y="184599"/>
                  </a:lnTo>
                  <a:lnTo>
                    <a:pt x="3235656" y="226970"/>
                  </a:lnTo>
                  <a:lnTo>
                    <a:pt x="3245707" y="271986"/>
                  </a:lnTo>
                  <a:lnTo>
                    <a:pt x="3249168" y="319150"/>
                  </a:lnTo>
                  <a:lnTo>
                    <a:pt x="3249168" y="4359579"/>
                  </a:lnTo>
                  <a:lnTo>
                    <a:pt x="3245707" y="4406734"/>
                  </a:lnTo>
                  <a:lnTo>
                    <a:pt x="3235656" y="4451741"/>
                  </a:lnTo>
                  <a:lnTo>
                    <a:pt x="3219507" y="4494106"/>
                  </a:lnTo>
                  <a:lnTo>
                    <a:pt x="3197754" y="4533334"/>
                  </a:lnTo>
                  <a:lnTo>
                    <a:pt x="3170890" y="4568934"/>
                  </a:lnTo>
                  <a:lnTo>
                    <a:pt x="3139409" y="4600411"/>
                  </a:lnTo>
                  <a:lnTo>
                    <a:pt x="3103804" y="4627271"/>
                  </a:lnTo>
                  <a:lnTo>
                    <a:pt x="3064568" y="4649022"/>
                  </a:lnTo>
                  <a:lnTo>
                    <a:pt x="3022197" y="4665169"/>
                  </a:lnTo>
                  <a:lnTo>
                    <a:pt x="2977181" y="4675220"/>
                  </a:lnTo>
                  <a:lnTo>
                    <a:pt x="2930017" y="4678680"/>
                  </a:lnTo>
                  <a:lnTo>
                    <a:pt x="319150" y="4678680"/>
                  </a:lnTo>
                  <a:lnTo>
                    <a:pt x="271986" y="4675220"/>
                  </a:lnTo>
                  <a:lnTo>
                    <a:pt x="226970" y="4665169"/>
                  </a:lnTo>
                  <a:lnTo>
                    <a:pt x="184599" y="4649022"/>
                  </a:lnTo>
                  <a:lnTo>
                    <a:pt x="145363" y="4627271"/>
                  </a:lnTo>
                  <a:lnTo>
                    <a:pt x="109758" y="4600411"/>
                  </a:lnTo>
                  <a:lnTo>
                    <a:pt x="78277" y="4568934"/>
                  </a:lnTo>
                  <a:lnTo>
                    <a:pt x="51413" y="4533334"/>
                  </a:lnTo>
                  <a:lnTo>
                    <a:pt x="29660" y="4494106"/>
                  </a:lnTo>
                  <a:lnTo>
                    <a:pt x="13511" y="4451741"/>
                  </a:lnTo>
                  <a:lnTo>
                    <a:pt x="3460" y="4406734"/>
                  </a:lnTo>
                  <a:lnTo>
                    <a:pt x="0" y="4359579"/>
                  </a:lnTo>
                  <a:lnTo>
                    <a:pt x="0" y="319150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26363" y="1522475"/>
              <a:ext cx="3246120" cy="4678680"/>
            </a:xfrm>
            <a:custGeom>
              <a:avLst/>
              <a:gdLst/>
              <a:ahLst/>
              <a:cxnLst/>
              <a:rect l="l" t="t" r="r" b="b"/>
              <a:pathLst>
                <a:path w="3246120" h="4678680">
                  <a:moveTo>
                    <a:pt x="2927350" y="0"/>
                  </a:moveTo>
                  <a:lnTo>
                    <a:pt x="318795" y="0"/>
                  </a:lnTo>
                  <a:lnTo>
                    <a:pt x="271687" y="3456"/>
                  </a:lnTo>
                  <a:lnTo>
                    <a:pt x="226725" y="13498"/>
                  </a:lnTo>
                  <a:lnTo>
                    <a:pt x="184401" y="29632"/>
                  </a:lnTo>
                  <a:lnTo>
                    <a:pt x="145210" y="51363"/>
                  </a:lnTo>
                  <a:lnTo>
                    <a:pt x="109644" y="78198"/>
                  </a:lnTo>
                  <a:lnTo>
                    <a:pt x="78197" y="109645"/>
                  </a:lnTo>
                  <a:lnTo>
                    <a:pt x="51361" y="145209"/>
                  </a:lnTo>
                  <a:lnTo>
                    <a:pt x="29630" y="184397"/>
                  </a:lnTo>
                  <a:lnTo>
                    <a:pt x="13497" y="226715"/>
                  </a:lnTo>
                  <a:lnTo>
                    <a:pt x="3456" y="271671"/>
                  </a:lnTo>
                  <a:lnTo>
                    <a:pt x="0" y="318770"/>
                  </a:lnTo>
                  <a:lnTo>
                    <a:pt x="0" y="4359884"/>
                  </a:lnTo>
                  <a:lnTo>
                    <a:pt x="3456" y="4406992"/>
                  </a:lnTo>
                  <a:lnTo>
                    <a:pt x="13497" y="4451954"/>
                  </a:lnTo>
                  <a:lnTo>
                    <a:pt x="29630" y="4494278"/>
                  </a:lnTo>
                  <a:lnTo>
                    <a:pt x="51361" y="4533469"/>
                  </a:lnTo>
                  <a:lnTo>
                    <a:pt x="78197" y="4569035"/>
                  </a:lnTo>
                  <a:lnTo>
                    <a:pt x="109644" y="4600482"/>
                  </a:lnTo>
                  <a:lnTo>
                    <a:pt x="145210" y="4627318"/>
                  </a:lnTo>
                  <a:lnTo>
                    <a:pt x="184401" y="4649049"/>
                  </a:lnTo>
                  <a:lnTo>
                    <a:pt x="226725" y="4665182"/>
                  </a:lnTo>
                  <a:lnTo>
                    <a:pt x="271687" y="4675223"/>
                  </a:lnTo>
                  <a:lnTo>
                    <a:pt x="318795" y="4678680"/>
                  </a:lnTo>
                  <a:lnTo>
                    <a:pt x="2927350" y="4678680"/>
                  </a:lnTo>
                  <a:lnTo>
                    <a:pt x="2974448" y="4675223"/>
                  </a:lnTo>
                  <a:lnTo>
                    <a:pt x="3019404" y="4665182"/>
                  </a:lnTo>
                  <a:lnTo>
                    <a:pt x="3061722" y="4649049"/>
                  </a:lnTo>
                  <a:lnTo>
                    <a:pt x="3100910" y="4627318"/>
                  </a:lnTo>
                  <a:lnTo>
                    <a:pt x="3136474" y="4600482"/>
                  </a:lnTo>
                  <a:lnTo>
                    <a:pt x="3167921" y="4569035"/>
                  </a:lnTo>
                  <a:lnTo>
                    <a:pt x="3194756" y="4533469"/>
                  </a:lnTo>
                  <a:lnTo>
                    <a:pt x="3216487" y="4494278"/>
                  </a:lnTo>
                  <a:lnTo>
                    <a:pt x="3232621" y="4451954"/>
                  </a:lnTo>
                  <a:lnTo>
                    <a:pt x="3242663" y="4406992"/>
                  </a:lnTo>
                  <a:lnTo>
                    <a:pt x="3246120" y="4359884"/>
                  </a:lnTo>
                  <a:lnTo>
                    <a:pt x="3246120" y="318770"/>
                  </a:lnTo>
                  <a:lnTo>
                    <a:pt x="3242663" y="271671"/>
                  </a:lnTo>
                  <a:lnTo>
                    <a:pt x="3232621" y="226715"/>
                  </a:lnTo>
                  <a:lnTo>
                    <a:pt x="3216487" y="184397"/>
                  </a:lnTo>
                  <a:lnTo>
                    <a:pt x="3194756" y="145209"/>
                  </a:lnTo>
                  <a:lnTo>
                    <a:pt x="3167921" y="109645"/>
                  </a:lnTo>
                  <a:lnTo>
                    <a:pt x="3136474" y="78198"/>
                  </a:lnTo>
                  <a:lnTo>
                    <a:pt x="3100910" y="51363"/>
                  </a:lnTo>
                  <a:lnTo>
                    <a:pt x="3061722" y="29632"/>
                  </a:lnTo>
                  <a:lnTo>
                    <a:pt x="3019404" y="13498"/>
                  </a:lnTo>
                  <a:lnTo>
                    <a:pt x="2974448" y="3456"/>
                  </a:lnTo>
                  <a:lnTo>
                    <a:pt x="29273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26363" y="1522475"/>
              <a:ext cx="3246120" cy="4678680"/>
            </a:xfrm>
            <a:custGeom>
              <a:avLst/>
              <a:gdLst/>
              <a:ahLst/>
              <a:cxnLst/>
              <a:rect l="l" t="t" r="r" b="b"/>
              <a:pathLst>
                <a:path w="3246120" h="4678680">
                  <a:moveTo>
                    <a:pt x="0" y="318770"/>
                  </a:moveTo>
                  <a:lnTo>
                    <a:pt x="3456" y="271671"/>
                  </a:lnTo>
                  <a:lnTo>
                    <a:pt x="13497" y="226715"/>
                  </a:lnTo>
                  <a:lnTo>
                    <a:pt x="29630" y="184397"/>
                  </a:lnTo>
                  <a:lnTo>
                    <a:pt x="51361" y="145209"/>
                  </a:lnTo>
                  <a:lnTo>
                    <a:pt x="78197" y="109645"/>
                  </a:lnTo>
                  <a:lnTo>
                    <a:pt x="109644" y="78198"/>
                  </a:lnTo>
                  <a:lnTo>
                    <a:pt x="145210" y="51363"/>
                  </a:lnTo>
                  <a:lnTo>
                    <a:pt x="184401" y="29632"/>
                  </a:lnTo>
                  <a:lnTo>
                    <a:pt x="226725" y="13498"/>
                  </a:lnTo>
                  <a:lnTo>
                    <a:pt x="271687" y="3456"/>
                  </a:lnTo>
                  <a:lnTo>
                    <a:pt x="318795" y="0"/>
                  </a:lnTo>
                  <a:lnTo>
                    <a:pt x="2927350" y="0"/>
                  </a:lnTo>
                  <a:lnTo>
                    <a:pt x="2974448" y="3456"/>
                  </a:lnTo>
                  <a:lnTo>
                    <a:pt x="3019404" y="13498"/>
                  </a:lnTo>
                  <a:lnTo>
                    <a:pt x="3061722" y="29632"/>
                  </a:lnTo>
                  <a:lnTo>
                    <a:pt x="3100910" y="51363"/>
                  </a:lnTo>
                  <a:lnTo>
                    <a:pt x="3136474" y="78198"/>
                  </a:lnTo>
                  <a:lnTo>
                    <a:pt x="3167921" y="109645"/>
                  </a:lnTo>
                  <a:lnTo>
                    <a:pt x="3194756" y="145209"/>
                  </a:lnTo>
                  <a:lnTo>
                    <a:pt x="3216487" y="184397"/>
                  </a:lnTo>
                  <a:lnTo>
                    <a:pt x="3232621" y="226715"/>
                  </a:lnTo>
                  <a:lnTo>
                    <a:pt x="3242663" y="271671"/>
                  </a:lnTo>
                  <a:lnTo>
                    <a:pt x="3246120" y="318770"/>
                  </a:lnTo>
                  <a:lnTo>
                    <a:pt x="3246120" y="4359884"/>
                  </a:lnTo>
                  <a:lnTo>
                    <a:pt x="3242663" y="4406992"/>
                  </a:lnTo>
                  <a:lnTo>
                    <a:pt x="3232621" y="4451954"/>
                  </a:lnTo>
                  <a:lnTo>
                    <a:pt x="3216487" y="4494278"/>
                  </a:lnTo>
                  <a:lnTo>
                    <a:pt x="3194756" y="4533469"/>
                  </a:lnTo>
                  <a:lnTo>
                    <a:pt x="3167921" y="4569035"/>
                  </a:lnTo>
                  <a:lnTo>
                    <a:pt x="3136474" y="4600482"/>
                  </a:lnTo>
                  <a:lnTo>
                    <a:pt x="3100910" y="4627318"/>
                  </a:lnTo>
                  <a:lnTo>
                    <a:pt x="3061722" y="4649049"/>
                  </a:lnTo>
                  <a:lnTo>
                    <a:pt x="3019404" y="4665182"/>
                  </a:lnTo>
                  <a:lnTo>
                    <a:pt x="2974448" y="4675223"/>
                  </a:lnTo>
                  <a:lnTo>
                    <a:pt x="2927350" y="4678680"/>
                  </a:lnTo>
                  <a:lnTo>
                    <a:pt x="318795" y="4678680"/>
                  </a:lnTo>
                  <a:lnTo>
                    <a:pt x="271687" y="4675223"/>
                  </a:lnTo>
                  <a:lnTo>
                    <a:pt x="226725" y="4665182"/>
                  </a:lnTo>
                  <a:lnTo>
                    <a:pt x="184401" y="4649049"/>
                  </a:lnTo>
                  <a:lnTo>
                    <a:pt x="145210" y="4627318"/>
                  </a:lnTo>
                  <a:lnTo>
                    <a:pt x="109644" y="4600482"/>
                  </a:lnTo>
                  <a:lnTo>
                    <a:pt x="78197" y="4569035"/>
                  </a:lnTo>
                  <a:lnTo>
                    <a:pt x="51361" y="4533469"/>
                  </a:lnTo>
                  <a:lnTo>
                    <a:pt x="29630" y="4494278"/>
                  </a:lnTo>
                  <a:lnTo>
                    <a:pt x="13497" y="4451954"/>
                  </a:lnTo>
                  <a:lnTo>
                    <a:pt x="3456" y="4406992"/>
                  </a:lnTo>
                  <a:lnTo>
                    <a:pt x="0" y="4359884"/>
                  </a:lnTo>
                  <a:lnTo>
                    <a:pt x="0" y="318770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86868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04 · Техническая проработка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600200"/>
            <a:ext cx="4992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49926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React 18 и TypeScript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Vite, Ant Design 5, Zustand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Recharts и @dnd-kit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600200"/>
            <a:ext cx="4992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148840"/>
            <a:ext cx="49926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Python 3.11, FastAPI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SQLAlchemy 2 async, asyncpg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Pydantic v2, JWT и bcrypt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4992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Данные и инфраструктура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49926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PostgreSQL (Managed или контейнер)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Yandex Object Storage для файлов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KeyDB для кэша, Docker Compose, Nginx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3657600"/>
            <a:ext cx="4992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Интеграции и защита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4206240"/>
            <a:ext cx="49926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Keycloak: Code Flow + PKCE, RS256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LMS и CMS: контракт обмена, dry-run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GigaChat: сводка по взаимодействию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48995" y="1016508"/>
              <a:ext cx="6806565" cy="2030095"/>
            </a:xfrm>
            <a:custGeom>
              <a:avLst/>
              <a:gdLst/>
              <a:ahLst/>
              <a:cxnLst/>
              <a:rect l="l" t="t" r="r" b="b"/>
              <a:pathLst>
                <a:path w="6806565" h="2030095">
                  <a:moveTo>
                    <a:pt x="6600571" y="0"/>
                  </a:moveTo>
                  <a:lnTo>
                    <a:pt x="205587" y="0"/>
                  </a:lnTo>
                  <a:lnTo>
                    <a:pt x="158449" y="5431"/>
                  </a:lnTo>
                  <a:lnTo>
                    <a:pt x="115177" y="20902"/>
                  </a:lnTo>
                  <a:lnTo>
                    <a:pt x="77005" y="45176"/>
                  </a:lnTo>
                  <a:lnTo>
                    <a:pt x="45166" y="77020"/>
                  </a:lnTo>
                  <a:lnTo>
                    <a:pt x="20897" y="115197"/>
                  </a:lnTo>
                  <a:lnTo>
                    <a:pt x="5429" y="158473"/>
                  </a:lnTo>
                  <a:lnTo>
                    <a:pt x="0" y="205612"/>
                  </a:lnTo>
                  <a:lnTo>
                    <a:pt x="0" y="1824354"/>
                  </a:lnTo>
                  <a:lnTo>
                    <a:pt x="5429" y="1871494"/>
                  </a:lnTo>
                  <a:lnTo>
                    <a:pt x="20897" y="1914770"/>
                  </a:lnTo>
                  <a:lnTo>
                    <a:pt x="45166" y="1952947"/>
                  </a:lnTo>
                  <a:lnTo>
                    <a:pt x="77005" y="1984791"/>
                  </a:lnTo>
                  <a:lnTo>
                    <a:pt x="115177" y="2009065"/>
                  </a:lnTo>
                  <a:lnTo>
                    <a:pt x="158449" y="2024536"/>
                  </a:lnTo>
                  <a:lnTo>
                    <a:pt x="205587" y="2029967"/>
                  </a:lnTo>
                  <a:lnTo>
                    <a:pt x="6600571" y="2029967"/>
                  </a:lnTo>
                  <a:lnTo>
                    <a:pt x="6647710" y="2024536"/>
                  </a:lnTo>
                  <a:lnTo>
                    <a:pt x="6690986" y="2009065"/>
                  </a:lnTo>
                  <a:lnTo>
                    <a:pt x="6729163" y="1984791"/>
                  </a:lnTo>
                  <a:lnTo>
                    <a:pt x="6761007" y="1952947"/>
                  </a:lnTo>
                  <a:lnTo>
                    <a:pt x="6785281" y="1914770"/>
                  </a:lnTo>
                  <a:lnTo>
                    <a:pt x="6800752" y="1871494"/>
                  </a:lnTo>
                  <a:lnTo>
                    <a:pt x="6806183" y="1824354"/>
                  </a:lnTo>
                  <a:lnTo>
                    <a:pt x="6806183" y="205612"/>
                  </a:lnTo>
                  <a:lnTo>
                    <a:pt x="6800752" y="158473"/>
                  </a:lnTo>
                  <a:lnTo>
                    <a:pt x="6785281" y="115197"/>
                  </a:lnTo>
                  <a:lnTo>
                    <a:pt x="6761007" y="77020"/>
                  </a:lnTo>
                  <a:lnTo>
                    <a:pt x="6729163" y="45176"/>
                  </a:lnTo>
                  <a:lnTo>
                    <a:pt x="6690986" y="20902"/>
                  </a:lnTo>
                  <a:lnTo>
                    <a:pt x="6647710" y="5431"/>
                  </a:lnTo>
                  <a:lnTo>
                    <a:pt x="660057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48995" y="1016508"/>
              <a:ext cx="6806565" cy="2030095"/>
            </a:xfrm>
            <a:custGeom>
              <a:avLst/>
              <a:gdLst/>
              <a:ahLst/>
              <a:cxnLst/>
              <a:rect l="l" t="t" r="r" b="b"/>
              <a:pathLst>
                <a:path w="6806565" h="2030095">
                  <a:moveTo>
                    <a:pt x="0" y="205612"/>
                  </a:moveTo>
                  <a:lnTo>
                    <a:pt x="5429" y="158473"/>
                  </a:lnTo>
                  <a:lnTo>
                    <a:pt x="20897" y="115197"/>
                  </a:lnTo>
                  <a:lnTo>
                    <a:pt x="45166" y="77020"/>
                  </a:lnTo>
                  <a:lnTo>
                    <a:pt x="77005" y="45176"/>
                  </a:lnTo>
                  <a:lnTo>
                    <a:pt x="115177" y="20902"/>
                  </a:lnTo>
                  <a:lnTo>
                    <a:pt x="158449" y="5431"/>
                  </a:lnTo>
                  <a:lnTo>
                    <a:pt x="205587" y="0"/>
                  </a:lnTo>
                  <a:lnTo>
                    <a:pt x="6600571" y="0"/>
                  </a:lnTo>
                  <a:lnTo>
                    <a:pt x="6647710" y="5431"/>
                  </a:lnTo>
                  <a:lnTo>
                    <a:pt x="6690986" y="20902"/>
                  </a:lnTo>
                  <a:lnTo>
                    <a:pt x="6729163" y="45176"/>
                  </a:lnTo>
                  <a:lnTo>
                    <a:pt x="6761007" y="77020"/>
                  </a:lnTo>
                  <a:lnTo>
                    <a:pt x="6785281" y="115197"/>
                  </a:lnTo>
                  <a:lnTo>
                    <a:pt x="6800752" y="158473"/>
                  </a:lnTo>
                  <a:lnTo>
                    <a:pt x="6806183" y="205612"/>
                  </a:lnTo>
                  <a:lnTo>
                    <a:pt x="6806183" y="1824354"/>
                  </a:lnTo>
                  <a:lnTo>
                    <a:pt x="6800752" y="1871494"/>
                  </a:lnTo>
                  <a:lnTo>
                    <a:pt x="6785281" y="1914770"/>
                  </a:lnTo>
                  <a:lnTo>
                    <a:pt x="6761007" y="1952947"/>
                  </a:lnTo>
                  <a:lnTo>
                    <a:pt x="6729163" y="1984791"/>
                  </a:lnTo>
                  <a:lnTo>
                    <a:pt x="6690986" y="2009065"/>
                  </a:lnTo>
                  <a:lnTo>
                    <a:pt x="6647710" y="2024536"/>
                  </a:lnTo>
                  <a:lnTo>
                    <a:pt x="6600571" y="2029967"/>
                  </a:lnTo>
                  <a:lnTo>
                    <a:pt x="205587" y="2029967"/>
                  </a:lnTo>
                  <a:lnTo>
                    <a:pt x="158449" y="2024536"/>
                  </a:lnTo>
                  <a:lnTo>
                    <a:pt x="115177" y="2009065"/>
                  </a:lnTo>
                  <a:lnTo>
                    <a:pt x="77005" y="1984791"/>
                  </a:lnTo>
                  <a:lnTo>
                    <a:pt x="45166" y="1952947"/>
                  </a:lnTo>
                  <a:lnTo>
                    <a:pt x="20897" y="1914770"/>
                  </a:lnTo>
                  <a:lnTo>
                    <a:pt x="5429" y="1871494"/>
                  </a:lnTo>
                  <a:lnTo>
                    <a:pt x="0" y="1824354"/>
                  </a:lnTo>
                  <a:lnTo>
                    <a:pt x="0" y="205612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02 · Маркетинговая часть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" y="1014984"/>
            <a:ext cx="11384280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25296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Потребность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ИТ Школа ведёт десятки вузов-партнёров. Статус взаимодействия и договорённости разбросаны по таблицам и чатам, из-за чего теряются сроки и история.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225296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Продвижение и развитие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Продукт внедряется внутри Ростелекома как готовый контур, а затем тиражируется на подразделения с похожим процессом: продажи, партнёрства, работа с филиалами.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5954267" y="1367027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5954267" y="1367027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954267" y="2378964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5954267" y="2378964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5954267" y="3387852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40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40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5954267" y="3387852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40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40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5954267" y="4399788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5954267" y="4399788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5954267" y="5411723"/>
              <a:ext cx="5904230" cy="789940"/>
            </a:xfrm>
            <a:custGeom>
              <a:avLst/>
              <a:gdLst/>
              <a:ahLst/>
              <a:cxnLst/>
              <a:rect l="l" t="t" r="r" b="b"/>
              <a:pathLst>
                <a:path w="5904230" h="789939">
                  <a:moveTo>
                    <a:pt x="5774944" y="0"/>
                  </a:moveTo>
                  <a:lnTo>
                    <a:pt x="129032" y="0"/>
                  </a:lnTo>
                  <a:lnTo>
                    <a:pt x="78813" y="10142"/>
                  </a:lnTo>
                  <a:lnTo>
                    <a:pt x="37798" y="37798"/>
                  </a:lnTo>
                  <a:lnTo>
                    <a:pt x="10142" y="78813"/>
                  </a:lnTo>
                  <a:lnTo>
                    <a:pt x="0" y="129031"/>
                  </a:lnTo>
                  <a:lnTo>
                    <a:pt x="0" y="660450"/>
                  </a:lnTo>
                  <a:lnTo>
                    <a:pt x="10142" y="710656"/>
                  </a:lnTo>
                  <a:lnTo>
                    <a:pt x="37798" y="751654"/>
                  </a:lnTo>
                  <a:lnTo>
                    <a:pt x="78813" y="779296"/>
                  </a:lnTo>
                  <a:lnTo>
                    <a:pt x="129032" y="789432"/>
                  </a:lnTo>
                  <a:lnTo>
                    <a:pt x="5774944" y="789432"/>
                  </a:lnTo>
                  <a:lnTo>
                    <a:pt x="5825162" y="779296"/>
                  </a:lnTo>
                  <a:lnTo>
                    <a:pt x="5866177" y="751654"/>
                  </a:lnTo>
                  <a:lnTo>
                    <a:pt x="5893833" y="710656"/>
                  </a:lnTo>
                  <a:lnTo>
                    <a:pt x="5903976" y="660450"/>
                  </a:lnTo>
                  <a:lnTo>
                    <a:pt x="5903976" y="129031"/>
                  </a:lnTo>
                  <a:lnTo>
                    <a:pt x="5893833" y="78813"/>
                  </a:lnTo>
                  <a:lnTo>
                    <a:pt x="5866177" y="37798"/>
                  </a:lnTo>
                  <a:lnTo>
                    <a:pt x="5825162" y="10142"/>
                  </a:lnTo>
                  <a:lnTo>
                    <a:pt x="577494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5954267" y="5411723"/>
              <a:ext cx="5904230" cy="789940"/>
            </a:xfrm>
            <a:custGeom>
              <a:avLst/>
              <a:gdLst/>
              <a:ahLst/>
              <a:cxnLst/>
              <a:rect l="l" t="t" r="r" b="b"/>
              <a:pathLst>
                <a:path w="5904230" h="789939">
                  <a:moveTo>
                    <a:pt x="0" y="129031"/>
                  </a:moveTo>
                  <a:lnTo>
                    <a:pt x="10142" y="78813"/>
                  </a:lnTo>
                  <a:lnTo>
                    <a:pt x="37798" y="37798"/>
                  </a:lnTo>
                  <a:lnTo>
                    <a:pt x="78813" y="10142"/>
                  </a:lnTo>
                  <a:lnTo>
                    <a:pt x="129032" y="0"/>
                  </a:lnTo>
                  <a:lnTo>
                    <a:pt x="5774944" y="0"/>
                  </a:lnTo>
                  <a:lnTo>
                    <a:pt x="5825162" y="10142"/>
                  </a:lnTo>
                  <a:lnTo>
                    <a:pt x="5866177" y="37798"/>
                  </a:lnTo>
                  <a:lnTo>
                    <a:pt x="5893833" y="78813"/>
                  </a:lnTo>
                  <a:lnTo>
                    <a:pt x="5903976" y="129031"/>
                  </a:lnTo>
                  <a:lnTo>
                    <a:pt x="5903976" y="660450"/>
                  </a:lnTo>
                  <a:lnTo>
                    <a:pt x="5893833" y="710656"/>
                  </a:lnTo>
                  <a:lnTo>
                    <a:pt x="5866177" y="751654"/>
                  </a:lnTo>
                  <a:lnTo>
                    <a:pt x="5825162" y="779296"/>
                  </a:lnTo>
                  <a:lnTo>
                    <a:pt x="5774944" y="789432"/>
                  </a:lnTo>
                  <a:lnTo>
                    <a:pt x="129032" y="789432"/>
                  </a:lnTo>
                  <a:lnTo>
                    <a:pt x="78813" y="779296"/>
                  </a:lnTo>
                  <a:lnTo>
                    <a:pt x="37798" y="751654"/>
                  </a:lnTo>
                  <a:lnTo>
                    <a:pt x="10142" y="710656"/>
                  </a:lnTo>
                  <a:lnTo>
                    <a:pt x="0" y="660450"/>
                  </a:lnTo>
                  <a:lnTo>
                    <a:pt x="0" y="129031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348995" y="1367027"/>
              <a:ext cx="5389245" cy="4834255"/>
            </a:xfrm>
            <a:custGeom>
              <a:avLst/>
              <a:gdLst/>
              <a:ahLst/>
              <a:cxnLst/>
              <a:rect l="l" t="t" r="r" b="b"/>
              <a:pathLst>
                <a:path w="5389245" h="4834255">
                  <a:moveTo>
                    <a:pt x="5247767" y="0"/>
                  </a:moveTo>
                  <a:lnTo>
                    <a:pt x="141109" y="0"/>
                  </a:lnTo>
                  <a:lnTo>
                    <a:pt x="96510" y="7188"/>
                  </a:lnTo>
                  <a:lnTo>
                    <a:pt x="57774" y="27208"/>
                  </a:lnTo>
                  <a:lnTo>
                    <a:pt x="27227" y="57744"/>
                  </a:lnTo>
                  <a:lnTo>
                    <a:pt x="7194" y="96479"/>
                  </a:lnTo>
                  <a:lnTo>
                    <a:pt x="0" y="141097"/>
                  </a:lnTo>
                  <a:lnTo>
                    <a:pt x="0" y="4693018"/>
                  </a:lnTo>
                  <a:lnTo>
                    <a:pt x="7194" y="4737617"/>
                  </a:lnTo>
                  <a:lnTo>
                    <a:pt x="27227" y="4776353"/>
                  </a:lnTo>
                  <a:lnTo>
                    <a:pt x="57774" y="4806900"/>
                  </a:lnTo>
                  <a:lnTo>
                    <a:pt x="96510" y="4826933"/>
                  </a:lnTo>
                  <a:lnTo>
                    <a:pt x="141109" y="4834128"/>
                  </a:lnTo>
                  <a:lnTo>
                    <a:pt x="5247767" y="4834128"/>
                  </a:lnTo>
                  <a:lnTo>
                    <a:pt x="5292384" y="4826933"/>
                  </a:lnTo>
                  <a:lnTo>
                    <a:pt x="5331119" y="4806900"/>
                  </a:lnTo>
                  <a:lnTo>
                    <a:pt x="5361655" y="4776353"/>
                  </a:lnTo>
                  <a:lnTo>
                    <a:pt x="5381675" y="4737617"/>
                  </a:lnTo>
                  <a:lnTo>
                    <a:pt x="5388864" y="4693018"/>
                  </a:lnTo>
                  <a:lnTo>
                    <a:pt x="5388864" y="141097"/>
                  </a:lnTo>
                  <a:lnTo>
                    <a:pt x="5381675" y="96479"/>
                  </a:lnTo>
                  <a:lnTo>
                    <a:pt x="5361655" y="57744"/>
                  </a:lnTo>
                  <a:lnTo>
                    <a:pt x="5331119" y="27208"/>
                  </a:lnTo>
                  <a:lnTo>
                    <a:pt x="5292384" y="7188"/>
                  </a:lnTo>
                  <a:lnTo>
                    <a:pt x="52477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348995" y="1367027"/>
              <a:ext cx="5389245" cy="4834255"/>
            </a:xfrm>
            <a:custGeom>
              <a:avLst/>
              <a:gdLst/>
              <a:ahLst/>
              <a:cxnLst/>
              <a:rect l="l" t="t" r="r" b="b"/>
              <a:pathLst>
                <a:path w="5389245" h="4834255">
                  <a:moveTo>
                    <a:pt x="0" y="141097"/>
                  </a:moveTo>
                  <a:lnTo>
                    <a:pt x="7194" y="96479"/>
                  </a:lnTo>
                  <a:lnTo>
                    <a:pt x="27227" y="57744"/>
                  </a:lnTo>
                  <a:lnTo>
                    <a:pt x="57774" y="27208"/>
                  </a:lnTo>
                  <a:lnTo>
                    <a:pt x="96510" y="7188"/>
                  </a:lnTo>
                  <a:lnTo>
                    <a:pt x="141109" y="0"/>
                  </a:lnTo>
                  <a:lnTo>
                    <a:pt x="5247767" y="0"/>
                  </a:lnTo>
                  <a:lnTo>
                    <a:pt x="5292384" y="7188"/>
                  </a:lnTo>
                  <a:lnTo>
                    <a:pt x="5331119" y="27208"/>
                  </a:lnTo>
                  <a:lnTo>
                    <a:pt x="5361655" y="57744"/>
                  </a:lnTo>
                  <a:lnTo>
                    <a:pt x="5381675" y="96479"/>
                  </a:lnTo>
                  <a:lnTo>
                    <a:pt x="5388864" y="141097"/>
                  </a:lnTo>
                  <a:lnTo>
                    <a:pt x="5388864" y="4693018"/>
                  </a:lnTo>
                  <a:lnTo>
                    <a:pt x="5381675" y="4737617"/>
                  </a:lnTo>
                  <a:lnTo>
                    <a:pt x="5361655" y="4776353"/>
                  </a:lnTo>
                  <a:lnTo>
                    <a:pt x="5331119" y="4806900"/>
                  </a:lnTo>
                  <a:lnTo>
                    <a:pt x="5292384" y="4826933"/>
                  </a:lnTo>
                  <a:lnTo>
                    <a:pt x="5247767" y="4834128"/>
                  </a:lnTo>
                  <a:lnTo>
                    <a:pt x="141109" y="4834128"/>
                  </a:lnTo>
                  <a:lnTo>
                    <a:pt x="96510" y="4826933"/>
                  </a:lnTo>
                  <a:lnTo>
                    <a:pt x="57774" y="4806900"/>
                  </a:lnTo>
                  <a:lnTo>
                    <a:pt x="27227" y="4776353"/>
                  </a:lnTo>
                  <a:lnTo>
                    <a:pt x="7194" y="4737617"/>
                  </a:lnTo>
                  <a:lnTo>
                    <a:pt x="0" y="4693018"/>
                  </a:lnTo>
                  <a:lnTo>
                    <a:pt x="0" y="141097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11815953" y="6449170"/>
            <a:ext cx="196215" cy="19621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4</a:t>
            </a:r>
            <a:endParaRPr sz="1200">
              <a:latin typeface="Microsoft Sans Serif"/>
              <a:cs typeface="Microsoft Sans Serif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03 · Бизнес-составляющая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1362456"/>
            <a:ext cx="5385816" cy="48371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1627632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Эффект для ИТ Школы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Единый контур вместо таблиц и чатов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Прозрачные этапы и ответственные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Отчёт руководителю за секунды, а не за день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Сохранённая история взаимодействий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•  Ограничение: не более 2 активных взаимодействий на вуз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2744" y="1362456"/>
            <a:ext cx="5907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Показатели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2744" y="1847088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19659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14 этапов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0299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воронка B2B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52744" y="2816352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935224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этапа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99923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воронка B2C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52744" y="3785616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90448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формата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96849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XLSX · XLS · PDF · JSON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52744" y="4754880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87375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2 роли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937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менеджер и администратор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2744" y="5724144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2200" y="584301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0 ошибок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590702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на нагрузочном прогоне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94232" y="1133855"/>
              <a:ext cx="4372229" cy="292442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49096" y="1149096"/>
              <a:ext cx="4267200" cy="2822575"/>
            </a:xfrm>
            <a:custGeom>
              <a:avLst/>
              <a:gdLst/>
              <a:ahLst/>
              <a:cxnLst/>
              <a:rect l="l" t="t" r="r" b="b"/>
              <a:pathLst>
                <a:path w="4267200" h="2822575">
                  <a:moveTo>
                    <a:pt x="4230751" y="0"/>
                  </a:moveTo>
                  <a:lnTo>
                    <a:pt x="36461" y="0"/>
                  </a:lnTo>
                  <a:lnTo>
                    <a:pt x="22272" y="2873"/>
                  </a:lnTo>
                  <a:lnTo>
                    <a:pt x="10682" y="10699"/>
                  </a:lnTo>
                  <a:lnTo>
                    <a:pt x="2866" y="22288"/>
                  </a:lnTo>
                  <a:lnTo>
                    <a:pt x="0" y="36449"/>
                  </a:lnTo>
                  <a:lnTo>
                    <a:pt x="0" y="2785998"/>
                  </a:lnTo>
                  <a:lnTo>
                    <a:pt x="2866" y="2800159"/>
                  </a:lnTo>
                  <a:lnTo>
                    <a:pt x="10682" y="2811748"/>
                  </a:lnTo>
                  <a:lnTo>
                    <a:pt x="22272" y="2819574"/>
                  </a:lnTo>
                  <a:lnTo>
                    <a:pt x="36461" y="2822447"/>
                  </a:lnTo>
                  <a:lnTo>
                    <a:pt x="4230751" y="2822447"/>
                  </a:lnTo>
                  <a:lnTo>
                    <a:pt x="4244911" y="2819574"/>
                  </a:lnTo>
                  <a:lnTo>
                    <a:pt x="4256500" y="2811748"/>
                  </a:lnTo>
                  <a:lnTo>
                    <a:pt x="4264326" y="2800159"/>
                  </a:lnTo>
                  <a:lnTo>
                    <a:pt x="4267200" y="2785998"/>
                  </a:lnTo>
                  <a:lnTo>
                    <a:pt x="4267200" y="36449"/>
                  </a:lnTo>
                  <a:lnTo>
                    <a:pt x="4264326" y="22288"/>
                  </a:lnTo>
                  <a:lnTo>
                    <a:pt x="4256500" y="10699"/>
                  </a:lnTo>
                  <a:lnTo>
                    <a:pt x="4244911" y="2873"/>
                  </a:lnTo>
                  <a:lnTo>
                    <a:pt x="4230751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149096" y="1203959"/>
              <a:ext cx="4267200" cy="353695"/>
            </a:xfrm>
            <a:custGeom>
              <a:avLst/>
              <a:gdLst/>
              <a:ahLst/>
              <a:cxnLst/>
              <a:rect l="l" t="t" r="r" b="b"/>
              <a:pathLst>
                <a:path w="4267200" h="353694">
                  <a:moveTo>
                    <a:pt x="4267200" y="155448"/>
                  </a:moveTo>
                  <a:lnTo>
                    <a:pt x="2340864" y="155448"/>
                  </a:lnTo>
                  <a:lnTo>
                    <a:pt x="2340864" y="42418"/>
                  </a:lnTo>
                  <a:lnTo>
                    <a:pt x="2337536" y="25882"/>
                  </a:lnTo>
                  <a:lnTo>
                    <a:pt x="2328456" y="12407"/>
                  </a:lnTo>
                  <a:lnTo>
                    <a:pt x="2314981" y="3327"/>
                  </a:lnTo>
                  <a:lnTo>
                    <a:pt x="2298446" y="0"/>
                  </a:lnTo>
                  <a:lnTo>
                    <a:pt x="676402" y="0"/>
                  </a:lnTo>
                  <a:lnTo>
                    <a:pt x="659853" y="3327"/>
                  </a:lnTo>
                  <a:lnTo>
                    <a:pt x="646379" y="12407"/>
                  </a:lnTo>
                  <a:lnTo>
                    <a:pt x="637298" y="25882"/>
                  </a:lnTo>
                  <a:lnTo>
                    <a:pt x="633984" y="42418"/>
                  </a:lnTo>
                  <a:lnTo>
                    <a:pt x="633984" y="155448"/>
                  </a:lnTo>
                  <a:lnTo>
                    <a:pt x="0" y="155448"/>
                  </a:lnTo>
                  <a:lnTo>
                    <a:pt x="0" y="353568"/>
                  </a:lnTo>
                  <a:lnTo>
                    <a:pt x="676402" y="353568"/>
                  </a:lnTo>
                  <a:lnTo>
                    <a:pt x="2298446" y="353568"/>
                  </a:lnTo>
                  <a:lnTo>
                    <a:pt x="4267200" y="353568"/>
                  </a:lnTo>
                  <a:lnTo>
                    <a:pt x="4267200" y="155448"/>
                  </a:lnTo>
                  <a:close/>
                </a:path>
              </a:pathLst>
            </a:custGeom>
            <a:solidFill>
              <a:srgbClr val="160928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21920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618" y="2387"/>
                  </a:lnTo>
                  <a:lnTo>
                    <a:pt x="8929" y="8905"/>
                  </a:lnTo>
                  <a:lnTo>
                    <a:pt x="2396" y="18591"/>
                  </a:lnTo>
                  <a:lnTo>
                    <a:pt x="0" y="30479"/>
                  </a:lnTo>
                  <a:lnTo>
                    <a:pt x="2396" y="42368"/>
                  </a:lnTo>
                  <a:lnTo>
                    <a:pt x="8929" y="52054"/>
                  </a:lnTo>
                  <a:lnTo>
                    <a:pt x="18618" y="58572"/>
                  </a:lnTo>
                  <a:lnTo>
                    <a:pt x="30480" y="60959"/>
                  </a:lnTo>
                  <a:lnTo>
                    <a:pt x="42341" y="58572"/>
                  </a:lnTo>
                  <a:lnTo>
                    <a:pt x="52030" y="52054"/>
                  </a:lnTo>
                  <a:lnTo>
                    <a:pt x="58563" y="42368"/>
                  </a:lnTo>
                  <a:lnTo>
                    <a:pt x="60959" y="30479"/>
                  </a:lnTo>
                  <a:lnTo>
                    <a:pt x="58563" y="18591"/>
                  </a:lnTo>
                  <a:lnTo>
                    <a:pt x="52030" y="8905"/>
                  </a:lnTo>
                  <a:lnTo>
                    <a:pt x="42341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FFD5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32588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B37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43256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8983D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889760" y="1395983"/>
              <a:ext cx="3203575" cy="128270"/>
            </a:xfrm>
            <a:custGeom>
              <a:avLst/>
              <a:gdLst/>
              <a:ahLst/>
              <a:cxnLst/>
              <a:rect l="l" t="t" r="r" b="b"/>
              <a:pathLst>
                <a:path w="3203575" h="128269">
                  <a:moveTo>
                    <a:pt x="3203448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3203448" y="128015"/>
                  </a:lnTo>
                  <a:lnTo>
                    <a:pt x="320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5209032" y="1203959"/>
              <a:ext cx="97790" cy="97790"/>
            </a:xfrm>
            <a:custGeom>
              <a:avLst/>
              <a:gdLst/>
              <a:ahLst/>
              <a:cxnLst/>
              <a:rect l="l" t="t" r="r" b="b"/>
              <a:pathLst>
                <a:path w="97789" h="97790">
                  <a:moveTo>
                    <a:pt x="24384" y="74549"/>
                  </a:moveTo>
                  <a:lnTo>
                    <a:pt x="22987" y="73152"/>
                  </a:lnTo>
                  <a:lnTo>
                    <a:pt x="21209" y="73152"/>
                  </a:lnTo>
                  <a:lnTo>
                    <a:pt x="1397" y="73152"/>
                  </a:lnTo>
                  <a:lnTo>
                    <a:pt x="0" y="74549"/>
                  </a:lnTo>
                  <a:lnTo>
                    <a:pt x="0" y="96139"/>
                  </a:lnTo>
                  <a:lnTo>
                    <a:pt x="1397" y="97536"/>
                  </a:lnTo>
                  <a:lnTo>
                    <a:pt x="22987" y="97536"/>
                  </a:lnTo>
                  <a:lnTo>
                    <a:pt x="24384" y="96139"/>
                  </a:lnTo>
                  <a:lnTo>
                    <a:pt x="24384" y="74549"/>
                  </a:lnTo>
                  <a:close/>
                </a:path>
                <a:path w="97789" h="97790">
                  <a:moveTo>
                    <a:pt x="24384" y="37973"/>
                  </a:moveTo>
                  <a:lnTo>
                    <a:pt x="22987" y="36576"/>
                  </a:lnTo>
                  <a:lnTo>
                    <a:pt x="21209" y="36576"/>
                  </a:lnTo>
                  <a:lnTo>
                    <a:pt x="1397" y="36576"/>
                  </a:lnTo>
                  <a:lnTo>
                    <a:pt x="0" y="37973"/>
                  </a:lnTo>
                  <a:lnTo>
                    <a:pt x="0" y="59563"/>
                  </a:lnTo>
                  <a:lnTo>
                    <a:pt x="1397" y="60960"/>
                  </a:lnTo>
                  <a:lnTo>
                    <a:pt x="22987" y="60960"/>
                  </a:lnTo>
                  <a:lnTo>
                    <a:pt x="24384" y="59563"/>
                  </a:lnTo>
                  <a:lnTo>
                    <a:pt x="24384" y="37973"/>
                  </a:lnTo>
                  <a:close/>
                </a:path>
                <a:path w="97789" h="97790">
                  <a:moveTo>
                    <a:pt x="24384" y="1397"/>
                  </a:moveTo>
                  <a:lnTo>
                    <a:pt x="22987" y="0"/>
                  </a:lnTo>
                  <a:lnTo>
                    <a:pt x="21209" y="0"/>
                  </a:lnTo>
                  <a:lnTo>
                    <a:pt x="1397" y="0"/>
                  </a:lnTo>
                  <a:lnTo>
                    <a:pt x="0" y="1397"/>
                  </a:lnTo>
                  <a:lnTo>
                    <a:pt x="0" y="23114"/>
                  </a:lnTo>
                  <a:lnTo>
                    <a:pt x="1397" y="24384"/>
                  </a:lnTo>
                  <a:lnTo>
                    <a:pt x="22987" y="24384"/>
                  </a:lnTo>
                  <a:lnTo>
                    <a:pt x="24384" y="23114"/>
                  </a:lnTo>
                  <a:lnTo>
                    <a:pt x="24384" y="1397"/>
                  </a:lnTo>
                  <a:close/>
                </a:path>
                <a:path w="97789" h="97790">
                  <a:moveTo>
                    <a:pt x="60960" y="74549"/>
                  </a:moveTo>
                  <a:lnTo>
                    <a:pt x="59563" y="73152"/>
                  </a:lnTo>
                  <a:lnTo>
                    <a:pt x="57912" y="73152"/>
                  </a:lnTo>
                  <a:lnTo>
                    <a:pt x="37973" y="73152"/>
                  </a:lnTo>
                  <a:lnTo>
                    <a:pt x="36576" y="74549"/>
                  </a:lnTo>
                  <a:lnTo>
                    <a:pt x="36576" y="96139"/>
                  </a:lnTo>
                  <a:lnTo>
                    <a:pt x="37973" y="97536"/>
                  </a:lnTo>
                  <a:lnTo>
                    <a:pt x="59563" y="97536"/>
                  </a:lnTo>
                  <a:lnTo>
                    <a:pt x="60960" y="96139"/>
                  </a:lnTo>
                  <a:lnTo>
                    <a:pt x="60960" y="74549"/>
                  </a:lnTo>
                  <a:close/>
                </a:path>
                <a:path w="97789" h="97790">
                  <a:moveTo>
                    <a:pt x="60960" y="37973"/>
                  </a:moveTo>
                  <a:lnTo>
                    <a:pt x="59563" y="36576"/>
                  </a:lnTo>
                  <a:lnTo>
                    <a:pt x="57912" y="36576"/>
                  </a:lnTo>
                  <a:lnTo>
                    <a:pt x="37973" y="36576"/>
                  </a:lnTo>
                  <a:lnTo>
                    <a:pt x="36576" y="37973"/>
                  </a:lnTo>
                  <a:lnTo>
                    <a:pt x="36576" y="59563"/>
                  </a:lnTo>
                  <a:lnTo>
                    <a:pt x="37973" y="60960"/>
                  </a:lnTo>
                  <a:lnTo>
                    <a:pt x="59563" y="60960"/>
                  </a:lnTo>
                  <a:lnTo>
                    <a:pt x="60960" y="59563"/>
                  </a:lnTo>
                  <a:lnTo>
                    <a:pt x="60960" y="37973"/>
                  </a:lnTo>
                  <a:close/>
                </a:path>
                <a:path w="97789" h="97790">
                  <a:moveTo>
                    <a:pt x="60960" y="1397"/>
                  </a:moveTo>
                  <a:lnTo>
                    <a:pt x="59563" y="0"/>
                  </a:lnTo>
                  <a:lnTo>
                    <a:pt x="57912" y="0"/>
                  </a:lnTo>
                  <a:lnTo>
                    <a:pt x="37973" y="0"/>
                  </a:lnTo>
                  <a:lnTo>
                    <a:pt x="36576" y="1397"/>
                  </a:lnTo>
                  <a:lnTo>
                    <a:pt x="36576" y="23114"/>
                  </a:lnTo>
                  <a:lnTo>
                    <a:pt x="37973" y="24384"/>
                  </a:lnTo>
                  <a:lnTo>
                    <a:pt x="59563" y="24384"/>
                  </a:lnTo>
                  <a:lnTo>
                    <a:pt x="60960" y="23114"/>
                  </a:lnTo>
                  <a:lnTo>
                    <a:pt x="60960" y="1397"/>
                  </a:lnTo>
                  <a:close/>
                </a:path>
                <a:path w="97789" h="97790">
                  <a:moveTo>
                    <a:pt x="97536" y="74549"/>
                  </a:moveTo>
                  <a:lnTo>
                    <a:pt x="96139" y="73152"/>
                  </a:lnTo>
                  <a:lnTo>
                    <a:pt x="94488" y="73152"/>
                  </a:lnTo>
                  <a:lnTo>
                    <a:pt x="74422" y="73152"/>
                  </a:lnTo>
                  <a:lnTo>
                    <a:pt x="73152" y="74549"/>
                  </a:lnTo>
                  <a:lnTo>
                    <a:pt x="73152" y="96139"/>
                  </a:lnTo>
                  <a:lnTo>
                    <a:pt x="74422" y="97536"/>
                  </a:lnTo>
                  <a:lnTo>
                    <a:pt x="96139" y="97536"/>
                  </a:lnTo>
                  <a:lnTo>
                    <a:pt x="97536" y="96139"/>
                  </a:lnTo>
                  <a:lnTo>
                    <a:pt x="97536" y="74549"/>
                  </a:lnTo>
                  <a:close/>
                </a:path>
                <a:path w="97789" h="97790">
                  <a:moveTo>
                    <a:pt x="97536" y="37973"/>
                  </a:moveTo>
                  <a:lnTo>
                    <a:pt x="96139" y="36576"/>
                  </a:lnTo>
                  <a:lnTo>
                    <a:pt x="94488" y="36576"/>
                  </a:lnTo>
                  <a:lnTo>
                    <a:pt x="74422" y="36576"/>
                  </a:lnTo>
                  <a:lnTo>
                    <a:pt x="73152" y="37973"/>
                  </a:lnTo>
                  <a:lnTo>
                    <a:pt x="73152" y="59563"/>
                  </a:lnTo>
                  <a:lnTo>
                    <a:pt x="74422" y="60960"/>
                  </a:lnTo>
                  <a:lnTo>
                    <a:pt x="96139" y="60960"/>
                  </a:lnTo>
                  <a:lnTo>
                    <a:pt x="97536" y="59563"/>
                  </a:lnTo>
                  <a:lnTo>
                    <a:pt x="97536" y="37973"/>
                  </a:lnTo>
                  <a:close/>
                </a:path>
                <a:path w="97789" h="97790">
                  <a:moveTo>
                    <a:pt x="97536" y="1397"/>
                  </a:moveTo>
                  <a:lnTo>
                    <a:pt x="96139" y="0"/>
                  </a:lnTo>
                  <a:lnTo>
                    <a:pt x="94488" y="0"/>
                  </a:lnTo>
                  <a:lnTo>
                    <a:pt x="74422" y="0"/>
                  </a:lnTo>
                  <a:lnTo>
                    <a:pt x="73152" y="1397"/>
                  </a:lnTo>
                  <a:lnTo>
                    <a:pt x="73152" y="23114"/>
                  </a:lnTo>
                  <a:lnTo>
                    <a:pt x="74422" y="24384"/>
                  </a:lnTo>
                  <a:lnTo>
                    <a:pt x="96139" y="24384"/>
                  </a:lnTo>
                  <a:lnTo>
                    <a:pt x="97536" y="23114"/>
                  </a:lnTo>
                  <a:lnTo>
                    <a:pt x="97536" y="139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18176" y="1411224"/>
              <a:ext cx="79248" cy="91439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542288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6" name="object 16"/>
          <p:cNvGrpSpPr/>
          <p:nvPr/>
        </p:nvGrpSpPr>
        <p:grpSpPr>
          <a:xfrm>
            <a:off x="1929383" y="1133855"/>
            <a:ext cx="9182100" cy="2924810"/>
            <a:chOff x="1929383" y="1133855"/>
            <a:chExt cx="9182100" cy="2924810"/>
          </a:xfrm>
        </p:grpSpPr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929383" y="1426463"/>
              <a:ext cx="73152" cy="73151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39127" y="1133855"/>
              <a:ext cx="4372229" cy="2924429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6793992" y="1149095"/>
              <a:ext cx="4267200" cy="2822575"/>
            </a:xfrm>
            <a:custGeom>
              <a:avLst/>
              <a:gdLst/>
              <a:ahLst/>
              <a:cxnLst/>
              <a:rect l="l" t="t" r="r" b="b"/>
              <a:pathLst>
                <a:path w="4267200" h="2822575">
                  <a:moveTo>
                    <a:pt x="4230751" y="0"/>
                  </a:moveTo>
                  <a:lnTo>
                    <a:pt x="36449" y="0"/>
                  </a:lnTo>
                  <a:lnTo>
                    <a:pt x="22288" y="2873"/>
                  </a:lnTo>
                  <a:lnTo>
                    <a:pt x="10699" y="10699"/>
                  </a:lnTo>
                  <a:lnTo>
                    <a:pt x="2873" y="22288"/>
                  </a:lnTo>
                  <a:lnTo>
                    <a:pt x="0" y="36449"/>
                  </a:lnTo>
                  <a:lnTo>
                    <a:pt x="0" y="2785998"/>
                  </a:lnTo>
                  <a:lnTo>
                    <a:pt x="2873" y="2800159"/>
                  </a:lnTo>
                  <a:lnTo>
                    <a:pt x="10699" y="2811748"/>
                  </a:lnTo>
                  <a:lnTo>
                    <a:pt x="22288" y="2819574"/>
                  </a:lnTo>
                  <a:lnTo>
                    <a:pt x="36449" y="2822447"/>
                  </a:lnTo>
                  <a:lnTo>
                    <a:pt x="4230751" y="2822447"/>
                  </a:lnTo>
                  <a:lnTo>
                    <a:pt x="4244911" y="2819574"/>
                  </a:lnTo>
                  <a:lnTo>
                    <a:pt x="4256500" y="2811748"/>
                  </a:lnTo>
                  <a:lnTo>
                    <a:pt x="4264326" y="2800159"/>
                  </a:lnTo>
                  <a:lnTo>
                    <a:pt x="4267200" y="2785998"/>
                  </a:lnTo>
                  <a:lnTo>
                    <a:pt x="4267200" y="36449"/>
                  </a:lnTo>
                  <a:lnTo>
                    <a:pt x="4264326" y="22288"/>
                  </a:lnTo>
                  <a:lnTo>
                    <a:pt x="4256500" y="10699"/>
                  </a:lnTo>
                  <a:lnTo>
                    <a:pt x="4244911" y="2873"/>
                  </a:lnTo>
                  <a:lnTo>
                    <a:pt x="4230751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6793992" y="1203959"/>
              <a:ext cx="4267200" cy="353695"/>
            </a:xfrm>
            <a:custGeom>
              <a:avLst/>
              <a:gdLst/>
              <a:ahLst/>
              <a:cxnLst/>
              <a:rect l="l" t="t" r="r" b="b"/>
              <a:pathLst>
                <a:path w="4267200" h="353694">
                  <a:moveTo>
                    <a:pt x="4267200" y="155448"/>
                  </a:moveTo>
                  <a:lnTo>
                    <a:pt x="2340864" y="155448"/>
                  </a:lnTo>
                  <a:lnTo>
                    <a:pt x="2340864" y="42418"/>
                  </a:lnTo>
                  <a:lnTo>
                    <a:pt x="2337536" y="25882"/>
                  </a:lnTo>
                  <a:lnTo>
                    <a:pt x="2328456" y="12407"/>
                  </a:lnTo>
                  <a:lnTo>
                    <a:pt x="2314981" y="3327"/>
                  </a:lnTo>
                  <a:lnTo>
                    <a:pt x="2298446" y="0"/>
                  </a:lnTo>
                  <a:lnTo>
                    <a:pt x="676402" y="0"/>
                  </a:lnTo>
                  <a:lnTo>
                    <a:pt x="659853" y="3327"/>
                  </a:lnTo>
                  <a:lnTo>
                    <a:pt x="646379" y="12407"/>
                  </a:lnTo>
                  <a:lnTo>
                    <a:pt x="637298" y="25882"/>
                  </a:lnTo>
                  <a:lnTo>
                    <a:pt x="633984" y="42418"/>
                  </a:lnTo>
                  <a:lnTo>
                    <a:pt x="633984" y="155448"/>
                  </a:lnTo>
                  <a:lnTo>
                    <a:pt x="0" y="155448"/>
                  </a:lnTo>
                  <a:lnTo>
                    <a:pt x="0" y="353568"/>
                  </a:lnTo>
                  <a:lnTo>
                    <a:pt x="676402" y="353568"/>
                  </a:lnTo>
                  <a:lnTo>
                    <a:pt x="2298446" y="353568"/>
                  </a:lnTo>
                  <a:lnTo>
                    <a:pt x="4267200" y="353568"/>
                  </a:lnTo>
                  <a:lnTo>
                    <a:pt x="4267200" y="155448"/>
                  </a:lnTo>
                  <a:close/>
                </a:path>
              </a:pathLst>
            </a:custGeom>
            <a:solidFill>
              <a:srgbClr val="160928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686409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FD5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697077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B37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707745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60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8983D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7534655" y="1395983"/>
              <a:ext cx="3203575" cy="128270"/>
            </a:xfrm>
            <a:custGeom>
              <a:avLst/>
              <a:gdLst/>
              <a:ahLst/>
              <a:cxnLst/>
              <a:rect l="l" t="t" r="r" b="b"/>
              <a:pathLst>
                <a:path w="3203575" h="128269">
                  <a:moveTo>
                    <a:pt x="3203448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3203448" y="128015"/>
                  </a:lnTo>
                  <a:lnTo>
                    <a:pt x="320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10853928" y="1203959"/>
              <a:ext cx="97790" cy="97790"/>
            </a:xfrm>
            <a:custGeom>
              <a:avLst/>
              <a:gdLst/>
              <a:ahLst/>
              <a:cxnLst/>
              <a:rect l="l" t="t" r="r" b="b"/>
              <a:pathLst>
                <a:path w="97790" h="97790">
                  <a:moveTo>
                    <a:pt x="24384" y="74549"/>
                  </a:moveTo>
                  <a:lnTo>
                    <a:pt x="22987" y="73152"/>
                  </a:lnTo>
                  <a:lnTo>
                    <a:pt x="21209" y="73152"/>
                  </a:lnTo>
                  <a:lnTo>
                    <a:pt x="1397" y="73152"/>
                  </a:lnTo>
                  <a:lnTo>
                    <a:pt x="0" y="74549"/>
                  </a:lnTo>
                  <a:lnTo>
                    <a:pt x="0" y="96139"/>
                  </a:lnTo>
                  <a:lnTo>
                    <a:pt x="1397" y="97536"/>
                  </a:lnTo>
                  <a:lnTo>
                    <a:pt x="22987" y="97536"/>
                  </a:lnTo>
                  <a:lnTo>
                    <a:pt x="24384" y="96139"/>
                  </a:lnTo>
                  <a:lnTo>
                    <a:pt x="24384" y="74549"/>
                  </a:lnTo>
                  <a:close/>
                </a:path>
                <a:path w="97790" h="97790">
                  <a:moveTo>
                    <a:pt x="24384" y="37973"/>
                  </a:moveTo>
                  <a:lnTo>
                    <a:pt x="22987" y="36576"/>
                  </a:lnTo>
                  <a:lnTo>
                    <a:pt x="21209" y="36576"/>
                  </a:lnTo>
                  <a:lnTo>
                    <a:pt x="1397" y="36576"/>
                  </a:lnTo>
                  <a:lnTo>
                    <a:pt x="0" y="37973"/>
                  </a:lnTo>
                  <a:lnTo>
                    <a:pt x="0" y="59563"/>
                  </a:lnTo>
                  <a:lnTo>
                    <a:pt x="1397" y="60960"/>
                  </a:lnTo>
                  <a:lnTo>
                    <a:pt x="22987" y="60960"/>
                  </a:lnTo>
                  <a:lnTo>
                    <a:pt x="24384" y="59563"/>
                  </a:lnTo>
                  <a:lnTo>
                    <a:pt x="24384" y="37973"/>
                  </a:lnTo>
                  <a:close/>
                </a:path>
                <a:path w="97790" h="97790">
                  <a:moveTo>
                    <a:pt x="24384" y="1397"/>
                  </a:moveTo>
                  <a:lnTo>
                    <a:pt x="22987" y="0"/>
                  </a:lnTo>
                  <a:lnTo>
                    <a:pt x="21209" y="0"/>
                  </a:lnTo>
                  <a:lnTo>
                    <a:pt x="1397" y="0"/>
                  </a:lnTo>
                  <a:lnTo>
                    <a:pt x="0" y="1397"/>
                  </a:lnTo>
                  <a:lnTo>
                    <a:pt x="0" y="23114"/>
                  </a:lnTo>
                  <a:lnTo>
                    <a:pt x="1397" y="24384"/>
                  </a:lnTo>
                  <a:lnTo>
                    <a:pt x="22987" y="24384"/>
                  </a:lnTo>
                  <a:lnTo>
                    <a:pt x="24384" y="23114"/>
                  </a:lnTo>
                  <a:lnTo>
                    <a:pt x="24384" y="1397"/>
                  </a:lnTo>
                  <a:close/>
                </a:path>
                <a:path w="97790" h="97790">
                  <a:moveTo>
                    <a:pt x="60960" y="74549"/>
                  </a:moveTo>
                  <a:lnTo>
                    <a:pt x="59563" y="73152"/>
                  </a:lnTo>
                  <a:lnTo>
                    <a:pt x="57912" y="73152"/>
                  </a:lnTo>
                  <a:lnTo>
                    <a:pt x="37973" y="73152"/>
                  </a:lnTo>
                  <a:lnTo>
                    <a:pt x="36576" y="74549"/>
                  </a:lnTo>
                  <a:lnTo>
                    <a:pt x="36576" y="96139"/>
                  </a:lnTo>
                  <a:lnTo>
                    <a:pt x="37973" y="97536"/>
                  </a:lnTo>
                  <a:lnTo>
                    <a:pt x="59563" y="97536"/>
                  </a:lnTo>
                  <a:lnTo>
                    <a:pt x="60960" y="96139"/>
                  </a:lnTo>
                  <a:lnTo>
                    <a:pt x="60960" y="74549"/>
                  </a:lnTo>
                  <a:close/>
                </a:path>
                <a:path w="97790" h="97790">
                  <a:moveTo>
                    <a:pt x="60960" y="37973"/>
                  </a:moveTo>
                  <a:lnTo>
                    <a:pt x="59563" y="36576"/>
                  </a:lnTo>
                  <a:lnTo>
                    <a:pt x="57912" y="36576"/>
                  </a:lnTo>
                  <a:lnTo>
                    <a:pt x="37973" y="36576"/>
                  </a:lnTo>
                  <a:lnTo>
                    <a:pt x="36576" y="37973"/>
                  </a:lnTo>
                  <a:lnTo>
                    <a:pt x="36576" y="59563"/>
                  </a:lnTo>
                  <a:lnTo>
                    <a:pt x="37973" y="60960"/>
                  </a:lnTo>
                  <a:lnTo>
                    <a:pt x="59563" y="60960"/>
                  </a:lnTo>
                  <a:lnTo>
                    <a:pt x="60960" y="59563"/>
                  </a:lnTo>
                  <a:lnTo>
                    <a:pt x="60960" y="37973"/>
                  </a:lnTo>
                  <a:close/>
                </a:path>
                <a:path w="97790" h="97790">
                  <a:moveTo>
                    <a:pt x="60960" y="1397"/>
                  </a:moveTo>
                  <a:lnTo>
                    <a:pt x="59563" y="0"/>
                  </a:lnTo>
                  <a:lnTo>
                    <a:pt x="57912" y="0"/>
                  </a:lnTo>
                  <a:lnTo>
                    <a:pt x="37973" y="0"/>
                  </a:lnTo>
                  <a:lnTo>
                    <a:pt x="36576" y="1397"/>
                  </a:lnTo>
                  <a:lnTo>
                    <a:pt x="36576" y="23114"/>
                  </a:lnTo>
                  <a:lnTo>
                    <a:pt x="37973" y="24384"/>
                  </a:lnTo>
                  <a:lnTo>
                    <a:pt x="59563" y="24384"/>
                  </a:lnTo>
                  <a:lnTo>
                    <a:pt x="60960" y="23114"/>
                  </a:lnTo>
                  <a:lnTo>
                    <a:pt x="60960" y="1397"/>
                  </a:lnTo>
                  <a:close/>
                </a:path>
                <a:path w="97790" h="97790">
                  <a:moveTo>
                    <a:pt x="97536" y="74549"/>
                  </a:moveTo>
                  <a:lnTo>
                    <a:pt x="96139" y="73152"/>
                  </a:lnTo>
                  <a:lnTo>
                    <a:pt x="94488" y="73152"/>
                  </a:lnTo>
                  <a:lnTo>
                    <a:pt x="74422" y="73152"/>
                  </a:lnTo>
                  <a:lnTo>
                    <a:pt x="73152" y="74549"/>
                  </a:lnTo>
                  <a:lnTo>
                    <a:pt x="73152" y="96139"/>
                  </a:lnTo>
                  <a:lnTo>
                    <a:pt x="74422" y="97536"/>
                  </a:lnTo>
                  <a:lnTo>
                    <a:pt x="96139" y="97536"/>
                  </a:lnTo>
                  <a:lnTo>
                    <a:pt x="97536" y="96139"/>
                  </a:lnTo>
                  <a:lnTo>
                    <a:pt x="97536" y="74549"/>
                  </a:lnTo>
                  <a:close/>
                </a:path>
                <a:path w="97790" h="97790">
                  <a:moveTo>
                    <a:pt x="97536" y="37973"/>
                  </a:moveTo>
                  <a:lnTo>
                    <a:pt x="96139" y="36576"/>
                  </a:lnTo>
                  <a:lnTo>
                    <a:pt x="94488" y="36576"/>
                  </a:lnTo>
                  <a:lnTo>
                    <a:pt x="74422" y="36576"/>
                  </a:lnTo>
                  <a:lnTo>
                    <a:pt x="73152" y="37973"/>
                  </a:lnTo>
                  <a:lnTo>
                    <a:pt x="73152" y="59563"/>
                  </a:lnTo>
                  <a:lnTo>
                    <a:pt x="74422" y="60960"/>
                  </a:lnTo>
                  <a:lnTo>
                    <a:pt x="96139" y="60960"/>
                  </a:lnTo>
                  <a:lnTo>
                    <a:pt x="97536" y="59563"/>
                  </a:lnTo>
                  <a:lnTo>
                    <a:pt x="97536" y="37973"/>
                  </a:lnTo>
                  <a:close/>
                </a:path>
                <a:path w="97790" h="97790">
                  <a:moveTo>
                    <a:pt x="97536" y="1397"/>
                  </a:moveTo>
                  <a:lnTo>
                    <a:pt x="96139" y="0"/>
                  </a:lnTo>
                  <a:lnTo>
                    <a:pt x="94488" y="0"/>
                  </a:lnTo>
                  <a:lnTo>
                    <a:pt x="74422" y="0"/>
                  </a:lnTo>
                  <a:lnTo>
                    <a:pt x="73152" y="1397"/>
                  </a:lnTo>
                  <a:lnTo>
                    <a:pt x="73152" y="23114"/>
                  </a:lnTo>
                  <a:lnTo>
                    <a:pt x="74422" y="24384"/>
                  </a:lnTo>
                  <a:lnTo>
                    <a:pt x="96139" y="24384"/>
                  </a:lnTo>
                  <a:lnTo>
                    <a:pt x="97536" y="23114"/>
                  </a:lnTo>
                  <a:lnTo>
                    <a:pt x="97536" y="139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863072" y="1411223"/>
              <a:ext cx="79248" cy="91439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7187183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60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29" name="object 2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574280" y="1426463"/>
            <a:ext cx="73151" cy="73151"/>
          </a:xfrm>
          <a:prstGeom prst="rect">
            <a:avLst/>
          </a:prstGeom>
        </p:spPr>
      </p:pic>
      <p:sp>
        <p:nvSpPr>
          <p:cNvPr id="30" name="object 3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5415" rIns="0" bIns="0" rtlCol="0" vert="horz">
            <a:spAutoFit/>
          </a:bodyPr>
          <a:lstStyle/>
          <a:p>
            <a:pPr marL="635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" y="320040"/>
            <a:ext cx="493776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Демонстрация и результаты</a:t>
            </a:r>
          </a:p>
        </p:txBody>
      </p:sp>
      <p:pic>
        <p:nvPicPr>
          <p:cNvPr id="32" name="Picture 31" descr="02-kanban-boa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4304" y="1481328"/>
            <a:ext cx="3525926" cy="2203704"/>
          </a:xfrm>
          <a:prstGeom prst="rect">
            <a:avLst/>
          </a:prstGeom>
        </p:spPr>
      </p:pic>
      <p:pic>
        <p:nvPicPr>
          <p:cNvPr id="33" name="Picture 32" descr="11-integrati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66152" y="1481328"/>
            <a:ext cx="3525926" cy="220370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88720" y="3803904"/>
            <a:ext cx="4389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Kanban-доска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Портфель взаимодействий с фильтрами по вузу и продукту, переключением B2B/B2C и перемещением карточек по этапам.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Демо: https://crm-rtk.pixel-minds.ru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3803904"/>
            <a:ext cx="4389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Интеграция с LMS и CMS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Контракт обмена, предпросмотр пакета без записи (dry-run) и идемпотентный импорт по номеру договора. Отчёты выгружаются в XLSX, XLS, PDF и JSON.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API: https://crm-rtk.pixel-minds.ru/api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" y="5230368"/>
            <a:ext cx="9052560" cy="114300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367528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Нагрузочный прогон (локально)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50 пользователей / 60 с: 1613 запросов, 0 ошибок, p95 — 93 мс. Смешанный read/write: 4673 запроса, 0 ошибок; экспорт PDF — 210 мс. Не является SLA production.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5480" y="51389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520978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85248" y="5413248"/>
            <a:ext cx="1325880" cy="13258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47472" y="6446520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5B78"/>
                </a:solidFill>
                <a:latin typeface="Montserrat"/>
              </a:rPr>
              <a:t>Москва · sabadaspaha@gmail.com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2026-09-24T18:56:55Z</dcterms:created>
  <dcterms:modified xsi:type="dcterms:W3CDTF">2026-09-24T18:56:55Z</dcterms:modified>
  <dc:creator>Сабадаш Павел</dc:creator>
  <cp:lastModifiedBy>Сабадаш Павел</cp:lastModifiedBy>
  <dc:title>RTK CRM — ЛЦТ 2026, кейс №6</dc:title>
  <dc:subject>Система контроля взаимодействия ИТ Школы Ростелекома с вузами</dc:subject>
  <dc:description/>
  <cp:category/>
  <cp:keyword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2026-09-24T00:00:00Z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2026-09-24T00:00:00Z</vt:filetime>
  </property>
  <property fmtid="{D5CDD505-2E9C-101B-9397-08002B2CF9AE}" pid="6" name="Producer">
    <vt:lpwstr>www.ilovepdf.com</vt:lpwstr>
  </property>
</Properties>
</file>